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slides/charts/chart2.xml" ContentType="application/vnd.openxmlformats-officedocument.drawingml.chart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27.xml" ContentType="application/vnd.openxmlformats-officedocument.presentationml.slid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12.xml" ContentType="application/vnd.openxmlformats-officedocument.presentationml.slide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33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30.xml" ContentType="application/vnd.openxmlformats-officedocument.presentationml.slide+xml"/>
  <Override PartName="/ppt/slides/slide9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8.xml" ContentType="application/vnd.openxmlformats-officedocument.presentationml.slide+xml"/>
  <Override PartName="/ppt/slides/slide28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charts/chart1.xml" ContentType="application/vnd.openxmlformats-officedocument.drawingml.char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3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42" Type="http://schemas.openxmlformats.org/officeDocument/2006/relationships/viewProps" Target="viewProps.xml" /><Relationship Id="rId13" Type="http://schemas.openxmlformats.org/officeDocument/2006/relationships/slide" Target="slides/slide13.xml" /><Relationship Id="rId24" Type="http://schemas.openxmlformats.org/officeDocument/2006/relationships/slide" Target="slides/slide24.xml" /><Relationship Id="rId12" Type="http://schemas.openxmlformats.org/officeDocument/2006/relationships/slide" Target="slides/slide12.xml" /><Relationship Id="rId41" Type="http://schemas.openxmlformats.org/officeDocument/2006/relationships/tableStyles" Target="tableStyles.xml" /><Relationship Id="rId2" Type="http://schemas.openxmlformats.org/officeDocument/2006/relationships/slide" Target="slides/slide2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33" Type="http://schemas.openxmlformats.org/officeDocument/2006/relationships/slide" Target="slides/slide33.xml" /><Relationship Id="rId14" Type="http://schemas.openxmlformats.org/officeDocument/2006/relationships/slide" Target="slides/slide14.xml" /><Relationship Id="rId20" Type="http://schemas.openxmlformats.org/officeDocument/2006/relationships/slide" Target="slides/slide20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7" Type="http://schemas.openxmlformats.org/officeDocument/2006/relationships/slide" Target="slides/slide27.xml" /><Relationship Id="rId21" Type="http://schemas.openxmlformats.org/officeDocument/2006/relationships/slide" Target="slides/slide21.xml" /><Relationship Id="rId30" Type="http://schemas.openxmlformats.org/officeDocument/2006/relationships/slide" Target="slides/slide30.xml" /><Relationship Id="rId22" Type="http://schemas.openxmlformats.org/officeDocument/2006/relationships/slide" Target="slides/slide22.xml" /><Relationship Id="rId29" Type="http://schemas.openxmlformats.org/officeDocument/2006/relationships/slide" Target="slides/slide29.xml" /><Relationship Id="rId23" Type="http://schemas.openxmlformats.org/officeDocument/2006/relationships/slide" Target="slides/slide23.xml" /><Relationship Id="rId39" Type="http://schemas.openxmlformats.org/officeDocument/2006/relationships/notesMaster" Target="notesMasters/notesMaster1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40" Type="http://schemas.openxmlformats.org/officeDocument/2006/relationships/presProps" Target="presProps.xml" /><Relationship Id="rId28" Type="http://schemas.openxmlformats.org/officeDocument/2006/relationships/slide" Target="slides/slide28.xml" /><Relationship Id="rId3" Type="http://schemas.openxmlformats.org/officeDocument/2006/relationships/slide" Target="slides/slide3.xml" /><Relationship Id="rId31" Type="http://schemas.openxmlformats.org/officeDocument/2006/relationships/slide" Target="slides/slide31.xml" /><Relationship Id="rId32" Type="http://schemas.openxmlformats.org/officeDocument/2006/relationships/slide" Target="slides/slide32.xml" /><Relationship Id="rId34" Type="http://schemas.openxmlformats.org/officeDocument/2006/relationships/slide" Target="slides/slide34.xml" /><Relationship Id="rId4" Type="http://schemas.openxmlformats.org/officeDocument/2006/relationships/slide" Target="slides/slide4.xml" /><Relationship Id="rId35" Type="http://schemas.openxmlformats.org/officeDocument/2006/relationships/slide" Target="slides/slide35.xml" /><Relationship Id="rId36" Type="http://schemas.openxmlformats.org/officeDocument/2006/relationships/slide" Target="slides/slide36.xml" /><Relationship Id="rId37" Type="http://schemas.openxmlformats.org/officeDocument/2006/relationships/slide" Target="slides/slide37.xml" /><Relationship Id="rId38" Type="http://schemas.openxmlformats.org/officeDocument/2006/relationships/slide" Target="slides/slide38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4.svg" /></Relationships>
</file>

<file path=ppt/slides/_rels/slide4.xml.rels><?xml version="1.0" encoding="UTF-8" standalone="yes"?><Relationships xmlns="http://schemas.openxmlformats.org/package/2006/relationships"><Relationship Id="rId4" Type="http://schemas.openxmlformats.org/officeDocument/2006/relationships/image" Target="media/image32.png" /><Relationship Id="rId0" Type="http://schemas.openxmlformats.org/officeDocument/2006/relationships/chart" Target="charts/chart2.xml" /><Relationship Id="rId1" Type="http://schemas.openxmlformats.org/officeDocument/2006/relationships/slideLayout" Target="../slideLayouts/slideLayout1.xml" /><Relationship Id="rId5" Type="http://schemas.openxmlformats.org/officeDocument/2006/relationships/image" Target="media/image33.png" /><Relationship Id="rId2" Type="http://schemas.openxmlformats.org/officeDocument/2006/relationships/image" Target="media/image4.svg" /><Relationship Id="rId3" Type="http://schemas.openxmlformats.org/officeDocument/2006/relationships/image" Target="media/image31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4.png" /></Relationships>
</file>

<file path=ppt/slides/_rels/slide6.xml.rels><?xml version="1.0" encoding="UTF-8" standalone="yes"?><Relationships xmlns="http://schemas.openxmlformats.org/package/2006/relationships"><Relationship Id="rId4" Type="http://schemas.openxmlformats.org/officeDocument/2006/relationships/image" Target="media/image37.svg" /><Relationship Id="rId0" Type="http://schemas.openxmlformats.org/officeDocument/2006/relationships/slideLayout" Target="../slideLayouts/slideLayout1.xml" /><Relationship Id="rId5" Type="http://schemas.openxmlformats.org/officeDocument/2006/relationships/image" Target="media/image38.svg" /><Relationship Id="rId1" Type="http://schemas.openxmlformats.org/officeDocument/2006/relationships/image" Target="media/image4.svg" /><Relationship Id="rId2" Type="http://schemas.openxmlformats.org/officeDocument/2006/relationships/image" Target="media/image35.svg" /><Relationship Id="rId6" Type="http://schemas.openxmlformats.org/officeDocument/2006/relationships/image" Target="media/image39.svg" /><Relationship Id="rId3" Type="http://schemas.openxmlformats.org/officeDocument/2006/relationships/image" Target="media/image36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0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41.svg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42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4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Relationship Id="rId2" Type="http://schemas.openxmlformats.org/officeDocument/2006/relationships/image" Target="media/image4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Relationship Id="rId2" Type="http://schemas.openxmlformats.org/officeDocument/2006/relationships/image" Target="media/image6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Relationship Id="rId2" Type="http://schemas.openxmlformats.org/officeDocument/2006/relationships/image" Target="media/image8.svg" /><Relationship Id="rId3" Type="http://schemas.openxmlformats.org/officeDocument/2006/relationships/image" Target="media/image4.svg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9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4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18.xml.rels><?xml version="1.0" encoding="UTF-8" standalone="yes"?><Relationships xmlns="http://schemas.openxmlformats.org/package/2006/relationships"><Relationship Id="rId2" Type="http://schemas.openxmlformats.org/officeDocument/2006/relationships/image" Target="media/image4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/Relationships>
</file>

<file path=ppt/slides/_rels/slide20.xml.rels><?xml version="1.0" encoding="UTF-8" standalone="yes"?><Relationships xmlns="http://schemas.openxmlformats.org/package/2006/relationships"><Relationship Id="rId2" Type="http://schemas.openxmlformats.org/officeDocument/2006/relationships/image" Target="media/image13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Relationship Id="rId2" Type="http://schemas.openxmlformats.org/officeDocument/2006/relationships/image" Target="media/image15.svg" /><Relationship Id="rId3" Type="http://schemas.openxmlformats.org/officeDocument/2006/relationships/image" Target="media/image16.svg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7.svg" /><Relationship Id="rId2" Type="http://schemas.openxmlformats.org/officeDocument/2006/relationships/image" Target="media/image4.svg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8.svg" /></Relationships>
</file>

<file path=ppt/slides/_rels/slide24.xml.rels><?xml version="1.0" encoding="UTF-8" standalone="yes"?><Relationships xmlns="http://schemas.openxmlformats.org/package/2006/relationships"><Relationship Id="rId2" Type="http://schemas.openxmlformats.org/officeDocument/2006/relationships/image" Target="media/image19.svg" /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20.svg" /></Relationships>
</file>

<file path=ppt/slides/_rels/slide25.xml.rels><?xml version="1.0" encoding="UTF-8" standalone="yes"?><Relationships xmlns="http://schemas.openxmlformats.org/package/2006/relationships"><Relationship Id="rId3" Type="http://schemas.openxmlformats.org/officeDocument/2006/relationships/image" Target="media/image21.svg" /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Relationship Id="rId2" Type="http://schemas.openxmlformats.org/officeDocument/2006/relationships/image" Target="media/image4.svg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2.svg" /><Relationship Id="rId2" Type="http://schemas.openxmlformats.org/officeDocument/2006/relationships/image" Target="media/image4.svg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3.svg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5.png" /><Relationship Id="rId2" Type="http://schemas.openxmlformats.org/officeDocument/2006/relationships/image" Target="media/image4.svg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6.png" /><Relationship Id="rId2" Type="http://schemas.openxmlformats.org/officeDocument/2006/relationships/image" Target="media/image27.png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8.svg" /><Relationship Id="rId2" Type="http://schemas.openxmlformats.org/officeDocument/2006/relationships/image" Target="media/image4.svg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image" Target="media/image29.svg" /><Relationship Id="rId0" Type="http://schemas.openxmlformats.org/officeDocument/2006/relationships/slideLayout" Target="../slideLayouts/slideLayout1.xml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3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0.svg" /></Relationships>
</file>

<file path=ppt/slides/_rels/slide3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charts/chart1.xml><?xml version="1.0" encoding="utf-8"?>
<c:chartSpace xmlns:a="http://schemas.openxmlformats.org/drawingml/2006/main" xmlns:c="http://schemas.openxmlformats.org/drawingml/2006/chart">
  <c:chart>
    <c:title>
      <c:tx>
        <c:rich>
          <a:bodyPr/>
          <a:p>
            <a:pPr>
              <a:defRPr sz="1350">
                <a:solidFill>
                  <a:srgbClr val="0E3F8C"/>
                </a:solidFill>
              </a:defRPr>
            </a:pPr>
            <a:r>
              <a:rPr sz="1350">
                <a:solidFill>
                  <a:srgbClr val="0E3F8C"/>
                </a:solidFill>
              </a:rPr>
              <a:t>训练集各类别样本数（分层划分后）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0E3F8C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训练样本数</c:v>
                </c:pt>
              </c:strCache>
            </c:strRef>
          </c:tx>
          <c:spPr>
            <a:solidFill>
              <a:srgbClr val="3D7BD9"/>
            </a:solidFill>
          </c:spPr>
          <c:dLbls>
            <c:txPr>
              <a:bodyPr/>
              <a:p>
                <a:pPr>
                  <a:defRPr sz="750">
                    <a:solidFill>
                      <a:srgbClr val="1A2230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3"/>
                <c:pt idx="0">
                  <c:v>良性 benign</c:v>
                </c:pt>
                <c:pt idx="1">
                  <c:v>恶性 malignant</c:v>
                </c:pt>
                <c:pt idx="2">
                  <c:v>正常 normal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305</c:v>
                </c:pt>
                <c:pt idx="1">
                  <c:v>146</c:v>
                </c:pt>
                <c:pt idx="2">
                  <c:v>93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B97A8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B97A8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dispBlanksAs val="gap"/>
  </c:chart>
</c:chartSpace>
</file>

<file path=ppt/slides/charts/chart2.xml><?xml version="1.0" encoding="utf-8"?>
<c:chartSpace xmlns:a="http://schemas.openxmlformats.org/drawingml/2006/main" xmlns:c="http://schemas.openxmlformats.org/drawingml/2006/chart">
  <c:chart>
    <c:title>
      <c:tx>
        <c:rich>
          <a:bodyPr/>
          <a:p>
            <a:pPr>
              <a:defRPr sz="1350">
                <a:solidFill>
                  <a:srgbClr val="0E3F8C"/>
                </a:solidFill>
              </a:defRPr>
            </a:pPr>
            <a:r>
              <a:rPr sz="1350">
                <a:solidFill>
                  <a:srgbClr val="0E3F8C"/>
                </a:solidFill>
              </a:rPr>
              <a:t>BUSI 数据集类别分布（张）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0E3F8C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图像数量</c:v>
                </c:pt>
              </c:strCache>
            </c:strRef>
          </c:tx>
          <c:spPr>
            <a:solidFill>
              <a:srgbClr val="3D7BD9"/>
            </a:solidFill>
          </c:spPr>
          <c:dLbls>
            <c:txPr>
              <a:bodyPr/>
              <a:p>
                <a:pPr>
                  <a:defRPr sz="750">
                    <a:solidFill>
                      <a:srgbClr val="1A2230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3"/>
                <c:pt idx="0">
                  <c:v>良性 benign</c:v>
                </c:pt>
                <c:pt idx="1">
                  <c:v>恶性 malignant</c:v>
                </c:pt>
                <c:pt idx="2">
                  <c:v>正常 normal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437</c:v>
                </c:pt>
                <c:pt idx="1">
                  <c:v>210</c:v>
                </c:pt>
                <c:pt idx="2">
                  <c:v>133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B97A8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B97A8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padding: 0, background: '#0E3F8C', fontFamily: 'Microsoft YaHei' }}&gt;&#10;    &lt;Box style={{ position: 'absolute', top: 0, left: 0, width: '100%', height: '100%' }}&gt;&#10;        &lt;Image src=&quot;assets/cover_ultrasound.png&quot; style={{ width: '100%', height: '100%', objectFit: 'cover' }} /&gt;&#10;    &lt;/Box&gt;&#10;    &lt;Box style={{&#10;        position: 'absolute', top: 0, left: 0, width: '100%', height: '100%',&#10;        background: 'linear-gradient(90deg, rgba(10,38,86,0.96) 0%, rgba(12,47,105,0.86) 42%, rgba(16,60,128,0.42) 78%, rgba(20,70,140,0.28) 100%)',&#10;    }} /&gt;&#10;    &lt;Box style={{&#10;        position: 'absolute', top: 0, left: 0, width: '100%', height: '100%',&#10;        paddingTop: 72, paddingLeft: 72, paddingRight: 72, paddingBottom: 64,&#10;        justifyContent: 'space-between',&#10;    }}&gt;&#10;        &lt;Box style={{ flexDirection: 'row', alignItems: 'center', gap: 16 }}&gt;&#10;            &lt;Box style={{ width: 6, height: 30, background: '#FFC107' }} /&gt;&#10;            &lt;Text style={{ fontSize: 22, color: '#CFE0F7', letterSpacing: 2 }}&gt;&#10;                深度学习与医学影像分析 · 课程课件&#10;            &lt;/Text&gt;&#10;        &lt;/Box&gt;&#10;&#10;        &lt;Box style={{ gap: 22, maxWidth: 860 }}&gt;&#10;            &lt;Text style={{ fontSize: 78, fontWeight: 'bold', color: '#FFFFFF', letterSpacing: 4, lineHeight: 1.1 }}&gt;&#10;                乳腺癌智能诊断&#10;            &lt;/Text&gt;&#10;            &lt;Text style={{&#10;                fontFamily: 'Times New Roman', fontSize: 25, color: '#8FC0F0',&#10;                lineHeight: 1.45, letterSpacing: 0.5,&#10;            }}&gt;&#10;                Intelligent Breast Cancer Diagnosis: ResNet versus Vision Transformer on the BUSI Ultrasound Dataset&#10;            &lt;/Text&gt;&#10;            &lt;Box style={{ width: 128, height: 5, background: '#3D7BD9' }} /&gt;&#10;            &lt;Text style={{ fontSize: 25, color: '#E3EDFA', lineHeight: 1.5 }}&gt;&#10;                基于乳腺超声图像的三分类任务 · 780 张影像 · 6 个模型对比实验&#10;            &lt;/Text&gt;&#10;        &lt;/Box&gt;&#10;&#10;        &lt;Box style={{&#10;            flexDirection: 'row', alignItems: 'flex-end', justifyContent: 'space-between',&#10;            borderTop: '1px solid rgba(255,255,255,0.25)', paddingTop: 20,&#10;        }}&gt;&#10;            &lt;Box style={{ gap: 6 }}&gt;&#10;                &lt;Text style={{ fontSize: 20, color: '#FFFFFF', fontWeight: 'bold' }}&gt;主讲：肖雄涛&lt;/Text&gt;&#10;                &lt;Text style={{ fontSize: 16, color: '#A9C4E8' }}&gt;PyTorch 实现 · ResNet / ViT · 分层划分与类别加权&lt;/Text&gt;&#10;            &lt;/Box&gt;&#10;            &lt;Box style={{ alignItems: 'flex-end', gap: 6 }}&gt;&#10;                &lt;Text style={{ fontSize: 20, color: '#FFFFFF', fontWeight: 'bold' }}&gt;BUSI 乳腺超声图像分类项目&lt;/Text&gt;&#10;                &lt;Text style={{ fontSize: 16, color: '#A9C4E8' }}&gt;Breast Ultrasound Images Dataset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2656">
                  <a:alpha val="96000"/>
                </a:srgbClr>
              </a:gs>
              <a:gs pos="42000">
                <a:srgbClr val="0C2F69">
                  <a:alpha val="86000"/>
                </a:srgbClr>
              </a:gs>
              <a:gs pos="78000">
                <a:srgbClr val="103C80">
                  <a:alpha val="42000"/>
                </a:srgbClr>
              </a:gs>
              <a:gs pos="100000">
                <a:srgbClr val="14468C">
                  <a:alpha val="28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85800" y="685800"/>
            <a:ext cx="57150" cy="2857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95350" y="704850"/>
            <a:ext cx="3667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150">
                <a:solidFill>
                  <a:srgbClr val="CFE0F7"/>
                </a:solidFill>
                <a:latin typeface="Microsoft YaHei"/>
                <a:ea typeface="Microsoft YaHei"/>
              </a:rPr>
              <a:t>深度学习与医学影像分析</a:t>
            </a:r>
            <a:r>
              <a:rPr lang="en-US" sz="1650" spc="150">
                <a:solidFill>
                  <a:srgbClr val="CFE0F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spc="150">
                <a:solidFill>
                  <a:srgbClr val="CFE0F7"/>
                </a:solidFill>
                <a:latin typeface="Microsoft YaHei"/>
                <a:ea typeface="Microsoft YaHei"/>
              </a:rPr>
              <a:t>课程课件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1819275"/>
            <a:ext cx="8191500" cy="9810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850" b="1" spc="300">
                <a:solidFill>
                  <a:srgbClr val="FFFFFF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85800" y="3009900"/>
            <a:ext cx="8191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875" spc="38">
                <a:solidFill>
                  <a:srgbClr val="8FC0F0"/>
                </a:solidFill>
                <a:latin typeface="Times New Roman"/>
                <a:ea typeface="Times New Roman"/>
              </a:rPr>
              <a:t>Intelligent Breast Cancer Diagnosis: ResNet versus Vision Transformer on the BUSI Ultrasound Dataset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85800" y="4048125"/>
            <a:ext cx="1219200" cy="4762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85800" y="4305300"/>
            <a:ext cx="8191500" cy="4286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75">
                <a:solidFill>
                  <a:srgbClr val="E3EDFA"/>
                </a:solidFill>
                <a:latin typeface="Microsoft YaHei"/>
                <a:ea typeface="Microsoft YaHei"/>
              </a:rPr>
              <a:t>基于乳腺超声图像的三分类任务</a:t>
            </a:r>
            <a:r>
              <a:rPr lang="en-US" sz="1875">
                <a:solidFill>
                  <a:srgbClr val="E3EDFA"/>
                </a:solidFill>
                <a:latin typeface="Microsoft YaHei"/>
                <a:ea typeface="Microsoft YaHei"/>
              </a:rPr>
              <a:t xml:space="preserve"> · 780 </a:t>
            </a:r>
            <a:r>
              <a:rPr lang="zh-CN" sz="1875">
                <a:solidFill>
                  <a:srgbClr val="E3EDFA"/>
                </a:solidFill>
                <a:latin typeface="Microsoft YaHei"/>
                <a:ea typeface="Microsoft YaHei"/>
              </a:rPr>
              <a:t>张影像</a:t>
            </a:r>
            <a:r>
              <a:rPr lang="en-US" sz="1875">
                <a:solidFill>
                  <a:srgbClr val="E3EDFA"/>
                </a:solidFill>
                <a:latin typeface="Microsoft YaHei"/>
                <a:ea typeface="Microsoft YaHei"/>
              </a:rPr>
              <a:t xml:space="preserve"> · 6 </a:t>
            </a:r>
            <a:r>
              <a:rPr lang="zh-CN" sz="1875">
                <a:solidFill>
                  <a:srgbClr val="E3EDFA"/>
                </a:solidFill>
                <a:latin typeface="Microsoft YaHei"/>
                <a:ea typeface="Microsoft YaHei"/>
              </a:rPr>
              <a:t>个模型对比实验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685800" y="5572125"/>
            <a:ext cx="10820400" cy="685800"/>
          </a:xfrm>
          <a:custGeom>
            <a:pathLst>
              <a:path w="1136" h="72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85800" y="5772150"/>
            <a:ext cx="3448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主讲：肖雄涛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85800" y="6057900"/>
            <a:ext cx="3448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A9C4E8"/>
                </a:solidFill>
                <a:latin typeface="Microsoft YaHei"/>
                <a:ea typeface="Microsoft YaHei"/>
              </a:rPr>
              <a:t xml:space="preserve">PyTorch </a:t>
            </a:r>
            <a:r>
              <a:rPr lang="zh-CN" sz="1200">
                <a:solidFill>
                  <a:srgbClr val="A9C4E8"/>
                </a:solidFill>
                <a:latin typeface="Microsoft YaHei"/>
                <a:ea typeface="Microsoft YaHei"/>
              </a:rPr>
              <a:t>实现</a:t>
            </a:r>
            <a:r>
              <a:rPr lang="en-US" sz="1200">
                <a:solidFill>
                  <a:srgbClr val="A9C4E8"/>
                </a:solidFill>
                <a:latin typeface="Microsoft YaHei"/>
                <a:ea typeface="Microsoft YaHei"/>
              </a:rPr>
              <a:t xml:space="preserve"> · ResNet / ViT · </a:t>
            </a:r>
            <a:r>
              <a:rPr lang="zh-CN" sz="1200">
                <a:solidFill>
                  <a:srgbClr val="A9C4E8"/>
                </a:solidFill>
                <a:latin typeface="Microsoft YaHei"/>
                <a:ea typeface="Microsoft YaHei"/>
              </a:rPr>
              <a:t>分层划分与类别加权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9086850" y="5772150"/>
            <a:ext cx="2419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乳腺超声图像分类项目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9029700" y="6057900"/>
            <a:ext cx="247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A9C4E8"/>
                </a:solidFill>
                <a:latin typeface="Microsoft YaHei"/>
                <a:ea typeface="Microsoft YaHei"/>
              </a:rPr>
              <a:t>Breast Ultrasound Images Dataset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58" name="" descr="&lt;Slide style={{ padding: 0, background: '#FFFFFF', fontFamily: 'Microsoft YaHei' }}&gt;&#10;    &lt;Box style={{ flexDirection: 'row', width: '100%', height: '100%' }}&gt;&#10;        &lt;Box style={{&#10;            width: 352, height: '100%', background: '#0E3F8C',&#10;            paddingTop: 96, paddingLeft: 48, paddingRight: 40, gap: 18,&#10;        }}&gt;&#10;            &lt;Box style={{ width: 60, height: 6, background: '#FFC107' }} /&gt;&#10;            &lt;Text style={{ fontSize: 52, fontWeight: 'bold', color: '#FFFFFF', letterSpacing: 6 }}&gt;&#10;                课程导览&#10;            &lt;/Text&gt;&#10;            &lt;Text style={{ fontFamily: 'Times New Roman', fontSize: 20, color: '#8FC0F0', letterSpacing: 1 }}&gt;&#10;                CONTENTS&#10;            &lt;/Text&gt;&#10;            &lt;Box style={{ height: 1, background: 'rgba(255,255,255,0.28)', marginTop: 8 }} /&gt;&#10;            &lt;Text style={{ fontSize: 19, color: '#CFE0F7', lineHeight: 1.7 }}&gt;&#10;                七个章节，从临床问题出发，&#10;                讲清两条主干网络的结构与数学，&#10;                再用一组真实实验回答：&#10;                小样本医学影像该选谁。&#10;            &lt;/Text&gt;&#10;            &lt;Box style={{ marginTop: 12, flexDirection: 'row', alignItems: 'baseline', gap: 8 }}&gt;&#10;                &lt;Text style={{ fontSize: 64, fontWeight: 'bold', color: '#FFC107' }}&gt;07&lt;/Text&gt;&#10;                &lt;Text style={{ fontSize: 20, color: '#CFE0F7' }}&gt;章 / 38 页&lt;/Text&gt;&#10;            &lt;/Box&gt;&#10;        &lt;/Box&gt;&#10;&#10;        &lt;Box style={{ flex: 1, paddingTop: 72, paddingLeft: 56, paddingRight: 56, paddingBottom: 56, gap: 13 }}&gt;&#10;            &lt;Box style={{ flexDirection: 'row', alignItems: 'center', gap: 14, height: 64, background: '#E8EFF8', borderRadius: 8, paddingLeft: 20 }}&gt;&#10;                &lt;Box style={{ width: 44, height: 44, background: '#1E4FA8', borderRadius: 6, justifyContent: 'center', alignItems: 'center' }}&gt;&#10;                    &lt;Text style={{ fontSize: 22, fontWeight: 'bold', color: '#FFFFFF' }}&gt;01&lt;/Text&gt;&#10;                &lt;/Box&gt;&#10;                &lt;Text style={{ fontSize: 27, fontWeight: 'bold', color: '#0E3F8C' }}&gt;临床背景与数据&lt;/Text&gt;&#10;                &lt;Text style={{ fontSize: 18, color: '#8B97A8', marginLeft: 'auto', marginRight: 20 }}&gt;P4 – P6&lt;/Text&gt;&#10;            &lt;/Box&gt;&#10;            &lt;Box style={{ flexDirection: 'row', alignItems: 'center', gap: 14, height: 64, background: '#F7F9FC', borderRadius: 8, paddingLeft: 20 }}&gt;&#10;                &lt;Box style={{ width: 44, height: 44, background: '#1E4FA8', borderRadius: 6, justifyContent: 'center', alignItems: 'center' }}&gt;&#10;                    &lt;Text style={{ fontSize: 22, fontWeight: 'bold', color: '#FFFFFF' }}&gt;02&lt;/Text&gt;&#10;                &lt;/Box&gt;&#10;                &lt;Text style={{ fontSize: 27, fontWeight: 'bold', color: '#0E3F8C' }}&gt;技术路线与数据处理&lt;/Text&gt;&#10;                &lt;Text style={{ fontSize: 18, color: '#8B97A8', marginLeft: 'auto', marginRight: 20 }}&gt;P8 – P10&lt;/Text&gt;&#10;            &lt;/Box&gt;&#10;            &lt;Box style={{ flexDirection: 'row', alignItems: 'center', gap: 14, height: 64, background: '#E8EFF8', borderRadius: 8, paddingLeft: 20 }}&gt;&#10;                &lt;Box style={{ width: 44, height: 44, background: '#1E4FA8', borderRadius: 6, justifyContent: 'center', alignItems: 'center' }}&gt;&#10;                    &lt;Text style={{ fontSize: 22, fontWeight: 'bold', color: '#FFFFFF' }}&gt;03&lt;/Text&gt;&#10;                &lt;/Box&gt;&#10;                &lt;Text style={{ fontSize: 27, fontWeight: 'bold', color: '#0E3F8C' }}&gt;ResNet：深度残差网络&lt;/Text&gt;&#10;                &lt;Text style={{ fontSize: 18, color: '#8B97A8', marginLeft: 'auto', marginRight: 20 }}&gt;P12 – P16&lt;/Text&gt;&#10;            &lt;/Box&gt;&#10;            &lt;Box style={{ flexDirection: 'row', alignItems: 'center', gap: 14, height: 64, background: '#F7F9FC', borderRadius: 8, paddingLeft: 20 }}&gt;&#10;                &lt;Box style={{ width: 44, height: 44, background: '#1E4FA8', borderRadius: 6, justifyContent: 'center', alignItems: 'center' }}&gt;&#10;                    &lt;Text style={{ fontSize: 22, fontWeight: 'bold', color: '#FFFFFF' }}&gt;04&lt;/Text&gt;&#10;                &lt;/Box&gt;&#10;                &lt;Text style={{ fontSize: 27, fontWeight: 'bold', color: '#0E3F8C' }}&gt;ViT：视觉 Transformer&lt;/Text&gt;&#10;                &lt;Text style={{ fontSize: 18, color: '#8B97A8', marginLeft: 'auto', marginRight: 20 }}&gt;P18 – P22&lt;/Text&gt;&#10;            &lt;/Box&gt;&#10;            &lt;Box style={{ flexDirection: 'row', alignItems: 'center', gap: 14, height: 64, background: '#E8EFF8', borderRadius: 8, paddingLeft: 20 }}&gt;&#10;                &lt;Box style={{ width: 44, height: 44, background: '#1E4FA8', borderRadius: 6, justifyContent: 'center', alignItems: 'center' }}&gt;&#10;                    &lt;Text style={{ fontSize: 22, fontWeight: 'bold', color: '#FFFFFF' }}&gt;05&lt;/Text&gt;&#10;                &lt;/Box&gt;&#10;                &lt;Text style={{ fontSize: 27, fontWeight: 'bold', color: '#0E3F8C' }}&gt;损失函数与优化策略&lt;/Text&gt;&#10;                &lt;Text style={{ fontSize: 18, color: '#8B97A8', marginLeft: 'auto', marginRight: 20 }}&gt;P24 – P26&lt;/Text&gt;&#10;            &lt;/Box&gt;&#10;            &lt;Box style={{ flexDirection: 'row', alignItems: 'center', gap: 14, height: 64, background: '#F7F9FC', borderRadius: 8, paddingLeft: 20 }}&gt;&#10;                &lt;Box style={{ width: 44, height: 44, background: '#1E4FA8', borderRadius: 6, justifyContent: 'center', alignItems: 'center' }}&gt;&#10;                    &lt;Text style={{ fontSize: 22, fontWeight: 'bold', color: '#FFFFFF' }}&gt;06&lt;/Text&gt;&#10;                &lt;/Box&gt;&#10;                &lt;Text style={{ fontSize: 27, fontWeight: 'bold', color: '#0E3F8C' }}&gt;实验结果与分析&lt;/Text&gt;&#10;                &lt;Text style={{ fontSize: 18, color: '#8B97A8', marginLeft: 'auto', marginRight: 20 }}&gt;P28 – P33&lt;/Text&gt;&#10;            &lt;/Box&gt;&#10;            &lt;Box style={{ flexDirection: 'row', alignItems: 'center', gap: 14, height: 64, background: '#FFF8E1', borderRadius: 8, paddingLeft: 20, border: '1px solid #FFC107' }}&gt;&#10;                &lt;Box style={{ width: 44, height: 44, background: '#FFC107', borderRadius: 6, justifyContent: 'center', alignItems: 'center' }}&gt;&#10;                    &lt;Text style={{ fontSize: 22, fontWeight: 'bold', color: '#0E3F8C' }}&gt;07&lt;/Text&gt;&#10;                &lt;/Box&gt;&#10;                &lt;Text style={{ fontSize: 27, fontWeight: 'bold', color: '#0E3F8C' }}&gt;课堂实战任务&lt;/Text&gt;&#10;                &lt;Text style={{ fontSize: 18, color: '#8B97A8', marginLeft: 'auto', marginRight: 20 }}&gt;P35 – P37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0" y="0"/>
            <a:ext cx="33528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61" name=""/>
          <p:cNvSpPr/>
          <p:nvPr/>
        </p:nvSpPr>
        <p:spPr>
          <a:xfrm rot="0" flipH="0" flipV="0">
            <a:off x="457200" y="914400"/>
            <a:ext cx="5715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457200" y="1143000"/>
            <a:ext cx="25146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 spc="450">
                <a:solidFill>
                  <a:srgbClr val="FFFFFF"/>
                </a:solidFill>
                <a:latin typeface="Microsoft YaHei"/>
                <a:ea typeface="Microsoft YaHei"/>
              </a:rPr>
              <a:t>课程导览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457200" y="1914525"/>
            <a:ext cx="2514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75">
                <a:solidFill>
                  <a:srgbClr val="8FC0F0"/>
                </a:solidFill>
                <a:latin typeface="Times New Roman"/>
                <a:ea typeface="Times New Roman"/>
              </a:rPr>
              <a:t>CONTENTS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457200" y="2390775"/>
            <a:ext cx="2514600" cy="9525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457200" y="2571750"/>
            <a:ext cx="2514600" cy="1485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CFE0F7"/>
                </a:solidFill>
                <a:latin typeface="Microsoft YaHei"/>
                <a:ea typeface="Microsoft YaHei"/>
              </a:rPr>
              <a:t>七个章节，从临床问题出发，</a:t>
            </a:r>
            <a:r>
              <a:rPr lang="en-US" sz="1425">
                <a:solidFill>
                  <a:srgbClr val="CFE0F7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425">
                <a:solidFill>
                  <a:srgbClr val="CFE0F7"/>
                </a:solidFill>
                <a:latin typeface="Microsoft YaHei"/>
                <a:ea typeface="Microsoft YaHei"/>
              </a:rPr>
              <a:t>讲清两条主干网络的结构与数学，</a:t>
            </a:r>
            <a:r>
              <a:rPr lang="en-US" sz="1425">
                <a:solidFill>
                  <a:srgbClr val="CFE0F7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425">
                <a:solidFill>
                  <a:srgbClr val="CFE0F7"/>
                </a:solidFill>
                <a:latin typeface="Microsoft YaHei"/>
                <a:ea typeface="Microsoft YaHei"/>
              </a:rPr>
              <a:t>再用一组真实实验回答：</a:t>
            </a:r>
            <a:r>
              <a:rPr lang="en-US" sz="1425">
                <a:solidFill>
                  <a:srgbClr val="CFE0F7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425">
                <a:solidFill>
                  <a:srgbClr val="CFE0F7"/>
                </a:solidFill>
                <a:latin typeface="Microsoft YaHei"/>
                <a:ea typeface="Microsoft YaHei"/>
              </a:rPr>
              <a:t>小样本医学影像该选谁。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457200" y="4343400"/>
            <a:ext cx="7524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C107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285875" y="4343400"/>
            <a:ext cx="85725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CFE0F7"/>
                </a:solidFill>
                <a:latin typeface="Microsoft YaHei"/>
                <a:ea typeface="Microsoft YaHei"/>
              </a:rPr>
              <a:t>章</a:t>
            </a:r>
            <a:r>
              <a:rPr lang="en-US" sz="1500">
                <a:solidFill>
                  <a:srgbClr val="CFE0F7"/>
                </a:solidFill>
                <a:latin typeface="Microsoft YaHei"/>
                <a:ea typeface="Microsoft YaHei"/>
              </a:rPr>
              <a:t xml:space="preserve"> / 38 </a:t>
            </a:r>
            <a:r>
              <a:rPr lang="zh-CN" sz="1500">
                <a:solidFill>
                  <a:srgbClr val="CFE0F7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3886200" y="685800"/>
            <a:ext cx="7772400" cy="6096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69" name=""/>
          <p:cNvSpPr/>
          <p:nvPr/>
        </p:nvSpPr>
        <p:spPr>
          <a:xfrm rot="0" flipH="0" flipV="0">
            <a:off x="4076700" y="78105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152900" y="86677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629150" y="838200"/>
            <a:ext cx="180022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E3F8C"/>
                </a:solidFill>
                <a:latin typeface="Microsoft YaHei"/>
                <a:ea typeface="Microsoft YaHei"/>
              </a:rPr>
              <a:t>临床背景与数据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10858500" y="885825"/>
            <a:ext cx="609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P4 – P6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3886200" y="1419225"/>
            <a:ext cx="7772400" cy="6096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4076700" y="1514475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4152900" y="1600200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4629150" y="1571625"/>
            <a:ext cx="231457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E3F8C"/>
                </a:solidFill>
                <a:latin typeface="Microsoft YaHei"/>
                <a:ea typeface="Microsoft YaHei"/>
              </a:rPr>
              <a:t>技术路线与数据处理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0753725" y="1619250"/>
            <a:ext cx="714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P8 – P10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3886200" y="2152650"/>
            <a:ext cx="7772400" cy="6096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79" name=""/>
          <p:cNvSpPr/>
          <p:nvPr/>
        </p:nvSpPr>
        <p:spPr>
          <a:xfrm rot="0" flipH="0" flipV="0">
            <a:off x="4076700" y="224790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4152900" y="233362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4629150" y="2305050"/>
            <a:ext cx="27241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0E3F8C"/>
                </a:solidFill>
                <a:latin typeface="Microsoft YaHei"/>
                <a:ea typeface="Microsoft YaHei"/>
              </a:rPr>
              <a:t>ResNet</a:t>
            </a:r>
            <a:r>
              <a:rPr lang="zh-CN" sz="2025" b="1">
                <a:solidFill>
                  <a:srgbClr val="0E3F8C"/>
                </a:solidFill>
                <a:latin typeface="Microsoft YaHei"/>
                <a:ea typeface="Microsoft YaHei"/>
              </a:rPr>
              <a:t>：深度残差网络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0658475" y="2352675"/>
            <a:ext cx="809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P12 – P16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3886200" y="2886075"/>
            <a:ext cx="7772400" cy="6096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84" name=""/>
          <p:cNvSpPr/>
          <p:nvPr/>
        </p:nvSpPr>
        <p:spPr>
          <a:xfrm rot="0" flipH="0" flipV="0">
            <a:off x="4076700" y="2981325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4152900" y="3067050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4629150" y="3038475"/>
            <a:ext cx="28575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0E3F8C"/>
                </a:solidFill>
                <a:latin typeface="Microsoft YaHei"/>
                <a:ea typeface="Microsoft YaHei"/>
              </a:rPr>
              <a:t>ViT</a:t>
            </a:r>
            <a:r>
              <a:rPr lang="zh-CN" sz="2025" b="1">
                <a:solidFill>
                  <a:srgbClr val="0E3F8C"/>
                </a:solidFill>
                <a:latin typeface="Microsoft YaHei"/>
                <a:ea typeface="Microsoft YaHei"/>
              </a:rPr>
              <a:t>：视觉</a:t>
            </a:r>
            <a:r>
              <a:rPr lang="en-US" sz="20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Transformer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0658475" y="3086100"/>
            <a:ext cx="809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P18 – P22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3886200" y="3619500"/>
            <a:ext cx="7772400" cy="6096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89" name=""/>
          <p:cNvSpPr/>
          <p:nvPr/>
        </p:nvSpPr>
        <p:spPr>
          <a:xfrm rot="0" flipH="0" flipV="0">
            <a:off x="4076700" y="371475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4152900" y="380047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4629150" y="3771900"/>
            <a:ext cx="231457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E3F8C"/>
                </a:solidFill>
                <a:latin typeface="Microsoft YaHei"/>
                <a:ea typeface="Microsoft YaHei"/>
              </a:rPr>
              <a:t>损失函数与优化策略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10658475" y="3819525"/>
            <a:ext cx="809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P24 – P26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3886200" y="4352925"/>
            <a:ext cx="7772400" cy="6096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94" name=""/>
          <p:cNvSpPr/>
          <p:nvPr/>
        </p:nvSpPr>
        <p:spPr>
          <a:xfrm rot="0" flipH="0" flipV="0">
            <a:off x="4076700" y="4448175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4152900" y="4533900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629150" y="4505325"/>
            <a:ext cx="180022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E3F8C"/>
                </a:solidFill>
                <a:latin typeface="Microsoft YaHei"/>
                <a:ea typeface="Microsoft YaHei"/>
              </a:rPr>
              <a:t>实验结果与分析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0658475" y="4552950"/>
            <a:ext cx="809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P28 – P33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3886200" y="5086350"/>
            <a:ext cx="7772400" cy="609600"/>
          </a:xfrm>
          <a:prstGeom prst="roundRect">
            <a:avLst>
              <a:gd name="adj" fmla="val 12500"/>
            </a:avLst>
          </a:prstGeom>
          <a:solidFill>
            <a:srgbClr val="FFF8E1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299" name=""/>
          <p:cNvSpPr/>
          <p:nvPr/>
        </p:nvSpPr>
        <p:spPr>
          <a:xfrm rot="0" flipH="0" flipV="0">
            <a:off x="4076700" y="518160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152900" y="526732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629150" y="5238750"/>
            <a:ext cx="15430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E3F8C"/>
                </a:solidFill>
                <a:latin typeface="Microsoft YaHei"/>
                <a:ea typeface="Microsoft YaHei"/>
              </a:rPr>
              <a:t>课堂实战任务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10658475" y="5286375"/>
            <a:ext cx="809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P35 – P37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58" name="" descr="&lt;Slide style={{ padding: 0, background: '#0E3F8C', fontFamily: 'Microsoft YaHei' }}&gt;&#10;    &lt;svg width={1280} height={720} viewBox='0 0 1280 720' style={{ position: 'absolute', top: 0, left: 0, opacity: 0.16 }}&gt;&#10;        &lt;path d='M760 250 Q 880 180 1000 250 T 1240 250' fill='none' stroke='#8FC0F0' strokeWidth='3' /&gt;&#10;        &lt;path d='M760 320 Q 880 250 1000 320 T 1240 320' fill='none' stroke='#8FC0F0' strokeWidth='3' /&gt;&#10;        &lt;path d='M760 390 Q 880 320 1000 390 T 1240 390' fill='none' stroke='#8FC0F0' strokeWidth='3' /&gt;&#10;        &lt;path d='M760 460 Q 880 390 1000 460 T 1240 460' fill='none' stroke='#8FC0F0' strokeWidth='3' /&gt;&#10;        &lt;path d='M760 530 Q 880 460 1000 530 T 1240 530' fill='none' stroke='#8FC0F0' strokeWidth='3' /&gt;&#10;    &lt;/svg&gt;&#10;    &lt;Box style={{ width: '100%', height: '100%', paddingTop: 84, paddingLeft: 72, paddingRight: 72, paddingBottom: 72, justifyContent: 'space-between' }}&gt;&#10;        &lt;Box style={{ flexDirection: 'row', alignItems: 'center', gap: 40 }}&gt;&#10;            &lt;Text style={{ fontSize: 200, fontWeight: 'bold', color: '#3D7BD9', lineHeight: 1 }}&gt;&#10;                01&#10;            &lt;/Text&gt;&#10;            &lt;Box style={{ width: 3, height: 150, background: 'rgba(255,255,255,0.35)' }} /&gt;&#10;            &lt;Box style={{ gap: 14 }}&gt;&#10;                &lt;Text style={{ fontSize: 50, fontWeight: 'bold', color: '#FFFFFF', letterSpacing: 3 }}&gt;&#10;                    临床背景与数据&#10;                &lt;/Text&gt;&#10;                &lt;Text style={{ fontFamily: 'Times New Roman', fontSize: 21, color: '#8FC0F0', letterSpacing: 1 }}&gt;&#10;                    Clinical Motivation and the BUSI Dataset&#10;                &lt;/Text&gt;&#10;                &lt;Text style={{ fontSize: 21, color: '#CFE0F7', lineHeight: 1.6 }}&gt;&#10;                    为什么乳腺超声需要 AI 辅助？我们手上这份数据到底长什么样？&#10;                &lt;/Text&gt;&#10;            &lt;/Box&gt;&#10;        &lt;/Box&gt;&#10;&#10;        &lt;Box style={{ flexDirection: 'row', gap: 24 }}&gt;&#10;            &lt;Box style={{ flex: 1, background: 'rgba(255,255,255,0.10)', border: '1px solid rgba(255,255,255,0.22)', borderRadius: 10, padding: 26, gap: 10 }}&gt;&#10;                &lt;Text style={{ fontSize: 22, fontWeight: 'bold', color: '#FFC107' }}&gt;乳腺癌筛查现状&lt;/Text&gt;&#10;                &lt;Text style={{ fontSize: 18, color: '#DCE8F7', lineHeight: 1.6 }}&gt;&#10;                    超声无辐射、成本低，是致密型乳腺的首选筛查手段，但读片高度依赖医生经验。&#10;                &lt;/Text&gt;&#10;            &lt;/Box&gt;&#10;            &lt;Box style={{ flex: 1, background: 'rgba(255,255,255,0.10)', border: '1px solid rgba(255,255,255,0.22)', borderRadius: 10, padding: 26, gap: 10 }}&gt;&#10;                &lt;Text style={{ fontSize: 22, fontWeight: 'bold', color: '#FFC107' }}&gt;BUSI 数据集&lt;/Text&gt;&#10;                &lt;Text style={{ fontSize: 18, color: '#DCE8F7', lineHeight: 1.6 }}&gt;&#10;                    780 张真实乳腺超声图，含良性 437、恶性 210、正常 133，类别严重不均衡。&#10;                &lt;/Text&gt;&#10;            &lt;/Box&gt;&#10;            &lt;Box style={{ flex: 1, background: 'rgba(255,255,255,0.10)', border: '1px solid rgba(255,255,255,0.22)', borderRadius: 10, padding: 26, gap: 10 }}&gt;&#10;                &lt;Text style={{ fontSize: 22, fontWeight: 'bold', color: '#FFC107' }}&gt;任务与指标&lt;/Text&gt;&#10;                &lt;Text style={{ fontSize: 18, color: '#DCE8F7', lineHeight: 1.6 }}&gt;&#10;                    定义为三分类图像识别，评价指标必须区分漏诊与误诊的临床代价。&#10;                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685800" y="8001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3D7BD9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3419475" y="1228725"/>
            <a:ext cx="28575" cy="142875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3829050" y="1209675"/>
            <a:ext cx="5724525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750" b="1" spc="225">
                <a:solidFill>
                  <a:srgbClr val="FFFFFF"/>
                </a:solidFill>
                <a:latin typeface="Microsoft YaHei"/>
                <a:ea typeface="Microsoft YaHei"/>
              </a:rPr>
              <a:t>临床背景与数据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3829050" y="1914525"/>
            <a:ext cx="57245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spc="75">
                <a:solidFill>
                  <a:srgbClr val="8FC0F0"/>
                </a:solidFill>
                <a:latin typeface="Times New Roman"/>
                <a:ea typeface="Times New Roman"/>
              </a:rPr>
              <a:t>Clinical Motivation and the BUSI Dataset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3829050" y="2295525"/>
            <a:ext cx="5724525" cy="390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CFE0F7"/>
                </a:solidFill>
                <a:latin typeface="Microsoft YaHei"/>
                <a:ea typeface="Microsoft YaHei"/>
              </a:rPr>
              <a:t>为什么乳腺超声需要</a:t>
            </a:r>
            <a:r>
              <a:rPr lang="en-US" sz="1575">
                <a:solidFill>
                  <a:srgbClr val="CFE0F7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575">
                <a:solidFill>
                  <a:srgbClr val="CFE0F7"/>
                </a:solidFill>
                <a:latin typeface="Microsoft YaHei"/>
                <a:ea typeface="Microsoft YaHei"/>
              </a:rPr>
              <a:t>辅助？我们手上这份数据到底长什么样？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685800" y="4333875"/>
            <a:ext cx="3457575" cy="1838325"/>
          </a:xfrm>
          <a:prstGeom prst="roundRect">
            <a:avLst>
              <a:gd name="adj" fmla="val 518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933450" y="4581525"/>
            <a:ext cx="2962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乳腺癌筛查现状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933450" y="4933950"/>
            <a:ext cx="296227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超声无辐射、成本低，是致密型乳腺的首选筛查手段，但读片高度依赖医生经验。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4371975" y="4333875"/>
            <a:ext cx="3448050" cy="1838325"/>
          </a:xfrm>
          <a:prstGeom prst="roundRect">
            <a:avLst>
              <a:gd name="adj" fmla="val 518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4619625" y="4581525"/>
            <a:ext cx="2952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C107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数据集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4619625" y="4933950"/>
            <a:ext cx="295275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780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张真实乳腺超声图，含良性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 437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、恶性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 210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、正常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 133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，类别严重不均衡。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8048625" y="4333875"/>
            <a:ext cx="3457575" cy="1838325"/>
          </a:xfrm>
          <a:prstGeom prst="roundRect">
            <a:avLst>
              <a:gd name="adj" fmla="val 518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8296275" y="4581525"/>
            <a:ext cx="2962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任务与指标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8296275" y="4933950"/>
            <a:ext cx="29622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定义为三分类图像识别，评价指标必须区分漏诊与误诊的临床代价。</a:t>
            </a:r>
            <a:endParaRPr/>
          </a:p>
        </p:txBody>
      </p:sp>
      <p:pic>
        <p:nvPicPr>
          <p:cNvPr id="574" name="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c="http://schemas.openxmlformats.org/drawingml/2006/chart" xmlns:r="http://schemas.openxmlformats.org/officeDocument/2006/relationships" xmlns:mc="http://schemas.openxmlformats.org/markup-compatibility/2006" mc:Ignorable="asvg">
  <p:cSld>
    <p:spTree>
      <p:nvGrpSpPr>
        <p:cNvPr id="852" name="" descr="&lt;Slide style={{ padding: 0, background: '#FFFFFF', fontFamily: 'Microsoft YaHei' }}&gt;&#13;&#10;    &lt;Box style={{ width: '100%', height: 76, background: '#0E3F8C', flexDirection: 'row', alignItems: 'center', justifyContent: 'space-between', paddingLeft: 40, paddingRight: 40 }}&gt;&#13;&#10;        &lt;Box style={{ flexDirection: 'row', alignItems: 'center', gap: 16 }}&gt;&#13;&#10;            &lt;Box style={{ width: 6, height: 34, background: '#FFC107' }} /&gt;&#13;&#10;            &lt;Text style={{ fontSize: 32, fontWeight: 'bold', color: '#FFFFFF' }}&gt;为什么需要智能诊断&lt;/Text&gt;&#13;&#10;        &lt;/Box&gt;&#13;&#10;        &lt;Text style={{ fontSize: 16, color: '#8FC0F0' }}&gt;01 临床背景与数据&lt;/Text&gt;&#13;&#10;    &lt;/Box&gt;&#13;&#10;&#13;&#10;    &lt;Box style={{ height: 604, flexDirection: 'row', gap: 28, paddingTop: 20, paddingLeft: 40, paddingRight: 40, paddingBottom: 20 }}&gt;&#13;&#10;        &lt;Box style={{ width: 344, gap: 12 }}&gt;&#13;&#10;            &lt;Box style={{ background: '#0E3F8C', borderRadius: 10, padding: 18, gap: 6 }}&gt;&#13;&#10;                &lt;Text style={{ fontSize: 19, color: '#CFE0F7' }}&gt;全数据集影像总数&lt;/Text&gt;&#13;&#10;                &lt;Text style={{ fontSize: 76, fontWeight: 'bold', color: '#FFFFFF', lineHeight: 1 }}&gt;780&lt;/Text&gt;&#13;&#10;                &lt;Text style={{ fontSize: 17, color: '#8FC0F0' }}&gt;张 · 来自 600 位女性患者&lt;/Text&gt;&#13;&#10;            &lt;/Box&gt;&#13;&#10;            &lt;Box style={{ background: '#FDECEC', borderRadius: 10, padding: 16, gap: 6, border: '1px solid #F5C6C4' }}&gt;&#13;&#10;                &lt;Text style={{ fontSize: 19, color: '#B03430' }}&gt;其中恶性样本&lt;/Text&gt;&#13;&#10;                &lt;Box style={{ flexDirection: 'row', alignItems: 'baseline', gap: 10 }}&gt;&#13;&#10;                    &lt;Text style={{ fontSize: 56, fontWeight: 'bold', color: '#D9534F', lineHeight: 1 }}&gt;210&lt;/Text&gt;&#13;&#10;                    &lt;Text style={{ fontSize: 20, color: '#B03430' }}&gt;张 / 26.9%&lt;/Text&gt;&#13;&#10;                &lt;/Box&gt;&#13;&#10;            &lt;/Box&gt;&#13;&#10;            &lt;Box style={{ flex: 1, background: '#F0F5FC', borderRadius: 10, padding: 20, gap: 10, border: '1px solid #D6DCE5' }}&gt;&#13;&#10;                &lt;Text style={{ fontSize: 22, fontWeight: 'bold', color: '#0E3F8C' }}&gt;读片的三重压力&lt;/Text&gt;&#13;&#10;                &lt;Text style={{ fontSize: 17, color: '#4A5568', lineHeight: 1.55 }}&gt;&#13;&#10;                    良恶性病灶在灰阶超声上边界模糊、形态重叠；不同年资医师判读一致性有限；基层医院缺乏资深超声医师。&#13;&#10;                &lt;/Text&gt;&#13;&#10;                &lt;Text style={{ fontSize: 16, color: '#1E4FA8', lineHeight: 1.55, marginTop: 4 }}&gt;&#13;&#10;                    → AI 的价值不是替代医生，而是提供可复现的第二意见。&#13;&#10;                &lt;/Text&gt;&#13;&#10;            &lt;/Box&gt;&#13;&#10;        &lt;/Box&gt;&#13;&#10;&#13;&#10;        &lt;Box style={{ flex: 1, gap: 12 }}&gt;&#13;&#10;            &lt;Box style={{ flexDirection: 'row', alignItems: 'center', gap: 12, background: '#E8EFF8', borderRadius: 8, paddingLeft: 18, paddingTop: 10, paddingBottom: 10 }}&gt;&#13;&#10;                &lt;FAIcon name='info-circle' style={{ fill: '#1E4FA8', width: 26, height: 26 }} /&gt;&#13;&#10;                &lt;Text style={{ fontSize: 21, fontWeight: 'bold', color: '#0E3F8C' }}&gt;引导问题：这份数据最突出的结构性矛盾是什么？&lt;/Text&gt;&#13;&#10;            &lt;/Box&gt;&#13;&#10;            &lt;Chart&#13;&#10;                style={{ height: 252 }}&#13;&#10;                chartType='barChart'&#13;&#10;                barDirection='column'&#13;&#10;                title='BUSI 数据集类别分布（张）'&#13;&#10;                titleColor='#0E3F8C'&#13;&#10;                showLegend={false}&#13;&#10;                showDataLabels={true}&#13;&#10;                axisColor='#8B97A8'&#13;&#10;                dataLabelColor='#1A2230'&#13;&#10;                colors={['#3D7BD9', '#D9534F', '#8B97A8']}&#13;&#10;                background='#FFFFFF'&#13;&#10;                data={[&#13;&#10;                    ['类别', '图像数量'],&#13;&#10;                    ['良性 benign', 437],&#13;&#10;                    ['恶性 malignant', 210],&#13;&#10;                    ['正常 normal', 133],&#13;&#10;                ]}&#13;&#10;            /&gt;&#13;&#10;            &lt;Box style={{ flexDirection: 'row', gap: 14 }}&gt;&#13;&#10;                &lt;Box style={{ flex: 1, background: '#FFFFFF', border: '1px solid #D6DCE5', borderRadius: 8, padding: 10, alignItems: 'center', gap: 6 }}&gt;&#13;&#10;                    &lt;Image src=&quot;assets/sample_benign.png&quot; style={{ width: '100%', height: 88, objectFit: 'cover', borderRadius: 6 }} /&gt;&#13;&#10;                    &lt;Text style={{ fontSize: 16, fontWeight: 'bold', color: '#1A2230' }}&gt;良性 437&lt;/Text&gt;&#13;&#10;                &lt;/Box&gt;&#13;&#10;                &lt;Box style={{ flex: 1, background: '#FFFFFF', border: '1px solid #F5C6C4', borderRadius: 8, padding: 10, alignItems: 'center', gap: 6 }}&gt;&#13;&#10;                    &lt;Image src=&quot;assets/sample_malignant.png&quot; style={{ width: '100%', height: 88, objectFit: 'cover', borderRadius: 6 }} /&gt;&#13;&#10;                    &lt;Text style={{ fontSize: 16, fontWeight: 'bold', color: '#D9534F' }}&gt;恶性 210&lt;/Text&gt;&#13;&#10;                &lt;/Box&gt;&#13;&#10;                &lt;Box style={{ flex: 1, background: '#FFFFFF', border: '1px solid #D6DCE5', borderRadius: 8, padding: 10, alignItems: 'center', gap: 6 }}&gt;&#13;&#10;                    &lt;Image src=&quot;assets/sample_normal.png&quot; style={{ width: '100%', height: 88, objectFit: 'cover', borderRadius: 6 }} /&gt;&#13;&#10;                    &lt;Text style={{ fontSize: 16, fontWeight: 'bold', color: '#1A2230' }}&gt;正常 133&lt;/Text&gt;&#13;&#10;                &lt;/Box&gt;&#13;&#10;            &lt;/Box&gt;&#13;&#10;            &lt;Box style={{ background: '#FFF8E1', borderLeft: '5px solid #FFC107', borderRadius: 6, padding: 14 }}&gt;&#13;&#10;                &lt;Text style={{ fontSize: 19, color: '#1A2230', lineHeight: 1.5 }}&gt;&#13;&#10;                    &lt;span style={{ fontWeight: 'bold' }}&gt;数据判断：&lt;/span&gt;恶性样本只有良性的 48%，模型会天然偏向多数类。780 张也远小于 ImageNet 的百万量级——这直接决定了后续必须用迁移学习与类别加权。&#13;&#10;                &lt;/Text&gt;&#13;&#10;            &lt;/Box&gt;&#13;&#10;        &lt;/Box&gt;&#13;&#10;    &lt;/Box&gt;&#13;&#10;&#13;&#10;    &lt;Box style={{ height: 40, flexDirection: 'row', alignItems: 'center', justifyContent: 'space-between', paddingLeft: 40, paddingRight: 40, borderTop: '1px solid #E5E7EB' }}&gt;&#13;&#10;        &lt;Text style={{ fontSize: 14, color: '#8B97A8' }}&gt;BUSI 乳腺超声图像分类 · 乳腺癌智能诊断&lt;/Text&gt;&#13;&#10;        &lt;Text style={{ fontSize: 14, color: '#1E4FA8' }}&gt;04 / 3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54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55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2743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为什么需要智能诊断</a:t>
            </a:r>
            <a:endParaRPr/>
          </a:p>
        </p:txBody>
      </p:sp>
      <p:sp>
        <p:nvSpPr>
          <p:cNvPr id="857" name="" descr="{&quot;isTemplate&quot;:true,&quot;type&quot;:&quot;text&quot;}"/>
          <p:cNvSpPr txBox="1"/>
          <p:nvPr/>
        </p:nvSpPr>
        <p:spPr>
          <a:xfrm rot="0" flipH="0" flipV="0">
            <a:off x="10515600" y="26670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临床背景与数据</a:t>
            </a:r>
            <a:endParaRPr/>
          </a:p>
        </p:txBody>
      </p:sp>
      <p:sp>
        <p:nvSpPr>
          <p:cNvPr id="858" name=""/>
          <p:cNvSpPr/>
          <p:nvPr/>
        </p:nvSpPr>
        <p:spPr>
          <a:xfrm rot="0" flipH="0" flipV="0">
            <a:off x="381000" y="914400"/>
            <a:ext cx="3276600" cy="1752600"/>
          </a:xfrm>
          <a:prstGeom prst="roundRect">
            <a:avLst>
              <a:gd name="adj" fmla="val 543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552450" y="1085850"/>
            <a:ext cx="2933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CFE0F7"/>
                </a:solidFill>
                <a:latin typeface="Microsoft YaHei"/>
                <a:ea typeface="Microsoft YaHei"/>
              </a:rPr>
              <a:t>全数据集影像总数</a:t>
            </a:r>
            <a:endParaRPr/>
          </a:p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552450" y="1362075"/>
            <a:ext cx="29337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FFFFF"/>
                </a:solidFill>
                <a:latin typeface="Microsoft YaHei"/>
                <a:ea typeface="Microsoft YaHei"/>
              </a:rPr>
              <a:t>780</a:t>
            </a:r>
            <a:endParaRPr/>
          </a:p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552450" y="2295525"/>
            <a:ext cx="293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FC0F0"/>
                </a:solidFill>
                <a:latin typeface="Microsoft YaHei"/>
                <a:ea typeface="Microsoft YaHei"/>
              </a:rPr>
              <a:t>张</a:t>
            </a:r>
            <a:r>
              <a:rPr lang="en-US" sz="1275">
                <a:solidFill>
                  <a:srgbClr val="8FC0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8FC0F0"/>
                </a:solidFill>
                <a:latin typeface="Microsoft YaHei"/>
                <a:ea typeface="Microsoft YaHei"/>
              </a:rPr>
              <a:t>来自</a:t>
            </a:r>
            <a:r>
              <a:rPr lang="en-US" sz="1275">
                <a:solidFill>
                  <a:srgbClr val="8FC0F0"/>
                </a:solidFill>
                <a:latin typeface="Microsoft YaHei"/>
                <a:ea typeface="Microsoft YaHei"/>
              </a:rPr>
              <a:t xml:space="preserve"> 600 </a:t>
            </a:r>
            <a:r>
              <a:rPr lang="zh-CN" sz="1275">
                <a:solidFill>
                  <a:srgbClr val="8FC0F0"/>
                </a:solidFill>
                <a:latin typeface="Microsoft YaHei"/>
                <a:ea typeface="Microsoft YaHei"/>
              </a:rPr>
              <a:t>位女性患者</a:t>
            </a:r>
            <a:endParaRPr/>
          </a:p>
        </p:txBody>
      </p:sp>
      <p:sp>
        <p:nvSpPr>
          <p:cNvPr id="862" name=""/>
          <p:cNvSpPr/>
          <p:nvPr/>
        </p:nvSpPr>
        <p:spPr>
          <a:xfrm rot="0" flipH="0" flipV="0">
            <a:off x="381000" y="2781300"/>
            <a:ext cx="3276600" cy="1228725"/>
          </a:xfrm>
          <a:prstGeom prst="roundRect">
            <a:avLst>
              <a:gd name="adj" fmla="val 7752"/>
            </a:avLst>
          </a:prstGeom>
          <a:solidFill>
            <a:srgbClr val="FDECEC"/>
          </a:solidFill>
          <a:ln w="12700">
            <a:solidFill>
              <a:srgbClr val="F5C6C4"/>
            </a:solidFill>
            <a:prstDash val="solid"/>
          </a:ln>
        </p:spPr>
        <p:txBody>
          <a:bodyPr/>
          <a:p/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533400" y="2933700"/>
            <a:ext cx="2971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B03430"/>
                </a:solidFill>
                <a:latin typeface="Microsoft YaHei"/>
                <a:ea typeface="Microsoft YaHei"/>
              </a:rPr>
              <a:t>其中恶性样本</a:t>
            </a:r>
            <a:endParaRPr/>
          </a:p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533400" y="3209925"/>
            <a:ext cx="9906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D9534F"/>
                </a:solidFill>
                <a:latin typeface="Microsoft YaHei"/>
                <a:ea typeface="Microsoft YaHei"/>
              </a:rPr>
              <a:t>210</a:t>
            </a:r>
            <a:endParaRPr/>
          </a:p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1619250" y="3209925"/>
            <a:ext cx="9429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B03430"/>
                </a:solidFill>
                <a:latin typeface="Microsoft YaHei"/>
                <a:ea typeface="Microsoft YaHei"/>
              </a:rPr>
              <a:t>张</a:t>
            </a:r>
            <a:r>
              <a:rPr lang="en-US" sz="1500">
                <a:solidFill>
                  <a:srgbClr val="B03430"/>
                </a:solidFill>
                <a:latin typeface="Microsoft YaHei"/>
                <a:ea typeface="Microsoft YaHei"/>
              </a:rPr>
              <a:t xml:space="preserve"> / 26.9%</a:t>
            </a:r>
            <a:endParaRPr/>
          </a:p>
        </p:txBody>
      </p:sp>
      <p:sp>
        <p:nvSpPr>
          <p:cNvPr id="866" name=""/>
          <p:cNvSpPr/>
          <p:nvPr/>
        </p:nvSpPr>
        <p:spPr>
          <a:xfrm rot="0" flipH="0" flipV="0">
            <a:off x="381000" y="4124325"/>
            <a:ext cx="3276600" cy="2343150"/>
          </a:xfrm>
          <a:prstGeom prst="roundRect">
            <a:avLst>
              <a:gd name="adj" fmla="val 4065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571500" y="4314825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读片的三重压力</a:t>
            </a:r>
            <a:endParaRPr/>
          </a:p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571500" y="4667250"/>
            <a:ext cx="28956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良恶性病灶在灰阶超声上边界模糊、形态重叠；不同年资医师判读一致性有限；基层医院缺乏资深超声医师。</a:t>
            </a:r>
            <a:endParaRPr/>
          </a:p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571500" y="5705475"/>
            <a:ext cx="28956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 xml:space="preserve">→ AI </a:t>
            </a:r>
            <a:r>
              <a:rPr lang="zh-CN" sz="1200">
                <a:solidFill>
                  <a:srgbClr val="1E4FA8"/>
                </a:solidFill>
                <a:latin typeface="Microsoft YaHei"/>
                <a:ea typeface="Microsoft YaHei"/>
              </a:rPr>
              <a:t>的价值不是替代医生，而是提供可复现的第二意见。</a:t>
            </a:r>
            <a:endParaRPr/>
          </a:p>
        </p:txBody>
      </p:sp>
      <p:sp>
        <p:nvSpPr>
          <p:cNvPr id="870" name=""/>
          <p:cNvSpPr/>
          <p:nvPr/>
        </p:nvSpPr>
        <p:spPr>
          <a:xfrm rot="0" flipH="0" flipV="0">
            <a:off x="3924300" y="914400"/>
            <a:ext cx="7886700" cy="438150"/>
          </a:xfrm>
          <a:prstGeom prst="roundRect">
            <a:avLst>
              <a:gd name="adj" fmla="val 17391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8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095750" y="1009650"/>
            <a:ext cx="247650" cy="247650"/>
          </a:xfrm>
          <a:prstGeom prst="rect">
            <a:avLst/>
          </a:prstGeom>
          <a:ln/>
        </p:spPr>
      </p:pic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4457700" y="1009650"/>
            <a:ext cx="44005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引导问题：这份数据最突出的结构性矛盾是什么？</a:t>
            </a:r>
            <a:endParaRPr/>
          </a:p>
        </p:txBody>
      </p:sp>
      <p:graphicFrame>
        <p:nvGraphicFramePr>
          <p:cNvPr id="873" name="873"/>
          <p:cNvGraphicFramePr/>
          <p:nvPr/>
        </p:nvGraphicFramePr>
        <p:xfrm rot="0" flipH="0" flipV="0">
          <a:off x="3924300" y="1466850"/>
          <a:ext cx="7886700" cy="24003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874" name=""/>
          <p:cNvSpPr/>
          <p:nvPr/>
        </p:nvSpPr>
        <p:spPr>
          <a:xfrm rot="0" flipH="0" flipV="0">
            <a:off x="3924300" y="3981450"/>
            <a:ext cx="2543175" cy="12763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875" name=""/>
          <p:cNvPicPr>
            <a:picLocks noChangeAspect="1"/>
          </p:cNvPicPr>
          <p:nvPr/>
        </p:nvPicPr>
        <p:blipFill>
          <a:blip r:embed="rId3"/>
          <a:srcRect l="0" t="28744" r="0" b="28744"/>
          <a:stretch>
            <a:fillRect/>
          </a:stretch>
        </p:blipFill>
        <p:spPr>
          <a:xfrm rot="0" flipH="0" flipV="0">
            <a:off x="4019550" y="4076700"/>
            <a:ext cx="2352675" cy="838200"/>
          </a:xfrm>
          <a:prstGeom prst="roundRect">
            <a:avLst>
              <a:gd name="adj" fmla="val 6818"/>
            </a:avLst>
          </a:prstGeom>
          <a:ln/>
        </p:spPr>
      </p:pic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4876800" y="4972050"/>
            <a:ext cx="638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良性</a:t>
            </a: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437</a:t>
            </a:r>
            <a:endParaRPr/>
          </a:p>
        </p:txBody>
      </p:sp>
      <p:sp>
        <p:nvSpPr>
          <p:cNvPr id="877" name=""/>
          <p:cNvSpPr/>
          <p:nvPr/>
        </p:nvSpPr>
        <p:spPr>
          <a:xfrm rot="0" flipH="0" flipV="0">
            <a:off x="6600825" y="3981450"/>
            <a:ext cx="2533650" cy="12763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F5C6C4"/>
            </a:solidFill>
            <a:prstDash val="solid"/>
          </a:ln>
        </p:spPr>
        <p:txBody>
          <a:bodyPr/>
          <a:p/>
        </p:txBody>
      </p:sp>
      <p:pic>
        <p:nvPicPr>
          <p:cNvPr id="878" name=""/>
          <p:cNvPicPr>
            <a:picLocks noChangeAspect="1"/>
          </p:cNvPicPr>
          <p:nvPr/>
        </p:nvPicPr>
        <p:blipFill>
          <a:blip r:embed="rId4"/>
          <a:srcRect l="0" t="36585" r="0" b="36585"/>
          <a:stretch>
            <a:fillRect/>
          </a:stretch>
        </p:blipFill>
        <p:spPr>
          <a:xfrm rot="0" flipH="0" flipV="0">
            <a:off x="6696075" y="4076700"/>
            <a:ext cx="2343150" cy="838200"/>
          </a:xfrm>
          <a:prstGeom prst="roundRect">
            <a:avLst>
              <a:gd name="adj" fmla="val 6818"/>
            </a:avLst>
          </a:prstGeom>
          <a:ln/>
        </p:spPr>
      </p:pic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7553325" y="4972050"/>
            <a:ext cx="638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9534F"/>
                </a:solidFill>
                <a:latin typeface="Microsoft YaHei"/>
                <a:ea typeface="Microsoft YaHei"/>
              </a:rPr>
              <a:t>恶性</a:t>
            </a:r>
            <a:r>
              <a:rPr lang="en-US" sz="1200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 210</a:t>
            </a:r>
            <a:endParaRPr/>
          </a:p>
        </p:txBody>
      </p:sp>
      <p:sp>
        <p:nvSpPr>
          <p:cNvPr id="880" name=""/>
          <p:cNvSpPr/>
          <p:nvPr/>
        </p:nvSpPr>
        <p:spPr>
          <a:xfrm rot="0" flipH="0" flipV="0">
            <a:off x="9267825" y="3981450"/>
            <a:ext cx="2543175" cy="12763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881" name=""/>
          <p:cNvPicPr>
            <a:picLocks noChangeAspect="1"/>
          </p:cNvPicPr>
          <p:nvPr/>
        </p:nvPicPr>
        <p:blipFill>
          <a:blip r:embed="rId5"/>
          <a:srcRect l="0" t="28500" r="0" b="28500"/>
          <a:stretch>
            <a:fillRect/>
          </a:stretch>
        </p:blipFill>
        <p:spPr>
          <a:xfrm rot="0" flipH="0" flipV="0">
            <a:off x="9363075" y="4076700"/>
            <a:ext cx="2352675" cy="838200"/>
          </a:xfrm>
          <a:prstGeom prst="roundRect">
            <a:avLst>
              <a:gd name="adj" fmla="val 6818"/>
            </a:avLst>
          </a:prstGeom>
          <a:ln/>
        </p:spPr>
      </p:pic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10220325" y="4972050"/>
            <a:ext cx="638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正常</a:t>
            </a: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133</a:t>
            </a:r>
            <a:endParaRPr/>
          </a:p>
        </p:txBody>
      </p:sp>
      <p:sp>
        <p:nvSpPr>
          <p:cNvPr id="883" name=""/>
          <p:cNvSpPr/>
          <p:nvPr/>
        </p:nvSpPr>
        <p:spPr>
          <a:xfrm rot="0" flipH="0" flipV="0">
            <a:off x="3971925" y="5372100"/>
            <a:ext cx="7886700" cy="923925"/>
          </a:xfrm>
          <a:prstGeom prst="roundRect">
            <a:avLst>
              <a:gd name="adj" fmla="val 6186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884" name=""/>
          <p:cNvSpPr/>
          <p:nvPr/>
        </p:nvSpPr>
        <p:spPr>
          <a:xfrm rot="0" flipH="0" flipV="0">
            <a:off x="3971925" y="5372100"/>
            <a:ext cx="7886700" cy="923925"/>
          </a:xfrm>
          <a:custGeom>
            <a:pathLst>
              <a:path w="828" h="9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96"/>
                </a:lnTo>
                <a:cubicBezTo>
                  <a:pt x="5" y="97"/>
                  <a:pt x="5" y="97"/>
                  <a:pt x="6" y="97"/>
                </a:cubicBezTo>
                <a:cubicBezTo>
                  <a:pt x="3" y="97"/>
                  <a:pt x="0" y="94"/>
                  <a:pt x="0" y="9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4105275" y="5505450"/>
            <a:ext cx="757237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数据判断：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恶性样本只有良性的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48%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，模型会天然偏向多数类。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780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张也远小于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ImageNet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的百万量级——这直接决定了后续必须用迁移学习与类别加权。</a:t>
            </a:r>
            <a:endParaRPr/>
          </a:p>
        </p:txBody>
      </p:sp>
      <p:sp>
        <p:nvSpPr>
          <p:cNvPr id="886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04 / 38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889" name="" descr="&lt;Slide style={{ padding: 0, background: '#FFFFFF', fontFamily: 'Microsoft YaHei' }}&gt;&#13;&#10;    &lt;Box style={{ width: '100%', height: 76, background: '#0E3F8C', flexDirection: 'row', alignItems: 'center', justifyContent: 'space-between', paddingLeft: 40, paddingRight: 40 }}&gt;&#13;&#10;        &lt;Box style={{ flexDirection: 'row', alignItems: 'center', gap: 16 }}&gt;&#13;&#10;            &lt;Box style={{ width: 6, height: 34, background: '#FFC107' }} /&gt;&#13;&#10;            &lt;Text style={{ fontSize: 32, fontWeight: 'bold', color: '#FFFFFF' }}&gt;BUSI 数据集：三类影像长什么样&lt;/Text&gt;&#13;&#10;        &lt;/Box&gt;&#13;&#10;        &lt;Text style={{ fontSize: 16, color: '#8FC0F0' }}&gt;01 临床背景与数据&lt;/Text&gt;&#13;&#10;    &lt;/Box&gt;&#13;&#10;&#13;&#10;    &lt;Box style={{ height: 604, flexDirection: 'row', gap: 26, paddingTop: 22, paddingLeft: 40, paddingRight: 40, paddingBottom: 22 }}&gt;&#13;&#10;        &lt;Box style={{ width: 600, gap: 10 }}&gt;&#13;&#10;            &lt;Image src=&quot;assets/dataset_samples.png&quot; style={{ width: 600, height: 505, objectFit: 'cover', borderRadius: 10, border: '1px solid #D6DCE5' }} /&gt;&#13;&#10;            &lt;Text style={{ fontSize: 15, color: '#8B97A8' }}&gt;&#13;&#10;                图：从 BUSI 数据集中随机抽取的真实乳腺超声图像（每行一类，良性 / 恶性 / 正常）&#13;&#10;            &lt;/Text&gt;&#13;&#10;        &lt;/Box&gt;&#13;&#10;&#13;&#10;        &lt;Box style={{ flex: 1, gap: 12 }}&gt;&#13;&#10;            &lt;Box style={{ flex: 1, background: '#F0F5FC', border: '1px solid #D6DCE5', borderLeft: '5px solid #3D7BD9', borderRadius: 8, padding: 12, gap: 7 }}&gt;&#13;&#10;                &lt;Box style={{ flexDirection: 'row', alignItems: 'baseline', justifyContent: 'space-between' }}&gt;&#13;&#10;                    &lt;Text style={{ fontSize: 25, fontWeight: 'bold', color: '#0E3F8C' }}&gt;良性 benign&lt;/Text&gt;&#13;&#10;                    &lt;Text style={{ fontSize: 26, fontWeight: 'bold', color: '#1E4FA8' }}&gt;437 张&lt;/Text&gt;&#13;&#10;                &lt;/Box&gt;&#13;&#10;                &lt;Text style={{ fontSize: 17, color: '#4A5568', lineHeight: 1.55 }}&gt;&#13;&#10;                    多为纤维腺瘤等，形态规则、边界清晰、回声均匀，包膜完整，纵横比小于 1。&#13;&#10;                &lt;/Text&gt;&#13;&#10;                &lt;Box style={{ flexDirection: 'row', gap: 8, marginTop: 'auto' }}&gt;&#13;&#10;                    &lt;Box style={{ background: '#FFFFFF', border: '1px solid #D6DCE5', borderRadius: 12, paddingLeft: 12, paddingRight: 12, paddingTop: 4, paddingBottom: 4 }}&gt;&#13;&#10;                        &lt;Text style={{ fontSize: 15, color: '#4A5568' }}&gt;占比 56.0%&lt;/Text&gt;&#13;&#10;                    &lt;/Box&gt;&#13;&#10;                &lt;/Box&gt;&#13;&#10;            &lt;/Box&gt;&#13;&#10;&#13;&#10;            &lt;Box style={{ flex: 1, background: '#FDECEC', border: '1px solid #F5C6C4', borderLeft: '5px solid #D9534F', borderRadius: 8, padding: 12, gap: 7 }}&gt;&#13;&#10;                &lt;Box style={{ flexDirection: 'row', alignItems: 'baseline', justifyContent: 'space-between' }}&gt;&#13;&#10;                    &lt;Text style={{ fontSize: 25, fontWeight: 'bold', color: '#B03430' }}&gt;恶性 malignant&lt;/Text&gt;&#13;&#10;                    &lt;Text style={{ fontSize: 26, fontWeight: 'bold', color: '#D9534F' }}&gt;210 张&lt;/Text&gt;&#13;&#10;                &lt;/Box&gt;&#13;&#10;                &lt;Text style={{ fontSize: 17, color: '#4A5568', lineHeight: 1.55 }}&gt;&#13;&#10;                    形态不规则、边缘呈毛刺或分叶，内部回声不均，后方可伴声影，纵横比大于 1。&#13;&#10;                &lt;/Text&gt;&#13;&#10;                &lt;Box style={{ flexDirection: 'row', gap: 8, marginTop: 'auto' }}&gt;&#13;&#10;                    &lt;Box style={{ background: '#FFFFFF', border: '1px solid #F5C6C4', borderRadius: 12, paddingLeft: 12, paddingRight: 12, paddingTop: 4, paddingBottom: 4 }}&gt;&#13;&#10;                        &lt;Text style={{ fontSize: 15, color: '#B03430' }}&gt;占比 26.9%&lt;/Text&gt;&#13;&#10;                    &lt;/Box&gt;&#13;&#10;                    &lt;Box style={{ background: '#D9534F', borderRadius: 12, paddingLeft: 12, paddingRight: 12, paddingTop: 4, paddingBottom: 4 }}&gt;&#13;&#10;                        &lt;Text style={{ fontSize: 15, color: '#FFFFFF' }}&gt;漏诊代价最高&lt;/Text&gt;&#13;&#10;                    &lt;/Box&gt;&#13;&#10;                &lt;/Box&gt;&#13;&#10;            &lt;/Box&gt;&#13;&#10;&#13;&#10;            &lt;Box style={{ flex: 1, background: '#F0F5FC', border: '1px solid #D6DCE5', borderLeft: '5px solid #8B97A8', borderRadius: 8, padding: 12, gap: 7 }}&gt;&#13;&#10;                &lt;Box style={{ flexDirection: 'row', alignItems: 'baseline', justifyContent: 'space-between' }}&gt;&#13;&#10;                    &lt;Text style={{ fontSize: 25, fontWeight: 'bold', color: '#0E3F8C' }}&gt;正常 normal&lt;/Text&gt;&#13;&#10;                    &lt;Text style={{ fontSize: 26, fontWeight: 'bold', color: '#1E4FA8' }}&gt;133 张&lt;/Text&gt;&#13;&#10;                &lt;/Box&gt;&#13;&#10;                &lt;Text style={{ fontSize: 17, color: '#4A5568', lineHeight: 1.55 }}&gt;&#13;&#10;                    腺体层回声均匀、未见明确占位性病变，是判断模型是否&quot;过度报警&quot;的对照组。&#13;&#10;                &lt;/Text&gt;&#13;&#10;                &lt;Box style={{ flexDirection: 'row', gap: 8, marginTop: 'auto' }}&gt;&#13;&#10;                    &lt;Box style={{ background: '#FFFFFF', border: '1px solid #D6DCE5', borderRadius: 12, paddingLeft: 12, paddingRight: 12, paddingTop: 4, paddingBottom: 4 }}&gt;&#13;&#10;                        &lt;Text style={{ fontSize: 15, color: '#4A5568' }}&gt;占比 17.1%&lt;/Text&gt;&#13;&#10;                    &lt;/Box&gt;&#13;&#10;                &lt;/Box&gt;&#13;&#10;            &lt;/Box&gt;&#13;&#10;&#13;&#10;            &lt;Box style={{ height: 64, background: '#FFF8E1', borderLeft: '5px solid #FFC107', borderRadius: 6, paddingLeft: 16, paddingRight: 14, justifyContent: 'center' }}&gt;&#13;&#10;                &lt;Text style={{ fontSize: 17, color: '#1A2230', lineHeight: 1.45 }}&gt;&#13;&#10;                    &lt;span style={{ fontWeight: 'bold' }}&gt;数据判断：&lt;/span&gt;三类比例约 3.3 : 1.6 : 1——必须做分层划分与类别加权，否则模型会靠&quot;猜多数类&quot;拿到虚高的准确率。&#13;&#10;                &lt;/Text&gt;&#13;&#10;            &lt;/Box&gt;&#13;&#10;        &lt;/Box&gt;&#13;&#10;    &lt;/Box&gt;&#13;&#10;&#13;&#10;    &lt;Box style={{ height: 40, flexDirection: 'row', alignItems: 'center', justifyContent: 'space-between', paddingLeft: 40, paddingRight: 40, borderTop: '1px solid #E5E7EB' }}&gt;&#13;&#10;        &lt;Text style={{ fontSize: 14, color: '#8B97A8' }}&gt;BUSI 乳腺超声图像分类 · 乳腺癌智能诊断&lt;/Text&gt;&#13;&#10;        &lt;Text style={{ fontSize: 14, color: '#1E4FA8' }}&gt;05 / 3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1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92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893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44862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数据集：三类影像长什么样</a:t>
            </a:r>
            <a:endParaRPr/>
          </a:p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10515600" y="26670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临床背景与数据</a:t>
            </a:r>
            <a:endParaRPr/>
          </a:p>
        </p:txBody>
      </p:sp>
      <p:sp>
        <p:nvSpPr>
          <p:cNvPr id="895" name=""/>
          <p:cNvSpPr/>
          <p:nvPr/>
        </p:nvSpPr>
        <p:spPr>
          <a:xfrm rot="0" flipH="0" flipV="0">
            <a:off x="381000" y="933450"/>
            <a:ext cx="5715000" cy="4810125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896" name=""/>
          <p:cNvPicPr>
            <a:picLocks noChangeAspect="1"/>
          </p:cNvPicPr>
          <p:nvPr/>
        </p:nvPicPr>
        <p:blipFill>
          <a:blip r:embed="rId1"/>
          <a:srcRect l="0" t="1169" r="0" b="1169"/>
          <a:stretch>
            <a:fillRect/>
          </a:stretch>
        </p:blipFill>
        <p:spPr>
          <a:xfrm rot="0" flipH="0" flipV="0">
            <a:off x="381000" y="933450"/>
            <a:ext cx="5715000" cy="4810125"/>
          </a:xfrm>
          <a:prstGeom prst="roundRect">
            <a:avLst>
              <a:gd name="adj" fmla="val 1980"/>
            </a:avLst>
          </a:prstGeom>
          <a:ln/>
        </p:spPr>
      </p:pic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381000" y="5838825"/>
            <a:ext cx="571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图：从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BUSI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数据集中随机抽取的真实乳腺超声图像（每行一类，良性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恶性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正常）</a:t>
            </a:r>
            <a:endParaRPr/>
          </a:p>
        </p:txBody>
      </p:sp>
      <p:sp>
        <p:nvSpPr>
          <p:cNvPr id="898" name=""/>
          <p:cNvSpPr/>
          <p:nvPr/>
        </p:nvSpPr>
        <p:spPr>
          <a:xfrm rot="0" flipH="0" flipV="0">
            <a:off x="6391275" y="933450"/>
            <a:ext cx="5467350" cy="1524000"/>
          </a:xfrm>
          <a:prstGeom prst="roundRect">
            <a:avLst>
              <a:gd name="adj" fmla="val 5000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899" name=""/>
          <p:cNvSpPr/>
          <p:nvPr/>
        </p:nvSpPr>
        <p:spPr>
          <a:xfrm rot="0" flipH="0" flipV="0">
            <a:off x="6391275" y="933450"/>
            <a:ext cx="5467350" cy="1524000"/>
          </a:xfrm>
          <a:custGeom>
            <a:pathLst>
              <a:path w="574" h="160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57"/>
                </a:lnTo>
                <a:cubicBezTo>
                  <a:pt x="5" y="159"/>
                  <a:pt x="6" y="160"/>
                  <a:pt x="8" y="160"/>
                </a:cubicBezTo>
                <a:cubicBezTo>
                  <a:pt x="3" y="160"/>
                  <a:pt x="0" y="156"/>
                  <a:pt x="0" y="15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6505575" y="1047750"/>
            <a:ext cx="1390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良性</a:t>
            </a:r>
            <a:r>
              <a:rPr lang="en-US" sz="18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benign</a:t>
            </a:r>
            <a:endParaRPr/>
          </a:p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10915650" y="1047750"/>
            <a:ext cx="781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437 </a:t>
            </a:r>
            <a:r>
              <a:rPr lang="zh-CN" sz="1950" b="1">
                <a:solidFill>
                  <a:srgbClr val="1E4FA8"/>
                </a:soli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6505575" y="1419225"/>
            <a:ext cx="51911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多为纤维腺瘤等，形态规则、边界清晰、回声均匀，包膜完整，纵横比小于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03" name=""/>
          <p:cNvSpPr/>
          <p:nvPr/>
        </p:nvSpPr>
        <p:spPr>
          <a:xfrm rot="0" flipH="0" flipV="0">
            <a:off x="6505575" y="2095500"/>
            <a:ext cx="971550" cy="247650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6619875" y="2133600"/>
            <a:ext cx="742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占比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56.0%</a:t>
            </a:r>
            <a:endParaRPr/>
          </a:p>
        </p:txBody>
      </p:sp>
      <p:sp>
        <p:nvSpPr>
          <p:cNvPr id="905" name=""/>
          <p:cNvSpPr/>
          <p:nvPr/>
        </p:nvSpPr>
        <p:spPr>
          <a:xfrm rot="0" flipH="0" flipV="0">
            <a:off x="6391275" y="2571750"/>
            <a:ext cx="5467350" cy="152400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/>
        </p:spPr>
        <p:txBody>
          <a:bodyPr/>
          <a:p/>
        </p:txBody>
      </p:sp>
      <p:sp>
        <p:nvSpPr>
          <p:cNvPr id="906" name=""/>
          <p:cNvSpPr/>
          <p:nvPr/>
        </p:nvSpPr>
        <p:spPr>
          <a:xfrm rot="0" flipH="0" flipV="0">
            <a:off x="6391275" y="2571750"/>
            <a:ext cx="5467350" cy="1524000"/>
          </a:xfrm>
          <a:custGeom>
            <a:pathLst>
              <a:path w="574" h="160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57"/>
                </a:lnTo>
                <a:cubicBezTo>
                  <a:pt x="5" y="159"/>
                  <a:pt x="6" y="160"/>
                  <a:pt x="8" y="160"/>
                </a:cubicBezTo>
                <a:cubicBezTo>
                  <a:pt x="3" y="160"/>
                  <a:pt x="0" y="156"/>
                  <a:pt x="0" y="15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6505575" y="2686050"/>
            <a:ext cx="1771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B03430"/>
                </a:solidFill>
                <a:latin typeface="Microsoft YaHei"/>
                <a:ea typeface="Microsoft YaHei"/>
              </a:rPr>
              <a:t>恶性</a:t>
            </a:r>
            <a:r>
              <a:rPr lang="en-US" sz="1875" b="1">
                <a:solidFill>
                  <a:srgbClr val="B03430"/>
                </a:solidFill>
                <a:latin typeface="Microsoft YaHei"/>
                <a:ea typeface="Microsoft YaHei"/>
              </a:rPr>
              <a:t xml:space="preserve"> malignant</a:t>
            </a:r>
            <a:endParaRPr/>
          </a:p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10915650" y="2686050"/>
            <a:ext cx="781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210 </a:t>
            </a:r>
            <a:r>
              <a:rPr lang="zh-CN" sz="1950" b="1">
                <a:solidFill>
                  <a:srgbClr val="D9534F"/>
                </a:soli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909" name="" descr="{&quot;isTemplate&quot;:true,&quot;type&quot;:&quot;text&quot;}"/>
          <p:cNvSpPr txBox="1"/>
          <p:nvPr/>
        </p:nvSpPr>
        <p:spPr>
          <a:xfrm rot="0" flipH="0" flipV="0">
            <a:off x="6505575" y="3057525"/>
            <a:ext cx="51911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形态不规则、边缘呈毛刺或分叶，内部回声不均，后方可伴声影，纵横比大于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10" name=""/>
          <p:cNvSpPr/>
          <p:nvPr/>
        </p:nvSpPr>
        <p:spPr>
          <a:xfrm rot="0" flipH="0" flipV="0">
            <a:off x="6505575" y="3733800"/>
            <a:ext cx="971550" cy="247650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2700">
            <a:solidFill>
              <a:srgbClr val="F5C6C4"/>
            </a:solidFill>
            <a:prstDash val="solid"/>
          </a:ln>
        </p:spPr>
        <p:txBody>
          <a:bodyPr/>
          <a:p/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6619875" y="3771900"/>
            <a:ext cx="742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03430"/>
                </a:solidFill>
                <a:latin typeface="Microsoft YaHei"/>
                <a:ea typeface="Microsoft YaHei"/>
              </a:rPr>
              <a:t>占比</a:t>
            </a:r>
            <a:r>
              <a:rPr lang="en-US" sz="1125">
                <a:solidFill>
                  <a:srgbClr val="B03430"/>
                </a:solidFill>
                <a:latin typeface="Microsoft YaHei"/>
                <a:ea typeface="Microsoft YaHei"/>
              </a:rPr>
              <a:t xml:space="preserve"> 26.9%</a:t>
            </a:r>
            <a:endParaRPr/>
          </a:p>
        </p:txBody>
      </p:sp>
      <p:sp>
        <p:nvSpPr>
          <p:cNvPr id="912" name=""/>
          <p:cNvSpPr/>
          <p:nvPr/>
        </p:nvSpPr>
        <p:spPr>
          <a:xfrm rot="0" flipH="0" flipV="0">
            <a:off x="7553325" y="3733800"/>
            <a:ext cx="1085850" cy="247650"/>
          </a:xfrm>
          <a:prstGeom prst="roundRect">
            <a:avLst>
              <a:gd name="adj" fmla="val 46154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913" name="" descr="{&quot;isTemplate&quot;:true,&quot;type&quot;:&quot;text&quot;}"/>
          <p:cNvSpPr txBox="1"/>
          <p:nvPr/>
        </p:nvSpPr>
        <p:spPr>
          <a:xfrm rot="0" flipH="0" flipV="0">
            <a:off x="7667625" y="37719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漏诊代价最高</a:t>
            </a:r>
            <a:endParaRPr/>
          </a:p>
        </p:txBody>
      </p:sp>
      <p:sp>
        <p:nvSpPr>
          <p:cNvPr id="914" name=""/>
          <p:cNvSpPr/>
          <p:nvPr/>
        </p:nvSpPr>
        <p:spPr>
          <a:xfrm rot="0" flipH="0" flipV="0">
            <a:off x="6391275" y="4210050"/>
            <a:ext cx="5467350" cy="1524000"/>
          </a:xfrm>
          <a:prstGeom prst="roundRect">
            <a:avLst>
              <a:gd name="adj" fmla="val 5000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915" name=""/>
          <p:cNvSpPr/>
          <p:nvPr/>
        </p:nvSpPr>
        <p:spPr>
          <a:xfrm rot="0" flipH="0" flipV="0">
            <a:off x="6391275" y="4210050"/>
            <a:ext cx="5467350" cy="1524000"/>
          </a:xfrm>
          <a:custGeom>
            <a:pathLst>
              <a:path w="574" h="160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57"/>
                </a:lnTo>
                <a:cubicBezTo>
                  <a:pt x="5" y="159"/>
                  <a:pt x="6" y="160"/>
                  <a:pt x="8" y="160"/>
                </a:cubicBezTo>
                <a:cubicBezTo>
                  <a:pt x="3" y="160"/>
                  <a:pt x="0" y="156"/>
                  <a:pt x="0" y="15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8B97A8"/>
          </a:solidFill>
          <a:ln/>
        </p:spPr>
        <p:txBody>
          <a:bodyPr/>
          <a:p/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6505575" y="4324350"/>
            <a:ext cx="14097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正常</a:t>
            </a:r>
            <a:r>
              <a:rPr lang="en-US" sz="18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normal</a:t>
            </a:r>
            <a:endParaRPr/>
          </a:p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10915650" y="4324350"/>
            <a:ext cx="781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133 </a:t>
            </a:r>
            <a:r>
              <a:rPr lang="zh-CN" sz="1950" b="1">
                <a:solidFill>
                  <a:srgbClr val="1E4FA8"/>
                </a:soli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6505575" y="4695825"/>
            <a:ext cx="51911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腺体层回声均匀、未见明确占位性病变，是判断模型是否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过度报警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的对照组。</a:t>
            </a:r>
            <a:endParaRPr/>
          </a:p>
        </p:txBody>
      </p:sp>
      <p:sp>
        <p:nvSpPr>
          <p:cNvPr id="919" name=""/>
          <p:cNvSpPr/>
          <p:nvPr/>
        </p:nvSpPr>
        <p:spPr>
          <a:xfrm rot="0" flipH="0" flipV="0">
            <a:off x="6505575" y="5372100"/>
            <a:ext cx="971550" cy="247650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6619875" y="5410200"/>
            <a:ext cx="742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占比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17.1%</a:t>
            </a:r>
            <a:endParaRPr/>
          </a:p>
        </p:txBody>
      </p:sp>
      <p:sp>
        <p:nvSpPr>
          <p:cNvPr id="921" name=""/>
          <p:cNvSpPr/>
          <p:nvPr/>
        </p:nvSpPr>
        <p:spPr>
          <a:xfrm rot="0" flipH="0" flipV="0">
            <a:off x="6391275" y="5848350"/>
            <a:ext cx="5467350" cy="609600"/>
          </a:xfrm>
          <a:prstGeom prst="roundRect">
            <a:avLst>
              <a:gd name="adj" fmla="val 9375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922" name=""/>
          <p:cNvSpPr/>
          <p:nvPr/>
        </p:nvSpPr>
        <p:spPr>
          <a:xfrm rot="0" flipH="0" flipV="0">
            <a:off x="6391275" y="5848350"/>
            <a:ext cx="5467350" cy="609600"/>
          </a:xfrm>
          <a:custGeom>
            <a:pathLst>
              <a:path w="574" h="64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63"/>
                </a:lnTo>
                <a:cubicBezTo>
                  <a:pt x="5" y="64"/>
                  <a:pt x="5" y="64"/>
                  <a:pt x="6" y="64"/>
                </a:cubicBezTo>
                <a:cubicBezTo>
                  <a:pt x="3" y="64"/>
                  <a:pt x="0" y="61"/>
                  <a:pt x="0" y="5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6543675" y="5867400"/>
            <a:ext cx="51339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数据判断：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三类比例约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3.3 : 1.6 : 1——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必须做分层划分与类别加权，否则模型会靠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猜多数类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拿到虚高的准确率。</a:t>
            </a:r>
            <a:endParaRPr/>
          </a:p>
        </p:txBody>
      </p:sp>
      <p:sp>
        <p:nvSpPr>
          <p:cNvPr id="924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05 / 38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927" name="" descr="&lt;Slide style={{ padding: 0, background: '#FFFFFF', fontFamily: 'Microsoft YaHei' }}&gt;&#13;&#10;    &lt;Box style={{ width: '100%', height: 76, background: '#0E3F8C', flexDirection: 'row', alignItems: 'center', justifyContent: 'space-between', paddingLeft: 40, paddingRight: 40 }}&gt;&#13;&#10;        &lt;Box style={{ flexDirection: 'row', alignItems: 'center', gap: 16 }}&gt;&#13;&#10;            &lt;Box style={{ width: 6, height: 34, background: '#FFC107' }} /&gt;&#13;&#10;            &lt;Text style={{ fontSize: 32, fontWeight: 'bold', color: '#FFFFFF' }}&gt;任务定义与评价指标&lt;/Text&gt;&#13;&#10;        &lt;/Box&gt;&#13;&#10;        &lt;Text style={{ fontSize: 16, color: '#8FC0F0' }}&gt;01 临床背景与数据&lt;/Text&gt;&#13;&#10;    &lt;/Box&gt;&#13;&#10;&#13;&#10;    &lt;Box style={{ height: 604, flexDirection: 'row', gap: 24, paddingTop: 18, paddingLeft: 40, paddingRight: 40, paddingBottom: 18 }}&gt;&#13;&#10;        &lt;Box style={{ width: 690, gap: 10 }}&gt;&#13;&#10;            &lt;Box style={{ flexDirection: 'row', alignItems: 'center', gap: 12, background: '#E8EFF8', borderRadius: 8, paddingLeft: 18, paddingTop: 10, paddingBottom: 10 }}&gt;&#13;&#10;                &lt;FAIcon name='info-circle' style={{ fill: '#1E4FA8', width: 26, height: 26 }} /&gt;&#13;&#10;                &lt;Text style={{ fontSize: 21, fontWeight: 'bold', color: '#0E3F8C' }}&gt;任务：给定一张 224×224 超声图，输出三类的后验概率&lt;/Text&gt;&#13;&#10;            &lt;/Box&gt;&#13;&#10;&#13;&#10;            &lt;Box style={{ background: '#F7F9FC', border: '1px solid #D6DCE5', borderRadius: 10, padding: 16, gap: 10 }}&gt;&#13;&#10;                &lt;Text style={{ fontSize: 19, fontWeight: 'bold', color: '#0E3F8C' }}&gt;第一步：读懂混淆矩阵的四个格子&lt;/Text&gt;&#13;&#10;                &lt;Table&#13;&#10;                    style={{ width: '100%', height: 128 }}&#13;&#10;                    defaultTextStyle={{ fontSize: 17, textAlign: 'center', color: '#1A2230' }}&#13;&#10;                    defaultCellStyle={{&#13;&#10;                        border: {&#13;&#10;                            left: { width: 1, color: '#D6DCE5' }, right: { width: 1, color: '#D6DCE5' },&#13;&#10;                            top: { width: 1, color: '#D6DCE5' }, bottom: { width: 1, color: '#D6DCE5' },&#13;&#10;                        },&#13;&#10;                    }}&#13;&#10;                    cells={[&#13;&#10;                        [&#13;&#10;                            { text: '', cellStyle: { background: { color: '#FFFFFF' } } },&#13;&#10;                            { text: '预测为恶性', textStyle: { bold: true, color: '#FFFFFF' }, cellStyle: { background: { color: '#0E3F8C' } } },&#13;&#10;                            { text: '预测为非恶性', textStyle: { bold: true, color: '#FFFFFF' }, cellStyle: { background: { color: '#0E3F8C' } } },&#13;&#10;                        ],&#13;&#10;                        [&#13;&#10;                            { text: '实际为恶性', textStyle: { bold: true, color: '#FFFFFF' }, cellStyle: { background: { color: '#0E3F8C' } } },&#13;&#10;                            { text: 'TP 正确检出', cellStyle: { background: { color: '#E8EFF8' } } },&#13;&#10;                            { text: 'FN 漏诊', textStyle: { bold: true, color: '#B03430' }, cellStyle: { background: { color: '#FDECEC' } } },&#13;&#10;                        ],&#13;&#10;                        [&#13;&#10;                            { text: '实际非恶性', textStyle: { bold: true, color: '#FFFFFF' }, cellStyle: { background: { color: '#0E3F8C' } } },&#13;&#10;                            { text: 'FP 误报', textStyle: { color: '#B03430' }, cellStyle: { background: { color: '#FDECEC' } } },&#13;&#10;                            { text: 'TN 正确排除', cellStyle: { background: { color: '#F5F7FA' } } },&#13;&#10;                        ],&#13;&#10;                    ]}&#13;&#10;                /&gt;&#13;&#10;            &lt;/Box&gt;&#13;&#10;&#13;&#10;            &lt;Box style={{ flex: 1, background: '#FFFFFF', border: '1px solid #D6DCE5', borderRadius: 10, padding: 14, gap: 9 }}&gt;&#13;&#10;                &lt;Box style={{ flexDirection: 'row', alignItems: 'center', justifyContent: 'space-between' }}&gt;&#13;&#10;                    &lt;Text style={{ fontSize: 19, color: '#4A5568' }}&gt;准确率 Accuracy（整体正确比例）&lt;/Text&gt;&#13;&#10;                    &lt;Math latex='Acc = \frac{TP+TN}{TP+TN+FP+FN}' width={250} color='#0E3F8C' /&gt;&#13;&#10;                &lt;/Box&gt;&#13;&#10;                &lt;Box style={{ height: 1, background: '#E5E7EB' }} /&gt;&#13;&#10;                &lt;Box style={{ flexDirection: 'row', alignItems: 'center', justifyContent: 'space-between' }}&gt;&#13;&#10;                    &lt;Text style={{ fontSize: 19, color: '#4A5568' }}&gt;精确率 Precision（报恶性中有多少真恶性）&lt;/Text&gt;&#13;&#10;                    &lt;Math latex='P = \frac{TP}{TP+FP}' width={190} color='#0E3F8C' /&gt;&#13;&#10;                &lt;/Box&gt;&#13;&#10;                &lt;Box style={{ height: 1, background: '#E5E7EB' }} /&gt;&#13;&#10;                &lt;Box style={{ flexDirection: 'row', alignItems: 'center', justifyContent: 'space-between' }}&gt;&#13;&#10;                    &lt;Text style={{ fontSize: 19, color: '#4A5568' }}&gt;召回率 Recall（真恶性中查出多少）&lt;/Text&gt;&#13;&#10;                    &lt;Math latex='R = \frac{TP}{TP+FN}' width={190} color='#D9534F' /&gt;&#13;&#10;                &lt;/Box&gt;&#13;&#10;                &lt;Box style={{ height: 1, background: '#E5E7EB' }} /&gt;&#13;&#10;                &lt;Box style={{ flexDirection: 'row', alignItems: 'center', justifyContent: 'space-between' }}&gt;&#13;&#10;                    &lt;Text style={{ fontSize: 19, color: '#4A5568' }}&gt;F1（精确率与召回率的调和平均）&lt;/Text&gt;&#13;&#10;                    &lt;Math latex='F_1 = \frac{2PR}{P+R}' width={190} color='#0E3F8C' /&gt;&#13;&#10;                &lt;/Box&gt;&#13;&#10;                &lt;Box style={{ height: 1, background: '#E5E7EB' }} /&gt;&#13;&#10;                &lt;Box style={{ flexDirection: 'row', alignItems: 'center', justifyContent: 'space-between' }}&gt;&#13;&#10;                    &lt;Text style={{ fontSize: 19, color: '#4A5568' }}&gt;macro-F1（三类 F1 的算术平均，本项目选模标准）&lt;/Text&gt;&#13;&#10;                    &lt;Math latex='\overline{F_1}=\frac{1}{K}\sum_{k=1}^{K}F_{1,k}' width={210} color='#0E3F8C' /&gt;&#13;&#10;                &lt;/Box&gt;&#13;&#10;            &lt;/Box&gt;&#13;&#10;        &lt;/Box&gt;&#13;&#10;&#13;&#10;        &lt;Box style={{ flex: 1, gap: 12 }}&gt;&#13;&#10;            &lt;Box style={{ background: '#0E3F8C', borderRadius: 10, padding: 16, gap: 8 }}&gt;&#13;&#10;                &lt;Text style={{ fontSize: 21, fontWeight: 'bold', color: '#FFC107' }}&gt;漏诊与误诊，代价并不对等&lt;/Text&gt;&#13;&#10;                &lt;Text style={{ fontSize: 17, color: '#E3EDFA', lineHeight: 1.55 }}&gt;&#13;&#10;                    把恶性判成良性（&lt;span style={{ fontWeight: 'bold', color: '#FFC107' }}&gt;FN 漏诊&lt;/span&gt;）意味着患者错过最佳治疗窗口；把良性判成恶性（FP 误报）只是多一次穿刺活检。&#13;&#10;                &lt;/Text&gt;&#13;&#10;                &lt;Text style={{ fontSize: 17, color: '#FFFFFF', lineHeight: 1.55, fontWeight: 'bold' }}&gt;&#13;&#10;                    所以在筛查场景里，恶性类的召回率 R 比总准确率更值得关注。&#13;&#10;                &lt;/Text&gt;&#13;&#10;            &lt;/Box&gt;&#13;&#10;&#13;&#10;            &lt;Box style={{ flex: 1, background: '#F0F5FC', border: '1px solid #D6DCE5', borderRadius: 10, padding: 14, gap: 8 }}&gt;&#13;&#10;                &lt;Text style={{ fontSize: 21, fontWeight: 'bold', color: '#0E3F8C' }}&gt;为什么用 macro-F1 而不是 Accuracy&lt;/Text&gt;&#13;&#10;                &lt;Text style={{ fontSize: 17, color: '#4A5568', lineHeight: 1.55 }}&gt;&#13;&#10;                    良性占 56%，若模型把所有图都判为&quot;良性&quot;，Accuracy 也有 56%，但对恶性类的召回率是 0。&#13;&#10;                &lt;/Text&gt;&#13;&#10;                &lt;Text style={{ fontSize: 17, color: '#4A5568', lineHeight: 1.55 }}&gt;&#13;&#10;                    macro-F1 对三类一视同仁，任何一类崩塌都会拉低总分，因此本项目以验证集 macro-F1 作为选模与早停判据。&#13;&#10;                &lt;/Text&gt;&#13;&#10;                &lt;Box style={{ background: '#FFF8E1', borderRadius: 6, padding: 12, marginTop: 'auto' }}&gt;&#13;&#10;                    &lt;Text style={{ fontSize: 17, color: '#1A2230', lineHeight: 1.5 }}&gt;&#13;&#10;                        &lt;span style={{ fontWeight: 'bold' }}&gt;判断：&lt;/span&gt;指标不只是评分工具，它把&quot;临床偏好&quot;编码进了训练目标。&#13;&#10;                    &lt;/Text&gt;&#13;&#10;                &lt;/Box&gt;&#13;&#10;            &lt;/Box&gt;&#13;&#10;        &lt;/Box&gt;&#13;&#10;    &lt;/Box&gt;&#13;&#10;&#13;&#10;    &lt;Box style={{ height: 40, flexDirection: 'row', alignItems: 'center', justifyContent: 'space-between', paddingLeft: 40, paddingRight: 40, borderTop: '1px solid #E5E7EB' }}&gt;&#13;&#10;        &lt;Text style={{ fontSize: 14, color: '#8B97A8' }}&gt;BUSI 乳腺超声图像分类 · 乳腺癌智能诊断&lt;/Text&gt;&#13;&#10;        &lt;Text style={{ fontSize: 14, color: '#1E4FA8' }}&gt;06 / 3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29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30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931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2743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任务定义与评价指标</a:t>
            </a:r>
            <a:endParaRPr/>
          </a:p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10515600" y="26670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临床背景与数据</a:t>
            </a:r>
            <a:endParaRPr/>
          </a:p>
        </p:txBody>
      </p:sp>
      <p:sp>
        <p:nvSpPr>
          <p:cNvPr id="933" name=""/>
          <p:cNvSpPr/>
          <p:nvPr/>
        </p:nvSpPr>
        <p:spPr>
          <a:xfrm rot="0" flipH="0" flipV="0">
            <a:off x="381000" y="895350"/>
            <a:ext cx="6572250" cy="438150"/>
          </a:xfrm>
          <a:prstGeom prst="roundRect">
            <a:avLst>
              <a:gd name="adj" fmla="val 17391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9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52450" y="990600"/>
            <a:ext cx="247650" cy="247650"/>
          </a:xfrm>
          <a:prstGeom prst="rect">
            <a:avLst/>
          </a:prstGeom>
          <a:ln/>
        </p:spPr>
      </p:pic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914400" y="990600"/>
            <a:ext cx="50196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任务：给定一张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224×224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超声图，输出三类的后验概率</a:t>
            </a:r>
            <a:endParaRPr/>
          </a:p>
        </p:txBody>
      </p:sp>
      <p:sp>
        <p:nvSpPr>
          <p:cNvPr id="936" name=""/>
          <p:cNvSpPr/>
          <p:nvPr/>
        </p:nvSpPr>
        <p:spPr>
          <a:xfrm rot="0" flipH="0" flipV="0">
            <a:off x="381000" y="1428750"/>
            <a:ext cx="6572250" cy="1838325"/>
          </a:xfrm>
          <a:prstGeom prst="roundRect">
            <a:avLst>
              <a:gd name="adj" fmla="val 518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533400" y="1581150"/>
            <a:ext cx="6267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第一步：读懂混淆矩阵的四个格子</a:t>
            </a:r>
            <a:endParaRPr/>
          </a:p>
        </p:txBody>
      </p:sp>
      <p:graphicFrame>
        <p:nvGraphicFramePr>
          <p:cNvPr id="938" name=""/>
          <p:cNvGraphicFramePr/>
          <p:nvPr/>
        </p:nvGraphicFramePr>
        <p:xfrm rot="0" flipH="0" flipV="0">
          <a:off x="533400" y="1895475"/>
          <a:ext cx="6267450" cy="1219200"/>
        </p:xfrm>
        <a:graphic>
          <a:graphicData uri="http://schemas.openxmlformats.org/drawingml/2006/table">
            <a:tbl>
              <a:tblGrid>
                <a:gridCol w="1913818">
                  <a:extLst>
                    <a:ext uri="{9D8B030D-6E8A-4147-A177-3AD203B41FA5}">
                      <a16:colId val="1"/>
                    </a:ext>
                  </a:extLst>
                </a:gridCol>
                <a:gridCol w="2095894">
                  <a:extLst>
                    <a:ext uri="{9D8B030D-6E8A-4147-A177-3AD203B41FA5}">
                      <a16:colId val="2"/>
                    </a:ext>
                  </a:extLst>
                </a:gridCol>
                <a:gridCol w="2257739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064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预测为恶性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预测为非恶性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064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实际为恶性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TP 正确检出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B03430"/>
                          </a:solidFill>
                          <a:latin typeface="Microsoft YaHei"/>
                          <a:ea typeface="Microsoft YaHei"/>
                        </a:rPr>
                        <a:t>FN 漏诊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064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实际非恶性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B03430"/>
                          </a:solidFill>
                          <a:latin typeface="Microsoft YaHei"/>
                          <a:ea typeface="Microsoft YaHei"/>
                        </a:rPr>
                        <a:t>FP 误报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TN 正确排除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</a:tbl>
          </a:graphicData>
        </a:graphic>
      </p:graphicFrame>
      <p:sp>
        <p:nvSpPr>
          <p:cNvPr id="939" name=""/>
          <p:cNvSpPr/>
          <p:nvPr/>
        </p:nvSpPr>
        <p:spPr>
          <a:xfrm rot="0" flipH="0" flipV="0">
            <a:off x="381000" y="3362325"/>
            <a:ext cx="6572250" cy="3095625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40" name="" descr="{&quot;isTemplate&quot;:true,&quot;type&quot;:&quot;text&quot;}"/>
          <p:cNvSpPr txBox="1"/>
          <p:nvPr/>
        </p:nvSpPr>
        <p:spPr>
          <a:xfrm rot="0" flipH="0" flipV="0">
            <a:off x="514350" y="3552825"/>
            <a:ext cx="2828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准确率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Accuracy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（整体正确比例）</a:t>
            </a:r>
            <a:endParaRPr/>
          </a:p>
        </p:txBody>
      </p:sp>
      <p:pic>
        <p:nvPicPr>
          <p:cNvPr id="941" name="" descr="Acc = \frac{TP+TN}{TP+TN+FP+FN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438650" y="3495675"/>
            <a:ext cx="2381250" cy="333375"/>
          </a:xfrm>
          <a:prstGeom prst="rect"/>
          <a:ln/>
        </p:spPr>
      </p:pic>
      <p:sp>
        <p:nvSpPr>
          <p:cNvPr id="942" name=""/>
          <p:cNvSpPr/>
          <p:nvPr/>
        </p:nvSpPr>
        <p:spPr>
          <a:xfrm rot="0" flipH="0" flipV="0">
            <a:off x="514350" y="3914775"/>
            <a:ext cx="63055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514350" y="4133850"/>
            <a:ext cx="3552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精确率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Precision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（报恶性中有多少真恶性）</a:t>
            </a:r>
            <a:endParaRPr/>
          </a:p>
        </p:txBody>
      </p:sp>
      <p:pic>
        <p:nvPicPr>
          <p:cNvPr id="944" name="" descr="P = \frac{TP}{TP+FP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010150" y="4010025"/>
            <a:ext cx="1809750" cy="457200"/>
          </a:xfrm>
          <a:prstGeom prst="rect"/>
          <a:ln/>
        </p:spPr>
      </p:pic>
      <p:sp>
        <p:nvSpPr>
          <p:cNvPr id="945" name=""/>
          <p:cNvSpPr/>
          <p:nvPr/>
        </p:nvSpPr>
        <p:spPr>
          <a:xfrm rot="0" flipH="0" flipV="0">
            <a:off x="514350" y="4552950"/>
            <a:ext cx="63055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514350" y="4762500"/>
            <a:ext cx="2914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召回率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Recall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（真恶性中查出多少）</a:t>
            </a:r>
            <a:endParaRPr/>
          </a:p>
        </p:txBody>
      </p:sp>
      <p:pic>
        <p:nvPicPr>
          <p:cNvPr id="947" name="" descr="R = \frac{TP}{TP+FN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5010150" y="4648200"/>
            <a:ext cx="1809750" cy="447675"/>
          </a:xfrm>
          <a:prstGeom prst="rect"/>
          <a:ln/>
        </p:spPr>
      </p:pic>
      <p:sp>
        <p:nvSpPr>
          <p:cNvPr id="948" name=""/>
          <p:cNvSpPr/>
          <p:nvPr/>
        </p:nvSpPr>
        <p:spPr>
          <a:xfrm rot="0" flipH="0" flipV="0">
            <a:off x="514350" y="5181600"/>
            <a:ext cx="63055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949" name="" descr="{&quot;isTemplate&quot;:true,&quot;type&quot;:&quot;text&quot;}"/>
          <p:cNvSpPr txBox="1"/>
          <p:nvPr/>
        </p:nvSpPr>
        <p:spPr>
          <a:xfrm rot="0" flipH="0" flipV="0">
            <a:off x="514350" y="5429250"/>
            <a:ext cx="2743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F1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（精确率与召回率的调和平均）</a:t>
            </a:r>
            <a:endParaRPr/>
          </a:p>
        </p:txBody>
      </p:sp>
      <p:pic>
        <p:nvPicPr>
          <p:cNvPr id="950" name="" descr="F_1 = \frac{2PR}{P+R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5010150" y="5276850"/>
            <a:ext cx="1809750" cy="523875"/>
          </a:xfrm>
          <a:prstGeom prst="rect"/>
          <a:ln/>
        </p:spPr>
      </p:pic>
      <p:sp>
        <p:nvSpPr>
          <p:cNvPr id="951" name=""/>
          <p:cNvSpPr/>
          <p:nvPr/>
        </p:nvSpPr>
        <p:spPr>
          <a:xfrm rot="0" flipH="0" flipV="0">
            <a:off x="514350" y="5886450"/>
            <a:ext cx="63055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952" name="" descr="{&quot;isTemplate&quot;:true,&quot;type&quot;:&quot;text&quot;}"/>
          <p:cNvSpPr txBox="1"/>
          <p:nvPr/>
        </p:nvSpPr>
        <p:spPr>
          <a:xfrm rot="0" flipH="0" flipV="0">
            <a:off x="514350" y="6048375"/>
            <a:ext cx="4210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macro-F1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（三类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F1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的算术平均，本项目选模标准）</a:t>
            </a:r>
            <a:endParaRPr/>
          </a:p>
        </p:txBody>
      </p:sp>
      <p:pic>
        <p:nvPicPr>
          <p:cNvPr id="953" name="" descr="\overline{F_1}=\frac{1}{K}\sum_{k=1}^{K}F_{1,k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4819650" y="5981700"/>
            <a:ext cx="2000250" cy="342900"/>
          </a:xfrm>
          <a:prstGeom prst="rect"/>
          <a:ln/>
        </p:spPr>
      </p:pic>
      <p:sp>
        <p:nvSpPr>
          <p:cNvPr id="954" name=""/>
          <p:cNvSpPr/>
          <p:nvPr/>
        </p:nvSpPr>
        <p:spPr>
          <a:xfrm rot="0" flipH="0" flipV="0">
            <a:off x="7181850" y="895350"/>
            <a:ext cx="4629150" cy="1924050"/>
          </a:xfrm>
          <a:prstGeom prst="roundRect">
            <a:avLst>
              <a:gd name="adj" fmla="val 495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7334250" y="1047750"/>
            <a:ext cx="43243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C107"/>
                </a:solidFill>
                <a:latin typeface="Microsoft YaHei"/>
                <a:ea typeface="Microsoft YaHei"/>
              </a:rPr>
              <a:t>漏诊与误诊，代价并不对等</a:t>
            </a:r>
            <a:endParaRPr/>
          </a:p>
        </p:txBody>
      </p:sp>
      <p:sp>
        <p:nvSpPr>
          <p:cNvPr id="956" name="" descr="{&quot;isTemplate&quot;:true,&quot;type&quot;:&quot;text&quot;}"/>
          <p:cNvSpPr txBox="1"/>
          <p:nvPr/>
        </p:nvSpPr>
        <p:spPr>
          <a:xfrm rot="0" flipH="0" flipV="0">
            <a:off x="7334250" y="1371600"/>
            <a:ext cx="43243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E3EDFA"/>
                </a:solidFill>
                <a:latin typeface="Microsoft YaHei"/>
                <a:ea typeface="Microsoft YaHei"/>
              </a:rPr>
              <a:t>把恶性判成良性（</a:t>
            </a:r>
            <a:r>
              <a:rPr lang="en-US" sz="1275" b="1">
                <a:solidFill>
                  <a:srgbClr val="FFC107"/>
                </a:solidFill>
                <a:latin typeface="Microsoft YaHei"/>
                <a:ea typeface="Microsoft YaHei"/>
              </a:rPr>
              <a:t xml:space="preserve">FN </a:t>
            </a:r>
            <a:r>
              <a:rPr lang="zh-CN" sz="1275" b="1">
                <a:solidFill>
                  <a:srgbClr val="FFC107"/>
                </a:solidFill>
                <a:latin typeface="Microsoft YaHei"/>
                <a:ea typeface="Microsoft YaHei"/>
              </a:rPr>
              <a:t>漏诊</a:t>
            </a:r>
            <a:r>
              <a:rPr lang="zh-CN" sz="1275">
                <a:solidFill>
                  <a:srgbClr val="E3EDFA"/>
                </a:solidFill>
                <a:latin typeface="Microsoft YaHei"/>
                <a:ea typeface="Microsoft YaHei"/>
              </a:rPr>
              <a:t>）意味着患者错过最佳治疗窗口；把良性判成恶性（</a:t>
            </a:r>
            <a:r>
              <a:rPr lang="en-US" sz="1275">
                <a:solidFill>
                  <a:srgbClr val="E3EDFA"/>
                </a:solidFill>
                <a:latin typeface="Microsoft YaHei"/>
                <a:ea typeface="Microsoft YaHei"/>
              </a:rPr>
              <a:t xml:space="preserve">FP </a:t>
            </a:r>
            <a:r>
              <a:rPr lang="zh-CN" sz="1275">
                <a:solidFill>
                  <a:srgbClr val="E3EDFA"/>
                </a:solidFill>
                <a:latin typeface="Microsoft YaHei"/>
                <a:ea typeface="Microsoft YaHei"/>
              </a:rPr>
              <a:t>误报）只是多一次穿刺活检。</a:t>
            </a:r>
            <a:endParaRPr/>
          </a:p>
        </p:txBody>
      </p:sp>
      <p:sp>
        <p:nvSpPr>
          <p:cNvPr id="957" name="" descr="{&quot;isTemplate&quot;:true,&quot;type&quot;:&quot;text&quot;}"/>
          <p:cNvSpPr txBox="1"/>
          <p:nvPr/>
        </p:nvSpPr>
        <p:spPr>
          <a:xfrm rot="0" flipH="0" flipV="0">
            <a:off x="7334250" y="2057400"/>
            <a:ext cx="43243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所以在筛查场景里，恶性类的召回率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R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比总准确率更值得关注。</a:t>
            </a:r>
            <a:endParaRPr/>
          </a:p>
        </p:txBody>
      </p:sp>
      <p:sp>
        <p:nvSpPr>
          <p:cNvPr id="958" name=""/>
          <p:cNvSpPr/>
          <p:nvPr/>
        </p:nvSpPr>
        <p:spPr>
          <a:xfrm rot="0" flipH="0" flipV="0">
            <a:off x="7181850" y="2933700"/>
            <a:ext cx="4629150" cy="3371850"/>
          </a:xfrm>
          <a:prstGeom prst="roundRect">
            <a:avLst>
              <a:gd name="adj" fmla="val 2825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59" name="" descr="{&quot;isTemplate&quot;:true,&quot;type&quot;:&quot;text&quot;}"/>
          <p:cNvSpPr txBox="1"/>
          <p:nvPr/>
        </p:nvSpPr>
        <p:spPr>
          <a:xfrm rot="0" flipH="0" flipV="0">
            <a:off x="7315200" y="3067050"/>
            <a:ext cx="436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为什么用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macro-F1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而不是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Accuracy</a:t>
            </a:r>
            <a:endParaRPr/>
          </a:p>
        </p:txBody>
      </p:sp>
      <p:sp>
        <p:nvSpPr>
          <p:cNvPr id="960" name="" descr="{&quot;isTemplate&quot;:true,&quot;type&quot;:&quot;text&quot;}"/>
          <p:cNvSpPr txBox="1"/>
          <p:nvPr/>
        </p:nvSpPr>
        <p:spPr>
          <a:xfrm rot="0" flipH="0" flipV="0">
            <a:off x="7315200" y="3390900"/>
            <a:ext cx="43624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良性占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56%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，若模型把所有图都判为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良性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Accuracy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也有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56%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，但对恶性类的召回率是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61" name="" descr="{&quot;isTemplate&quot;:true,&quot;type&quot;:&quot;text&quot;}"/>
          <p:cNvSpPr txBox="1"/>
          <p:nvPr/>
        </p:nvSpPr>
        <p:spPr>
          <a:xfrm rot="0" flipH="0" flipV="0">
            <a:off x="7315200" y="4076700"/>
            <a:ext cx="43624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macro-F1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对三类一视同仁，任何一类崩塌都会拉低总分，因此本项目以验证集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macro-F1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作为选模与早停判据。</a:t>
            </a:r>
            <a:endParaRPr/>
          </a:p>
        </p:txBody>
      </p:sp>
      <p:sp>
        <p:nvSpPr>
          <p:cNvPr id="962" name=""/>
          <p:cNvSpPr/>
          <p:nvPr/>
        </p:nvSpPr>
        <p:spPr>
          <a:xfrm rot="0" flipH="0" flipV="0">
            <a:off x="7315200" y="5353050"/>
            <a:ext cx="4362450" cy="819150"/>
          </a:xfrm>
          <a:prstGeom prst="roundRect">
            <a:avLst>
              <a:gd name="adj" fmla="val 6977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7429500" y="5467350"/>
            <a:ext cx="41338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判断：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指标不只是评分工具，它把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临床偏好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编码进了训练目标。</a:t>
            </a:r>
            <a:endParaRPr/>
          </a:p>
        </p:txBody>
      </p:sp>
      <p:sp>
        <p:nvSpPr>
          <p:cNvPr id="964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965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06 / 38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67" name="" descr="&lt;Slide style={{ padding: 0, background: '#0E3F8C', fontFamily: 'Microsoft YaHei' }}&gt;&#10;    &lt;svg width={1280} height={720} viewBox='0 0 1280 720' style={{ position: 'absolute', top: 0, left: 0, opacity: 0.16 }}&gt;&#10;        &lt;rect x='820' y='230' width='120' height='120' rx='10' fill='none' stroke='#8FC0F0' strokeWidth='3' /&gt;&#10;        &lt;rect x='980' y='230' width='120' height='120' rx='10' fill='none' stroke='#8FC0F0' strokeWidth='3' /&gt;&#10;        &lt;rect x='1140' y='230' width='120' height='120' rx='10' fill='none' stroke='#8FC0F0' strokeWidth='3' /&gt;&#10;        &lt;path d='M940 290 H 980' stroke='#8FC0F0' strokeWidth='3' /&gt;&#10;        &lt;path d='M1100 290 H 1140' stroke='#8FC0F0' strokeWidth='3' /&gt;&#10;        &lt;path d='M880 350 V 420 H 1040 V 350' fill='none' stroke='#8FC0F0' strokeWidth='3' /&gt;&#10;        &lt;path d='M1040 290 V 420' fill='none' stroke='#8FC0F0' strokeWidth='3' /&gt;&#10;        &lt;rect x='820' y='420' width='440' height='100' rx='10' fill='none' stroke='#8FC0F0' strokeWidth='3' /&gt;&#10;    &lt;/svg&gt;&#10;    &lt;Box style={{ width: '100%', height: '100%', paddingTop: 84, paddingLeft: 72, paddingRight: 72, paddingBottom: 72, justifyContent: 'space-between' }}&gt;&#10;        &lt;Box style={{ flexDirection: 'row', alignItems: 'center', gap: 40 }}&gt;&#10;            &lt;Text style={{ fontSize: 200, fontWeight: 'bold', color: '#3D7BD9', lineHeight: 1 }}&gt;&#10;                02&#10;            &lt;/Text&gt;&#10;            &lt;Box style={{ width: 3, height: 150, background: 'rgba(255,255,255,0.35)' }} /&gt;&#10;            &lt;Box style={{ gap: 14 }}&gt;&#10;                &lt;Text style={{ fontSize: 50, fontWeight: 'bold', color: '#FFFFFF', letterSpacing: 3 }}&gt;&#10;                    技术路线与数据处理&#10;                &lt;/Text&gt;&#10;                &lt;Text style={{ fontFamily: 'Times New Roman', fontSize: 21, color: '#8FC0F0', letterSpacing: 1 }}&gt;&#10;                    Pipeline, Preprocessing and Training Protocol&#10;                &lt;/Text&gt;&#10;                &lt;Text style={{ fontSize: 21, color: '#CFE0F7', lineHeight: 1.6 }}&gt;&#10;                    两条主干网络共用同一条流水线，才能保证&quot;架构差异&quot;是唯一变量。&#10;                &lt;/Text&gt;&#10;            &lt;/Box&gt;&#10;        &lt;/Box&gt;&#10;&#10;        &lt;Box style={{ flexDirection: 'row', gap: 24 }}&gt;&#10;            &lt;Box style={{ flex: 1, background: 'rgba(255,255,255,0.10)', border: '1px solid rgba(255,255,255,0.22)', borderRadius: 10, padding: 26, gap: 10 }}&gt;&#10;                &lt;Text style={{ fontSize: 22, fontWeight: 'bold', color: '#FFC107' }}&gt;七步流水线&lt;/Text&gt;&#10;                &lt;Text style={{ fontSize: 18, color: '#DCE8F7', lineHeight: 1.6 }}&gt;&#10;                    读图 → 分层划分 → 增强 → 前向 → 算损失 → 反向 → 监控早停，全程可复现。&#10;                &lt;/Text&gt;&#10;            &lt;/Box&gt;&#10;            &lt;Box style={{ flex: 1, background: 'rgba(255,255,255,0.10)', border: '1px solid rgba(255,255,255,0.22)', borderRadius: 10, padding: 26, gap: 10 }}&gt;&#10;                &lt;Text style={{ fontSize: 22, fontWeight: 'bold', color: '#FFC107' }}&gt;数据增强&lt;/Text&gt;&#10;                &lt;Text style={{ fontSize: 18, color: '#DCE8F7', lineHeight: 1.6 }}&gt;&#10;                    随机裁剪、水平/垂直翻转、旋转、色彩抖动，用人工多样性弥补样本量不足。&#10;                &lt;/Text&gt;&#10;            &lt;/Box&gt;&#10;            &lt;Box style={{ flex: 1, background: 'rgba(255,255,255,0.10)', border: '1px solid rgba(255,255,255,0.22)', borderRadius: 10, padding: 26, gap: 10 }}&gt;&#10;                &lt;Text style={{ fontSize: 22, fontWeight: 'bold', color: '#FFC107' }}&gt;训练协议&lt;/Text&gt;&#10;                &lt;Text style={{ fontSize: 18, color: '#DCE8F7', lineHeight: 1.6 }}&gt;&#10;                    AdamW + StepLR + 类别权重 + 早停 15 轮，六个模型完全同参。&#10;                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69" name="" descr="{&quot;isTemplate&quot;:true,&quot;type&quot;:&quot;text&quot;}"/>
          <p:cNvSpPr txBox="1"/>
          <p:nvPr/>
        </p:nvSpPr>
        <p:spPr>
          <a:xfrm rot="0" flipH="0" flipV="0">
            <a:off x="685800" y="8001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3D7BD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970" name=""/>
          <p:cNvSpPr/>
          <p:nvPr/>
        </p:nvSpPr>
        <p:spPr>
          <a:xfrm rot="0" flipH="0" flipV="0">
            <a:off x="3419475" y="1228725"/>
            <a:ext cx="28575" cy="142875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971" name="" descr="{&quot;isTemplate&quot;:true,&quot;type&quot;:&quot;text&quot;}"/>
          <p:cNvSpPr txBox="1"/>
          <p:nvPr/>
        </p:nvSpPr>
        <p:spPr>
          <a:xfrm rot="0" flipH="0" flipV="0">
            <a:off x="3829050" y="1209675"/>
            <a:ext cx="59817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750" b="1" spc="225">
                <a:solidFill>
                  <a:srgbClr val="FFFFFF"/>
                </a:solidFill>
                <a:latin typeface="Microsoft YaHei"/>
                <a:ea typeface="Microsoft YaHei"/>
              </a:rPr>
              <a:t>技术路线与数据处理</a:t>
            </a:r>
            <a:endParaRPr/>
          </a:p>
        </p:txBody>
      </p:sp>
      <p:sp>
        <p:nvSpPr>
          <p:cNvPr id="972" name="" descr="{&quot;isTemplate&quot;:true,&quot;type&quot;:&quot;text&quot;}"/>
          <p:cNvSpPr txBox="1"/>
          <p:nvPr/>
        </p:nvSpPr>
        <p:spPr>
          <a:xfrm rot="0" flipH="0" flipV="0">
            <a:off x="3829050" y="1914525"/>
            <a:ext cx="5981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spc="75">
                <a:solidFill>
                  <a:srgbClr val="8FC0F0"/>
                </a:solidFill>
                <a:latin typeface="Times New Roman"/>
                <a:ea typeface="Times New Roman"/>
              </a:rPr>
              <a:t>Pipeline, Preprocessing and Training Protocol</a:t>
            </a:r>
            <a:endParaRPr/>
          </a:p>
        </p:txBody>
      </p:sp>
      <p:sp>
        <p:nvSpPr>
          <p:cNvPr id="973" name="" descr="{&quot;isTemplate&quot;:true,&quot;type&quot;:&quot;text&quot;}"/>
          <p:cNvSpPr txBox="1"/>
          <p:nvPr/>
        </p:nvSpPr>
        <p:spPr>
          <a:xfrm rot="0" flipH="0" flipV="0">
            <a:off x="3829050" y="2295525"/>
            <a:ext cx="5981700" cy="390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CFE0F7"/>
                </a:solidFill>
                <a:latin typeface="Microsoft YaHei"/>
                <a:ea typeface="Microsoft YaHei"/>
              </a:rPr>
              <a:t>两条主干网络共用同一条流水线，才能保证</a:t>
            </a:r>
            <a:r>
              <a:rPr lang="en-US" sz="1575">
                <a:solidFill>
                  <a:srgbClr val="CFE0F7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CFE0F7"/>
                </a:solidFill>
                <a:latin typeface="Microsoft YaHei"/>
                <a:ea typeface="Microsoft YaHei"/>
              </a:rPr>
              <a:t>架构差异</a:t>
            </a:r>
            <a:r>
              <a:rPr lang="en-US" sz="1575">
                <a:solidFill>
                  <a:srgbClr val="CFE0F7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CFE0F7"/>
                </a:solidFill>
                <a:latin typeface="Microsoft YaHei"/>
                <a:ea typeface="Microsoft YaHei"/>
              </a:rPr>
              <a:t>是唯一变量。</a:t>
            </a:r>
            <a:endParaRPr/>
          </a:p>
        </p:txBody>
      </p:sp>
      <p:sp>
        <p:nvSpPr>
          <p:cNvPr id="974" name=""/>
          <p:cNvSpPr/>
          <p:nvPr/>
        </p:nvSpPr>
        <p:spPr>
          <a:xfrm rot="0" flipH="0" flipV="0">
            <a:off x="685800" y="4333875"/>
            <a:ext cx="3457575" cy="1838325"/>
          </a:xfrm>
          <a:prstGeom prst="roundRect">
            <a:avLst>
              <a:gd name="adj" fmla="val 518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933450" y="4581525"/>
            <a:ext cx="2962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七步流水线</a:t>
            </a:r>
            <a:endParaRPr/>
          </a:p>
        </p:txBody>
      </p:sp>
      <p:sp>
        <p:nvSpPr>
          <p:cNvPr id="976" name="" descr="{&quot;isTemplate&quot;:true,&quot;type&quot;:&quot;text&quot;}"/>
          <p:cNvSpPr txBox="1"/>
          <p:nvPr/>
        </p:nvSpPr>
        <p:spPr>
          <a:xfrm rot="0" flipH="0" flipV="0">
            <a:off x="933450" y="4933950"/>
            <a:ext cx="296227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读图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分层划分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增强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前向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算损失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反向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监控早停，全程可复现。</a:t>
            </a:r>
            <a:endParaRPr/>
          </a:p>
        </p:txBody>
      </p:sp>
      <p:sp>
        <p:nvSpPr>
          <p:cNvPr id="977" name=""/>
          <p:cNvSpPr/>
          <p:nvPr/>
        </p:nvSpPr>
        <p:spPr>
          <a:xfrm rot="0" flipH="0" flipV="0">
            <a:off x="4371975" y="4333875"/>
            <a:ext cx="3448050" cy="1838325"/>
          </a:xfrm>
          <a:prstGeom prst="roundRect">
            <a:avLst>
              <a:gd name="adj" fmla="val 518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78" name="" descr="{&quot;isTemplate&quot;:true,&quot;type&quot;:&quot;text&quot;}"/>
          <p:cNvSpPr txBox="1"/>
          <p:nvPr/>
        </p:nvSpPr>
        <p:spPr>
          <a:xfrm rot="0" flipH="0" flipV="0">
            <a:off x="4619625" y="4581525"/>
            <a:ext cx="2952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数据增强</a:t>
            </a:r>
            <a:endParaRPr/>
          </a:p>
        </p:txBody>
      </p:sp>
      <p:sp>
        <p:nvSpPr>
          <p:cNvPr id="979" name="" descr="{&quot;isTemplate&quot;:true,&quot;type&quot;:&quot;text&quot;}"/>
          <p:cNvSpPr txBox="1"/>
          <p:nvPr/>
        </p:nvSpPr>
        <p:spPr>
          <a:xfrm rot="0" flipH="0" flipV="0">
            <a:off x="4619625" y="4933950"/>
            <a:ext cx="295275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随机裁剪、水平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>/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垂直翻转、旋转、色彩抖动，用人工多样性弥补样本量不足。</a:t>
            </a:r>
            <a:endParaRPr/>
          </a:p>
        </p:txBody>
      </p:sp>
      <p:sp>
        <p:nvSpPr>
          <p:cNvPr id="980" name=""/>
          <p:cNvSpPr/>
          <p:nvPr/>
        </p:nvSpPr>
        <p:spPr>
          <a:xfrm rot="0" flipH="0" flipV="0">
            <a:off x="8048625" y="4333875"/>
            <a:ext cx="3457575" cy="1838325"/>
          </a:xfrm>
          <a:prstGeom prst="roundRect">
            <a:avLst>
              <a:gd name="adj" fmla="val 518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81" name="" descr="{&quot;isTemplate&quot;:true,&quot;type&quot;:&quot;text&quot;}"/>
          <p:cNvSpPr txBox="1"/>
          <p:nvPr/>
        </p:nvSpPr>
        <p:spPr>
          <a:xfrm rot="0" flipH="0" flipV="0">
            <a:off x="8296275" y="4581525"/>
            <a:ext cx="2962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训练协议</a:t>
            </a:r>
            <a:endParaRPr/>
          </a:p>
        </p:txBody>
      </p:sp>
      <p:sp>
        <p:nvSpPr>
          <p:cNvPr id="982" name="" descr="{&quot;isTemplate&quot;:true,&quot;type&quot;:&quot;text&quot;}"/>
          <p:cNvSpPr txBox="1"/>
          <p:nvPr/>
        </p:nvSpPr>
        <p:spPr>
          <a:xfrm rot="0" flipH="0" flipV="0">
            <a:off x="8296275" y="4933950"/>
            <a:ext cx="29622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AdamW + StepLR +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类别权重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早停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 15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轮，六个模型完全同参。</a:t>
            </a:r>
            <a:endParaRPr/>
          </a:p>
        </p:txBody>
      </p:sp>
      <p:pic>
        <p:nvPicPr>
          <p:cNvPr id="983" name="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84" name="" descr="&lt;Slide style={{ padding: 0, background: '#FFFFFF', fontFamily: 'Microsoft YaHei' }}&gt;&#10;    &lt;Box style={{ width: '100%', height: 76, background: '#0E3F8C', flexDirection: 'row', alignItems: 'center', justifyContent: 'space-between', paddingLeft: 40, paddingRight: 40 }}&gt;&#10;        &lt;Box style={{ flexDirection: 'row', alignItems: 'center', gap: 16 }}&gt;&#10;            &lt;Box style={{ width: 6, height: 34, background: '#FFC107' }} /&gt;&#10;            &lt;Text style={{ fontSize: 32, fontWeight: 'bold', color: '#FFFFFF' }}&gt;整体技术路线：从一张图到一个诊断&lt;/Text&gt;&#10;        &lt;/Box&gt;&#10;        &lt;Text style={{ fontSize: 16, color: '#8FC0F0' }}&gt;02 技术路线与数据处理&lt;/Text&gt;&#10;    &lt;/Box&gt;&#10;&#10;    &lt;Box style={{ flex: 1, gap: 12, paddingTop: 22, paddingLeft: 40, paddingRight: 40, paddingBottom: 22 }}&gt;&#10;        &lt;Box style={{ flexDirection: 'row', alignItems: 'center', gap: 12, background: '#E8EFF8', borderRadius: 8, paddingLeft: 18, paddingTop: 9, paddingBottom: 9 }}&gt;&#10;            &lt;FAIcon name='info-circle' style={{ fill: '#1E4FA8', width: 25, height: 25 }} /&gt;&#10;            &lt;Text style={{ fontSize: 20, fontWeight: 'bold', color: '#0E3F8C' }}&gt;引导问题：要让 ResNet 与 ViT 的比拼公平，哪些环节必须完全一致？&lt;/Text&gt;&#10;        &lt;/Box&gt;&#10;&#10;        &lt;Box style={{ background: '#F7F9FC', border: '1px solid #D6DCE5', borderRadius: 10, paddingTop: 8, paddingBottom: 8, alignItems: 'center' }}&gt;&#10;            &lt;svg width={1150} height={255} viewBox='0 0 1150 255'&gt;&#10;                &lt;rect x='14' y='30' width='140' height='80' rx='10' fill='#E8EFF8' stroke='#1E4FA8' strokeWidth='2' /&gt;&#10;                &lt;text x='84' y='62' fill='#0E3F8C' font-size='19' font-weight='bold' text-anchor='middle' font-family='Microsoft YaHei'&gt;① 读图与清洗&lt;/text&gt;&#10;                &lt;text x='84' y='88' fill='#4A5568' font-size='14' text-anchor='middle' font-family='Microsoft YaHei'&gt;忽略 _mask 掩膜&lt;/text&gt;&#10;&#10;                &lt;rect x='176' y='30' width='140' height='80' rx='10' fill='#E8EFF8' stroke='#1E4FA8' strokeWidth='2' /&gt;&#10;                &lt;text x='246' y='62' fill='#0E3F8C' font-size='19' font-weight='bold' text-anchor='middle' font-family='Microsoft YaHei'&gt;② 分层划分&lt;/text&gt;&#10;                &lt;text x='246' y='88' fill='#4A5568' font-size='14' text-anchor='middle' font-family='Microsoft YaHei'&gt;70 / 15 / 15&lt;/text&gt;&#10;&#10;                &lt;rect x='338' y='30' width='140' height='80' rx='10' fill='#E8EFF8' stroke='#1E4FA8' strokeWidth='2' /&gt;&#10;                &lt;text x='408' y='62' fill='#0E3F8C' font-size='19' font-weight='bold' text-anchor='middle' font-family='Microsoft YaHei'&gt;③ 数据增强&lt;/text&gt;&#10;                &lt;text x='408' y='88' fill='#4A5568' font-size='14' text-anchor='middle' font-family='Microsoft YaHei'&gt;裁剪翻转旋转抖动&lt;/text&gt;&#10;&#10;                &lt;rect x='500' y='30' width='140' height='80' rx='10' fill='#0E3F8C' stroke='#0E3F8C' strokeWidth='2' /&gt;&#10;                &lt;text x='570' y='62' fill='#FFFFFF' font-size='19' font-weight='bold' text-anchor='middle' font-family='Microsoft YaHei'&gt;④ 前向传播&lt;/text&gt;&#10;                &lt;text x='570' y='88' fill='#CFE0F7' font-size='14' text-anchor='middle' font-family='Microsoft YaHei'&gt;ResNet / ViT&lt;/text&gt;&#10;&#10;                &lt;rect x='662' y='30' width='140' height='80' rx='10' fill='#FFF8E1' stroke='#FFC107' strokeWidth='2' /&gt;&#10;                &lt;text x='732' y='62' fill='#0E3F8C' font-size='19' font-weight='bold' text-anchor='middle' font-family='Microsoft YaHei'&gt;⑤ 计算损失&lt;/text&gt;&#10;                &lt;text x='732' y='88' fill='#4A5568' font-size='14' text-anchor='middle' font-family='Microsoft YaHei'&gt;加权交叉熵&lt;/text&gt;&#10;&#10;                &lt;rect x='824' y='30' width='140' height='80' rx='10' fill='#E8EFF8' stroke='#1E4FA8' strokeWidth='2' /&gt;&#10;                &lt;text x='894' y='62' fill='#0E3F8C' font-size='19' font-weight='bold' text-anchor='middle' font-family='Microsoft YaHei'&gt;⑥ 反向更新&lt;/text&gt;&#10;                &lt;text x='894' y='88' fill='#4A5568' font-size='14' text-anchor='middle' font-family='Microsoft YaHei'&gt;AdamW&lt;/text&gt;&#10;&#10;                &lt;rect x='986' y='30' width='140' height='80' rx='10' fill='#E8EFF8' stroke='#1E4FA8' strokeWidth='2' /&gt;&#10;                &lt;text x='1056' y='62' fill='#0E3F8C' font-size='19' font-weight='bold' text-anchor='middle' font-family='Microsoft YaHei'&gt;⑦ 验证与早停&lt;/text&gt;&#10;                &lt;text x='1056' y='88' fill='#4A5568' font-size='14' text-anchor='middle' font-family='Microsoft YaHei'&gt;按 macro-F1&lt;/text&gt;&#10;&#10;                &lt;path d='M154 70 H 176' stroke='#1E4FA8' strokeWidth='2' /&gt;&#10;                &lt;path d='M316 70 H 338' stroke='#1E4FA8' strokeWidth='2' /&gt;&#10;                &lt;path d='M478 70 H 500' stroke='#1E4FA8' strokeWidth='2' /&gt;&#10;                &lt;path d='M640 70 H 662' stroke='#1E4FA8' strokeWidth='2' /&gt;&#10;                &lt;path d='M802 70 H 824' stroke='#1E4FA8' strokeWidth='2' /&gt;&#10;                &lt;path d='M964 70 H 986' stroke='#1E4FA8' strokeWidth='2' /&gt;&#10;&#10;                &lt;path d='M1056 110 V 190 H 570 V 110' fill='none' stroke='#D9534F' strokeWidth='2' strokeDasharray='7 5' /&gt;&#10;                &lt;path d='M564 122 L 570 110 L 576 122' fill='#D9534F' /&gt;&#10;                &lt;text x='812' y='212' fill='#D9534F' font-size='16' text-anchor='middle' font-family='Microsoft YaHei'&gt;④ → ⑦ 每个 epoch 循环一次，最多 50 轮&lt;/text&gt;&#10;                &lt;text x='812' y='238' fill='#8B97A8' font-size='15' text-anchor='middle' font-family='Microsoft YaHei'&gt;数据侧 ① ② ③ 只做一次；训练侧 ④ ⑤ ⑥ ⑦ 反复迭代&lt;/text&gt;&#10;            &lt;/svg&gt;&#10;        &lt;/Box&gt;&#10;&#10;        &lt;Box style={{ flexDirection: 'row', gap: 16 }}&gt;&#10;            &lt;Box style={{ flex: 1, background: '#FFFFFF', border: '1px solid #D6DCE5', borderTop: '4px solid #1E4FA8', borderRadius: 8, padding: 16, gap: 8 }}&gt;&#10;                &lt;Text style={{ fontSize: 23, fontWeight: 'bold', color: '#0E3F8C' }}&gt;数据侧：一次性准备，全程固定&lt;/Text&gt;&#10;                &lt;Text style={{ fontSize: 18, color: '#4A5568', lineHeight: 1.6 }}&gt;&#10;                    按类别分层划分 70% / 15% / 15%，随机种子固定为 42，保证每个模型看到的训练集、验证集、测试集完全相同。测试集只在最后用一次。&#10;                &lt;/Text&gt;&#10;            &lt;/Box&gt;&#10;            &lt;Box style={{ flex: 1, background: '#FFFFFF', border: '1px solid #D6DCE5', borderTop: '4px solid #FFC107', borderRadius: 8, padding: 16, gap: 8 }}&gt;&#10;                &lt;Text style={{ fontSize: 23, fontWeight: 'bold', color: '#0E3F8C' }}&gt;模型侧：唯一变量是第 ④ 步&lt;/Text&gt;&#10;                &lt;Text style={{ fontSize: 18, color: '#4A5568', lineHeight: 1.6 }}&gt;&#10;                    损失、优化器、学习率调度、早停策略全部一致，因此两个模型最终的成绩差异，只能归因于网络结构本身对医学小样本的适配能力。&#10;                &lt;/Text&gt;&#10;            &lt;/Box&gt;&#10;        &lt;/Box&gt;&#10;    &lt;/Box&gt;&#10;&#10;    &lt;Box style={{ height: 40, flexDirection: 'row', alignItems: 'center', justifyContent: 'space-between', paddingLeft: 40, paddingRight: 40, borderTop: '1px solid #E5E7EB' }}&gt;&#10;        &lt;Text style={{ fontSize: 14, color: '#8B97A8' }}&gt;BUSI 乳腺超声图像分类 · 乳腺癌智能诊断&lt;/Text&gt;&#10;        &lt;Text style={{ fontSize: 14, color: '#1E4FA8' }}&gt;08 / 3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86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87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988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4876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整体技术路线：从一张图到一个诊断</a:t>
            </a:r>
            <a:endParaRPr/>
          </a:p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10210800" y="26670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技术路线与数据处理</a:t>
            </a:r>
            <a:endParaRPr/>
          </a:p>
        </p:txBody>
      </p:sp>
      <p:sp>
        <p:nvSpPr>
          <p:cNvPr id="990" name=""/>
          <p:cNvSpPr/>
          <p:nvPr/>
        </p:nvSpPr>
        <p:spPr>
          <a:xfrm rot="0" flipH="0" flipV="0">
            <a:off x="381000" y="933450"/>
            <a:ext cx="11430000" cy="409575"/>
          </a:xfrm>
          <a:prstGeom prst="roundRect">
            <a:avLst>
              <a:gd name="adj" fmla="val 18605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9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52450" y="1019175"/>
            <a:ext cx="238125" cy="238125"/>
          </a:xfrm>
          <a:prstGeom prst="rect">
            <a:avLst/>
          </a:prstGeom>
          <a:ln/>
        </p:spPr>
      </p:pic>
      <p:sp>
        <p:nvSpPr>
          <p:cNvPr id="992" name="" descr="{&quot;isTemplate&quot;:true,&quot;type&quot;:&quot;text&quot;}"/>
          <p:cNvSpPr txBox="1"/>
          <p:nvPr/>
        </p:nvSpPr>
        <p:spPr>
          <a:xfrm rot="0" flipH="0" flipV="0">
            <a:off x="904875" y="1028700"/>
            <a:ext cx="5991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引导问题：要让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ResNet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与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ViT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的比拼公平，哪些环节必须完全一致？</a:t>
            </a:r>
            <a:endParaRPr/>
          </a:p>
        </p:txBody>
      </p:sp>
      <p:sp>
        <p:nvSpPr>
          <p:cNvPr id="993" name=""/>
          <p:cNvSpPr/>
          <p:nvPr/>
        </p:nvSpPr>
        <p:spPr>
          <a:xfrm rot="0" flipH="0" flipV="0">
            <a:off x="381000" y="1457325"/>
            <a:ext cx="11430000" cy="2581275"/>
          </a:xfrm>
          <a:prstGeom prst="roundRect">
            <a:avLst>
              <a:gd name="adj" fmla="val 369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9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19125" y="1533525"/>
            <a:ext cx="10953750" cy="2428875"/>
          </a:xfrm>
          <a:prstGeom prst="rect">
            <a:avLst/>
          </a:prstGeom>
          <a:ln/>
        </p:spPr>
      </p:pic>
      <p:sp>
        <p:nvSpPr>
          <p:cNvPr id="995" name=""/>
          <p:cNvSpPr/>
          <p:nvPr/>
        </p:nvSpPr>
        <p:spPr>
          <a:xfrm rot="0" flipH="0" flipV="0">
            <a:off x="381000" y="4191000"/>
            <a:ext cx="56388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6" name=""/>
          <p:cNvSpPr/>
          <p:nvPr/>
        </p:nvSpPr>
        <p:spPr>
          <a:xfrm rot="0" flipH="0" flipV="0">
            <a:off x="381000" y="4191000"/>
            <a:ext cx="5638800" cy="1352550"/>
          </a:xfrm>
          <a:custGeom>
            <a:pathLst>
              <a:path w="592" h="142">
                <a:moveTo>
                  <a:pt x="584" y="0"/>
                </a:moveTo>
                <a:cubicBezTo>
                  <a:pt x="588" y="0"/>
                  <a:pt x="591" y="3"/>
                  <a:pt x="592" y="7"/>
                </a:cubicBezTo>
                <a:cubicBezTo>
                  <a:pt x="591" y="5"/>
                  <a:pt x="590" y="4"/>
                  <a:pt x="588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584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997" name="" descr="{&quot;isTemplate&quot;:true,&quot;type&quot;:&quot;text&quot;}"/>
          <p:cNvSpPr txBox="1"/>
          <p:nvPr/>
        </p:nvSpPr>
        <p:spPr>
          <a:xfrm rot="0" flipH="0" flipV="0">
            <a:off x="533400" y="4343400"/>
            <a:ext cx="53340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数据侧：一次性准备，全程固定</a:t>
            </a:r>
            <a:endParaRPr/>
          </a:p>
        </p:txBody>
      </p:sp>
      <p:sp>
        <p:nvSpPr>
          <p:cNvPr id="998" name="" descr="{&quot;isTemplate&quot;:true,&quot;type&quot;:&quot;text&quot;}"/>
          <p:cNvSpPr txBox="1"/>
          <p:nvPr/>
        </p:nvSpPr>
        <p:spPr>
          <a:xfrm rot="0" flipH="0" flipV="0">
            <a:off x="533400" y="4686300"/>
            <a:ext cx="5334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按类别分层划分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70% / 15% / 15%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，随机种子固定为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42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，保证每个模型看到的训练集、验证集、测试集完全相同。测试集只在最后用一次。</a:t>
            </a:r>
            <a:endParaRPr/>
          </a:p>
        </p:txBody>
      </p:sp>
      <p:sp>
        <p:nvSpPr>
          <p:cNvPr id="999" name=""/>
          <p:cNvSpPr/>
          <p:nvPr/>
        </p:nvSpPr>
        <p:spPr>
          <a:xfrm rot="0" flipH="0" flipV="0">
            <a:off x="6172200" y="4191000"/>
            <a:ext cx="56388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00" name=""/>
          <p:cNvSpPr/>
          <p:nvPr/>
        </p:nvSpPr>
        <p:spPr>
          <a:xfrm rot="0" flipH="0" flipV="0">
            <a:off x="6172200" y="4191000"/>
            <a:ext cx="5638800" cy="1352550"/>
          </a:xfrm>
          <a:custGeom>
            <a:pathLst>
              <a:path w="592" h="142">
                <a:moveTo>
                  <a:pt x="584" y="0"/>
                </a:moveTo>
                <a:cubicBezTo>
                  <a:pt x="588" y="0"/>
                  <a:pt x="591" y="3"/>
                  <a:pt x="592" y="7"/>
                </a:cubicBezTo>
                <a:cubicBezTo>
                  <a:pt x="591" y="5"/>
                  <a:pt x="590" y="4"/>
                  <a:pt x="588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584" y="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6324600" y="4343400"/>
            <a:ext cx="53340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模型侧：唯一变量是第</a:t>
            </a:r>
            <a:r>
              <a:rPr lang="en-US" sz="17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④ </a:t>
            </a: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1002" name="" descr="{&quot;isTemplate&quot;:true,&quot;type&quot;:&quot;text&quot;}"/>
          <p:cNvSpPr txBox="1"/>
          <p:nvPr/>
        </p:nvSpPr>
        <p:spPr>
          <a:xfrm rot="0" flipH="0" flipV="0">
            <a:off x="6324600" y="4686300"/>
            <a:ext cx="5334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损失、优化器、学习率调度、早停策略全部一致，因此两个模型最终的成绩差异，只能归因于网络结构本身对医学小样本的适配能力。</a:t>
            </a:r>
            <a:endParaRPr/>
          </a:p>
        </p:txBody>
      </p:sp>
      <p:sp>
        <p:nvSpPr>
          <p:cNvPr id="1003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04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1005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08 / 38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06" name="" descr="&lt;Slide style={{ padding: 0, background: '#FFFFFF', fontFamily: 'Microsoft YaHei' }}&gt;&#13;&#10;    &lt;Box style={{ width: '100%', height: 76, background: '#0E3F8C', flexDirection: 'row', alignItems: 'center', justifyContent: 'space-between', paddingLeft: 40, paddingRight: 40 }}&gt;&#13;&#10;        &lt;Box style={{ flexDirection: 'row', alignItems: 'center', gap: 16 }}&gt;&#13;&#10;            &lt;Box style={{ width: 6, height: 34, background: '#FFC107' }} /&gt;&#13;&#10;            &lt;Text style={{ fontSize: 32, fontWeight: 'bold', color: '#FFFFFF' }}&gt;数据预处理与增强&lt;/Text&gt;&#13;&#10;        &lt;/Box&gt;&#13;&#10;        &lt;Text style={{ fontSize: 16, color: '#8FC0F0' }}&gt;02 技术路线与数据处理&lt;/Text&gt;&#13;&#10;    &lt;/Box&gt;&#13;&#10;&#13;&#10;    &lt;Box style={{ height: 604, flexDirection: 'row', gap: 26, paddingTop: 22, paddingLeft: 40, paddingRight: 40, paddingBottom: 22 }}&gt;&#13;&#10;        &lt;Box style={{ width: 520, gap: 10 }}&gt;&#13;&#10;            &lt;Image src=&quot;assets/augment_preview.png&quot; style={{ width: 520, height: 368, objectFit: 'cover', borderRadius: 10, border: '1px solid #D6DCE5' }} /&gt;&#13;&#10;            &lt;Text style={{ fontSize: 15, color: '#8B97A8', lineHeight: 1.5 }}&gt;&#13;&#10;                图：同一张恶性超声图在训练集上经过随机增强后的样子（每次 epoch 随机重采样）&#13;&#10;            &lt;/Text&gt;&#13;&#10;            &lt;Box style={{ background: '#F0F5FC', border: '1px solid #D6DCE5', borderRadius: 8, padding: 14, gap: 6 }}&gt;&#13;&#10;                &lt;Text style={{ fontSize: 20, fontWeight: 'bold', color: '#0E3F8C' }}&gt;归一化用 ImageNet 统计量&lt;/Text&gt;&#13;&#10;                &lt;Text style={{ fontSize: 17, color: '#4A5568', lineHeight: 1.55 }}&gt;&#13;&#10;                    mean = [0.485, 0.456, 0.406]，std = [0.229, 0.224, 0.225]——与预训练权重的输入分布保持一致。&#13;&#10;                &lt;/Text&gt;&#13;&#10;            &lt;/Box&gt;&#13;&#10;        &lt;/Box&gt;&#13;&#10;&#13;&#10;        &lt;Box style={{ flex: 1, gap: 12 }}&gt;&#13;&#10;            &lt;Box style={{ flexDirection: 'row', alignItems: 'center', gap: 12, background: '#E8EFF8', borderRadius: 8, paddingLeft: 18, paddingTop: 9, paddingBottom: 9 }}&gt;&#13;&#10;                &lt;FAIcon name='info-circle' style={{ fill: '#1E4FA8', width: 25, height: 25 }} /&gt;&#13;&#10;                &lt;Text style={{ fontSize: 20, fontWeight: 'bold', color: '#0E3F8C' }}&gt;引导问题：780 张图不够，怎么&quot;造&quot;出多样性？&lt;/Text&gt;&#13;&#10;            &lt;/Box&gt;&#13;&#10;&#13;&#10;            &lt;CodeBlock&#13;&#10;                code={`train_transform = transforms.Compose([&#13;&#10;    transforms.RandomResizedCrop(224, scale=(0.7, 1.0)),&#13;&#10;    transforms.RandomHorizontalFlip(p=0.5),&#13;&#10;    transforms.RandomVerticalFlip(p=0.3),&#13;&#10;    transforms.RandomRotation(degrees=20),&#13;&#10;    transforms.ColorJitter(brightness=0.3, contrast=0.3),&#13;&#10;    transforms.ToTensor(),&#13;&#10;    transforms.Normalize(IMAGENET_MEAN, IMAGENET_STD),&#13;&#10;])&#13;&#10;&#13;&#10;eval_transform = transforms.Compose([&#13;&#10;    transforms.Resize((224, 224)),&#13;&#10;    transforms.ToTensor(),&#13;&#10;    transforms.Normalize(IMAGENET_MEAN, IMAGENET_STD),&#13;&#10;])`}&#13;&#10;                language='python'&#13;&#10;                width={620}&#13;&#10;                fontSize={12}&#13;&#10;                theme='github-light'&#13;&#10;            /&gt;&#13;&#10;&#13;&#10;            &lt;Box style={{ flex: 1, background: '#FFFFFF', border: '1px solid #D6DCE5', borderLeft: '5px solid #1E4FA8', borderRadius: 8, padding: 14, gap: 8 }}&gt;&#13;&#10;                &lt;Text style={{ fontSize: 21, fontWeight: 'bold', color: '#0E3F8C' }}&gt;每一种增强都在对抗一种过拟合&lt;/Text&gt;&#13;&#10;                &lt;Text style={{ fontSize: 16, color: '#4A5568', lineHeight: 1.55 }}&gt;&#13;&#10;                    随机裁剪缩放让模型不依赖病灶的绝对位置；翻转与旋转对应超声探头角度的变化；色彩抖动模拟不同设备与增益设置下的灰阶差异。&#13;&#10;                &lt;/Text&gt;&#13;&#10;                &lt;Text style={{ fontSize: 16, color: '#D9534F', lineHeight: 1.55, fontWeight: 'bold' }}&gt;&#13;&#10;                    关键点：增强只作用于训练集，验证集与测试集只做缩放与归一化。&#13;&#10;                &lt;/Text&gt;&#13;&#10;            &lt;/Box&gt;&#13;&#10;        &lt;/Box&gt;&#13;&#10;    &lt;/Box&gt;&#13;&#10;&#13;&#10;    &lt;Box style={{ height: 40, flexDirection: 'row', alignItems: 'center', justifyContent: 'space-between', paddingLeft: 40, paddingRight: 40, borderTop: '1px solid #E5E7EB' }}&gt;&#13;&#10;        &lt;Text style={{ fontSize: 14, color: '#8B97A8' }}&gt;BUSI 乳腺超声图像分类 · 乳腺癌智能诊断&lt;/Text&gt;&#13;&#10;        &lt;Text style={{ fontSize: 14, color: '#1E4FA8' }}&gt;09 / 3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08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09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10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2438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数据预处理与增强</a:t>
            </a:r>
            <a:endParaRPr/>
          </a:p>
        </p:txBody>
      </p:sp>
      <p:sp>
        <p:nvSpPr>
          <p:cNvPr id="1011" name="" descr="{&quot;isTemplate&quot;:true,&quot;type&quot;:&quot;text&quot;}"/>
          <p:cNvSpPr txBox="1"/>
          <p:nvPr/>
        </p:nvSpPr>
        <p:spPr>
          <a:xfrm rot="0" flipH="0" flipV="0">
            <a:off x="10210800" y="26670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技术路线与数据处理</a:t>
            </a:r>
            <a:endParaRPr/>
          </a:p>
        </p:txBody>
      </p:sp>
      <p:sp>
        <p:nvSpPr>
          <p:cNvPr id="1012" name=""/>
          <p:cNvSpPr/>
          <p:nvPr/>
        </p:nvSpPr>
        <p:spPr>
          <a:xfrm rot="0" flipH="0" flipV="0">
            <a:off x="381000" y="933450"/>
            <a:ext cx="4953000" cy="35052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013" name=""/>
          <p:cNvPicPr>
            <a:picLocks noChangeAspect="1"/>
          </p:cNvPicPr>
          <p:nvPr/>
        </p:nvPicPr>
        <p:blipFill>
          <a:blip r:embed="rId1"/>
          <a:srcRect l="0" t="3258" r="0" b="3258"/>
          <a:stretch>
            <a:fillRect/>
          </a:stretch>
        </p:blipFill>
        <p:spPr>
          <a:xfrm rot="0" flipH="0" flipV="0">
            <a:off x="381000" y="933450"/>
            <a:ext cx="4953000" cy="3505200"/>
          </a:xfrm>
          <a:prstGeom prst="roundRect">
            <a:avLst>
              <a:gd name="adj" fmla="val 2717"/>
            </a:avLst>
          </a:prstGeom>
          <a:ln/>
        </p:spPr>
      </p:pic>
      <p:sp>
        <p:nvSpPr>
          <p:cNvPr id="1014" name="" descr="{&quot;isTemplate&quot;:true,&quot;type&quot;:&quot;text&quot;}"/>
          <p:cNvSpPr txBox="1"/>
          <p:nvPr/>
        </p:nvSpPr>
        <p:spPr>
          <a:xfrm rot="0" flipH="0" flipV="0">
            <a:off x="381000" y="4533900"/>
            <a:ext cx="4953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图：同一张恶性超声图在训练集上经过随机增强后的样子（每次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epoch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随机重采样）</a:t>
            </a:r>
            <a:endParaRPr/>
          </a:p>
        </p:txBody>
      </p:sp>
      <p:sp>
        <p:nvSpPr>
          <p:cNvPr id="1015" name=""/>
          <p:cNvSpPr/>
          <p:nvPr/>
        </p:nvSpPr>
        <p:spPr>
          <a:xfrm rot="0" flipH="0" flipV="0">
            <a:off x="381000" y="5143500"/>
            <a:ext cx="4953000" cy="1162050"/>
          </a:xfrm>
          <a:prstGeom prst="roundRect">
            <a:avLst>
              <a:gd name="adj" fmla="val 6557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16" name="" descr="{&quot;isTemplate&quot;:true,&quot;type&quot;:&quot;text&quot;}"/>
          <p:cNvSpPr txBox="1"/>
          <p:nvPr/>
        </p:nvSpPr>
        <p:spPr>
          <a:xfrm rot="0" flipH="0" flipV="0">
            <a:off x="514350" y="5276850"/>
            <a:ext cx="468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归一化用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ImageNet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统计量</a:t>
            </a:r>
            <a:endParaRPr/>
          </a:p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514350" y="5562600"/>
            <a:ext cx="46863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mean = [0.485, 0.456, 0.406]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std = [0.229, 0.224, 0.225]——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与预训练权重的输入分布保持一致。</a:t>
            </a:r>
            <a:endParaRPr/>
          </a:p>
        </p:txBody>
      </p:sp>
      <p:sp>
        <p:nvSpPr>
          <p:cNvPr id="1018" name=""/>
          <p:cNvSpPr/>
          <p:nvPr/>
        </p:nvSpPr>
        <p:spPr>
          <a:xfrm rot="0" flipH="0" flipV="0">
            <a:off x="5581650" y="933450"/>
            <a:ext cx="6229350" cy="409575"/>
          </a:xfrm>
          <a:prstGeom prst="roundRect">
            <a:avLst>
              <a:gd name="adj" fmla="val 18605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0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753100" y="1019175"/>
            <a:ext cx="238125" cy="238125"/>
          </a:xfrm>
          <a:prstGeom prst="rect">
            <a:avLst/>
          </a:prstGeom>
          <a:ln/>
        </p:spPr>
      </p:pic>
      <p:sp>
        <p:nvSpPr>
          <p:cNvPr id="1020" name="" descr="{&quot;isTemplate&quot;:true,&quot;type&quot;:&quot;text&quot;}"/>
          <p:cNvSpPr txBox="1"/>
          <p:nvPr/>
        </p:nvSpPr>
        <p:spPr>
          <a:xfrm rot="0" flipH="0" flipV="0">
            <a:off x="6105525" y="1028700"/>
            <a:ext cx="4038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引导问题：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780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张图不够，怎么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造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出多样性？</a:t>
            </a:r>
            <a:endParaRPr/>
          </a:p>
        </p:txBody>
      </p:sp>
      <p:sp>
        <p:nvSpPr>
          <p:cNvPr id="1021" name=""/>
          <p:cNvSpPr/>
          <p:nvPr/>
        </p:nvSpPr>
        <p:spPr>
          <a:xfrm rot="0" flipH="0" flipV="0">
            <a:off x="5629275" y="4724400"/>
            <a:ext cx="6229350" cy="154305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22" name=""/>
          <p:cNvSpPr/>
          <p:nvPr/>
        </p:nvSpPr>
        <p:spPr>
          <a:xfrm rot="0" flipH="0" flipV="0">
            <a:off x="5629275" y="4724400"/>
            <a:ext cx="6229350" cy="1543050"/>
          </a:xfrm>
          <a:custGeom>
            <a:pathLst>
              <a:path w="654" h="162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59"/>
                </a:lnTo>
                <a:cubicBezTo>
                  <a:pt x="5" y="161"/>
                  <a:pt x="6" y="162"/>
                  <a:pt x="8" y="162"/>
                </a:cubicBezTo>
                <a:cubicBezTo>
                  <a:pt x="3" y="162"/>
                  <a:pt x="0" y="158"/>
                  <a:pt x="0" y="15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23" name="" descr="{&quot;isTemplate&quot;:true,&quot;type&quot;:&quot;text&quot;}"/>
          <p:cNvSpPr txBox="1"/>
          <p:nvPr/>
        </p:nvSpPr>
        <p:spPr>
          <a:xfrm rot="0" flipH="0" flipV="0">
            <a:off x="5762625" y="4857750"/>
            <a:ext cx="59150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每一种增强都在对抗一种过拟合</a:t>
            </a:r>
            <a:endParaRPr/>
          </a:p>
        </p:txBody>
      </p:sp>
      <p:sp>
        <p:nvSpPr>
          <p:cNvPr id="1024" name="" descr="{&quot;isTemplate&quot;:true,&quot;type&quot;:&quot;text&quot;}"/>
          <p:cNvSpPr txBox="1"/>
          <p:nvPr/>
        </p:nvSpPr>
        <p:spPr>
          <a:xfrm rot="0" flipH="0" flipV="0">
            <a:off x="5762625" y="5181600"/>
            <a:ext cx="59150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随机裁剪缩放让模型不依赖病灶的绝对位置；翻转与旋转对应超声探头角度的变化；色彩抖动模拟不同设备与增益设置下的灰阶差异。</a:t>
            </a:r>
            <a:endParaRPr/>
          </a:p>
        </p:txBody>
      </p:sp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5762625" y="5829300"/>
            <a:ext cx="5915025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 b="1">
                <a:solidFill>
                  <a:srgbClr val="D9534F"/>
                </a:solidFill>
                <a:latin typeface="Microsoft YaHei"/>
                <a:ea typeface="Microsoft YaHei"/>
              </a:rPr>
              <a:t>关键点：增强只作用于训练集，验证集与测试集只做缩放与归一化。</a:t>
            </a:r>
            <a:endParaRPr/>
          </a:p>
        </p:txBody>
      </p:sp>
      <p:sp>
        <p:nvSpPr>
          <p:cNvPr id="1026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27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09 / 38</a:t>
            </a:r>
            <a:endParaRPr/>
          </a:p>
        </p:txBody>
      </p:sp>
      <p:sp>
        <p:nvSpPr>
          <p:cNvPr id="1029" name=""/>
          <p:cNvSpPr/>
          <p:nvPr/>
        </p:nvSpPr>
        <p:spPr>
          <a:xfrm rot="0" flipH="0" flipV="0">
            <a:off x="5581650" y="1457325"/>
            <a:ext cx="6229350" cy="3152775"/>
          </a:xfrm>
          <a:prstGeom prst="roundRect">
            <a:avLst>
              <a:gd name="adj" fmla="val 2417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1030" name=""/>
          <p:cNvSpPr txBox="1"/>
          <p:nvPr/>
        </p:nvSpPr>
        <p:spPr>
          <a:xfrm rot="0" flipH="0" flipV="0">
            <a:off x="5734050" y="1590675"/>
            <a:ext cx="5924550" cy="2886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train_transform 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transforms.Compose([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   transforms.RandomResizedCrop(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224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, </a:t>
            </a:r>
            <a:r>
              <a:rPr sz="900">
                <a:solidFill>
                  <a:srgbClr val="E36209"/>
                </a:solidFill>
                <a:latin typeface="Menlo"/>
                <a:ea typeface="Menlo"/>
              </a:rPr>
              <a:t>scale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(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0.7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,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1.0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)),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   transforms.RandomHorizontalFlip(</a:t>
            </a:r>
            <a:r>
              <a:rPr sz="900">
                <a:solidFill>
                  <a:srgbClr val="E36209"/>
                </a:solidFill>
                <a:latin typeface="Menlo"/>
                <a:ea typeface="Menlo"/>
              </a:rPr>
              <a:t>p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0.5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),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   transforms.RandomVerticalFlip(</a:t>
            </a:r>
            <a:r>
              <a:rPr sz="900">
                <a:solidFill>
                  <a:srgbClr val="E36209"/>
                </a:solidFill>
                <a:latin typeface="Menlo"/>
                <a:ea typeface="Menlo"/>
              </a:rPr>
              <a:t>p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0.3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),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   transforms.RandomRotation(</a:t>
            </a:r>
            <a:r>
              <a:rPr sz="900">
                <a:solidFill>
                  <a:srgbClr val="E36209"/>
                </a:solidFill>
                <a:latin typeface="Menlo"/>
                <a:ea typeface="Menlo"/>
              </a:rPr>
              <a:t>degrees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20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),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   transforms.ColorJitter(</a:t>
            </a:r>
            <a:r>
              <a:rPr sz="900">
                <a:solidFill>
                  <a:srgbClr val="E36209"/>
                </a:solidFill>
                <a:latin typeface="Menlo"/>
                <a:ea typeface="Menlo"/>
              </a:rPr>
              <a:t>brightness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0.3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, </a:t>
            </a:r>
            <a:r>
              <a:rPr sz="900">
                <a:solidFill>
                  <a:srgbClr val="E36209"/>
                </a:solidFill>
                <a:latin typeface="Menlo"/>
                <a:ea typeface="Menlo"/>
              </a:rPr>
              <a:t>contrast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0.3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),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   transforms.ToTensor(),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   transforms.Normalize(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IMAGENET_MEAN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,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IMAGENET_STD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),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])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eval_transform 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transforms.Compose([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   transforms.Resize((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224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,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224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)),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   transforms.ToTensor(),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   transforms.Normalize(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IMAGENET_MEAN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,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IMAGENET_STD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),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])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6" name="" descr="&lt;Slide style={{ padding: 0, background: '#FFFFFF', fontFamily: 'Microsoft YaHei' }}&gt;&#10;    &lt;Box style={{ width: '100%', height: 76, background: '#0E3F8C', flexDirection: 'row', alignItems: 'center', justifyContent: 'space-between', paddingLeft: 40, paddingRight: 40 }}&gt;&#10;        &lt;Box style={{ flexDirection: 'row', alignItems: 'center', gap: 16 }}&gt;&#10;            &lt;Box style={{ width: 6, height: 34, background: '#FFC107' }} /&gt;&#10;            &lt;Text style={{ fontSize: 32, fontWeight: 'bold', color: '#FFFFFF' }}&gt;训练策略与超参数&lt;/Text&gt;&#10;        &lt;/Box&gt;&#10;        &lt;Text style={{ fontSize: 16, color: '#8FC0F0' }}&gt;02 技术路线与数据处理&lt;/Text&gt;&#10;    &lt;/Box&gt;&#10;&#10;    &lt;Box style={{ flex: 1, flexDirection: 'row', gap: 26, paddingTop: 22, paddingLeft: 40, paddingRight: 40, paddingBottom: 22 }}&gt;&#10;        &lt;Box style={{ width: 330, gap: 14 }}&gt;&#10;            &lt;Box style={{ background: '#0E3F8C', borderRadius: 10, padding: 20, gap: 8 }}&gt;&#10;                &lt;Text style={{ fontSize: 25, fontWeight: 'bold', color: '#FFFFFF' }}&gt;统一的训练协议&lt;/Text&gt;&#10;                &lt;Text style={{ fontSize: 17, color: '#CFE0F7', lineHeight: 1.6 }}&gt;&#10;                    六个模型共用这一套超参，任何差异都来自架构本身。&#10;                &lt;/Text&gt;&#10;            &lt;/Box&gt;&#10;            &lt;Box style={{ flex: 1, background: '#F0F5FC', border: '1px solid #D6DCE5', borderRadius: 10, padding: 18, gap: 6, justifyContent: 'center' }}&gt;&#10;                &lt;Text style={{ fontSize: 18, color: '#4A5568' }}&gt;训练轮数上限&lt;/Text&gt;&#10;                &lt;Box style={{ flexDirection: 'row', alignItems: 'baseline', gap: 8 }}&gt;&#10;                    &lt;Text style={{ fontSize: 64, fontWeight: 'bold', color: '#1E4FA8', lineHeight: 1 }}&gt;50&lt;/Text&gt;&#10;                    &lt;Text style={{ fontSize: 19, color: '#4A5568' }}&gt;epoch&lt;/Text&gt;&#10;                &lt;/Box&gt;&#10;                &lt;Box style={{ height: 1, background: '#D6DCE5', marginTop: 8, marginBottom: 8 }} /&gt;&#10;                &lt;Text style={{ fontSize: 18, color: '#4A5568' }}&gt;早停耐心值&lt;/Text&gt;&#10;                &lt;Box style={{ flexDirection: 'row', alignItems: 'baseline', gap: 8 }}&gt;&#10;                    &lt;Text style={{ fontSize: 64, fontWeight: 'bold', color: '#1E4FA8', lineHeight: 1 }}&gt;15&lt;/Text&gt;&#10;                    &lt;Text style={{ fontSize: 19, color: '#4A5568' }}&gt;epoch&lt;/Text&gt;&#10;                &lt;/Box&gt;&#10;                &lt;Text style={{ fontSize: 16, color: '#8B97A8', lineHeight: 1.5, marginTop: 6 }}&gt;&#10;                    连续 15 轮验证集 macro-F1 不提升即停止，并回滚到历史最优权重。&#10;                &lt;/Text&gt;&#10;            &lt;/Box&gt;&#10;        &lt;/Box&gt;&#10;&#10;        &lt;Box style={{ flex: 1, gap: 12 }}&gt;&#10;            &lt;Table&#10;                style={{ width: '100%', height: 430 }}&#10;                defaultTextStyle={{ fontSize: 18, textAlign: 'left', color: '#1A2230' }}&#10;                defaultCellStyle={{&#10;                    paddingLeft: 18,&#10;                    border: {&#10;                        left: { width: 1, color: '#D6DCE5' }, right: { width: 1, color: '#D6DCE5' },&#10;                        top: { width: 1, color: '#D6DCE5' }, bottom: { width: 1, color: '#D6DCE5' },&#10;                    },&#10;                }}&#10;                cells={[&#10;                    [&#10;                        { text: '项目', textStyle: { bold: true, color: '#FFFFFF', fontSize: 19 }, cellStyle: { background: { color: '#0E3F8C' } } },&#10;                        { text: '取值', textStyle: { bold: true, color: '#FFFFFF', fontSize: 19 }, cellStyle: { background: { color: '#0E3F8C' } } },&#10;                        { text: '为什么这么设', textStyle: { bold: true, color: '#FFFFFF', fontSize: 19 }, cellStyle: { background: { color: '#0E3F8C' } } },&#10;                    ],&#10;                    [&#10;                        { text: '输入尺寸', textStyle: { bold: true }, cellStyle: { background: { color: '#F0F5FC' } } },&#10;                        { text: '224 × 224 × 3', cellStyle: { background: { color: '#F0F5FC' } } },&#10;                        { text: '对齐 ImageNet 预训练分辨率', cellStyle: { background: { color: '#F0F5FC' } } },&#10;                    ],&#10;                    [&#10;                        'Batch Size', '32', '显存占用与梯度稳定性的折中',&#10;                    ],&#10;                    [&#10;                        { text: '优化器', textStyle: { bold: true }, cellStyle: { background: { color: '#F0F5FC' } } },&#10;                        { text: 'AdamW', cellStyle: { background: { color: '#F0F5FC' } } },&#10;                        { text: '把权重衰减从梯度更新中解耦，泛化更好', cellStyle: { background: { color: '#F0F5FC' } } },&#10;                    ],&#10;                    [&#10;                        '学习率', 'ResNet 3e-4 / 预训练 ViT 1e-4', 'ViT 在 3e-4 下训练不稳定，需更小的步长',&#10;                    ],&#10;                    [&#10;                        { text: '权重衰减', textStyle: { bold: true }, cellStyle: { background: { color: '#F0F5FC' } } },&#10;                        { text: '1e-4', cellStyle: { background: { color: '#F0F5FC' } } },&#10;                        { text: '抑制 11M～86M 参数的过拟合', cellStyle: { background: { color: '#F0F5FC' } } },&#10;                    ],&#10;                    [&#10;                        '学习率调度', 'StepLR(step=15, γ=0.1)', '每 15 轮降一个数量级，后期细调',&#10;                    ],&#10;                    [&#10;                        { text: '损失函数', textStyle: { bold: true }, cellStyle: { background: { color: '#F0F5FC' } } },&#10;                        { text: '类别加权交叉熵', cellStyle: { background: { color: '#F0F5FC' } } },&#10;                        { text: '抵消 437 : 210 : 133 的类别倾斜', cellStyle: { background: { color: '#F0F5FC' } } },&#10;                    ],&#10;                    [&#10;                        '标签平滑', 'ε = 0.1', '防止模型对训练样本过度自信',&#10;                    ],&#10;                    [&#10;                        { text: '初始化', textStyle: { bold: true }, cellStyle: { background: { color: '#F0F5FC' } } },&#10;                        { text: 'ImageNet-1K 预训练权重', cellStyle: { background: { color: '#F0F5FC' } } },&#10;                        { text: '把自然图像的底层特征迁移到超声', cellStyle: { background: { color: '#F0F5FC' } } },&#10;                    ],&#10;                    [&#10;                        '随机种子', '42', '保证划分与初始化可复现',&#10;                    ],&#10;                ]}&#10;            /&gt;&#10;            &lt;Box style={{ height: 74, background: '#FFF8E1', borderLeft: '5px solid #FFC107', borderRadius: 6, paddingLeft: 16, paddingRight: 14, justifyContent: 'center' }}&gt;&#10;                &lt;Text style={{ fontSize: 18, color: '#1A2230', lineHeight: 1.5 }}&gt;&#10;                    &lt;span style={{ fontWeight: 'bold' }}&gt;判断：&lt;/span&gt;小数据训练里，早停比多训几轮更重要——本实验 ResNet50 跑满 49 轮、ResNet18 在第 44 轮停、ViT-B/16 第 32 轮就触发早停，说明容量越大的模型越早撞上过拟合墙。&#10;                &lt;/Text&gt;&#10;            &lt;/Box&gt;&#10;        &lt;/Box&gt;&#10;    &lt;/Box&gt;&#10;&#10;    &lt;Box style={{ height: 40, flexDirection: 'row', alignItems: 'center', justifyContent: 'space-between', paddingLeft: 40, paddingRight: 40, borderTop: '1px solid #E5E7EB' }}&gt;&#10;        &lt;Text style={{ fontSize: 14, color: '#8B97A8' }}&gt;BUSI 乳腺超声图像分类 · 乳腺癌智能诊断&lt;/Text&gt;&#10;        &lt;Text style={{ fontSize: 14, color: '#1E4FA8' }}&gt;10 / 3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2438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训练策略与超参数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210800" y="26670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技术路线与数据处理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381000" y="933450"/>
            <a:ext cx="3143250" cy="1371600"/>
          </a:xfrm>
          <a:prstGeom prst="roundRect">
            <a:avLst>
              <a:gd name="adj" fmla="val 6944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71500" y="1123950"/>
            <a:ext cx="27622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</a:rPr>
              <a:t>统一的训练协议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71500" y="1485900"/>
            <a:ext cx="27622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CFE0F7"/>
                </a:solidFill>
                <a:latin typeface="Microsoft YaHei"/>
                <a:ea typeface="Microsoft YaHei"/>
              </a:rPr>
              <a:t>六个模型共用这一套超参，任何差异都来自架构本身。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381000" y="2438400"/>
            <a:ext cx="3143250" cy="3829050"/>
          </a:xfrm>
          <a:prstGeom prst="roundRect">
            <a:avLst>
              <a:gd name="adj" fmla="val 3030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52450" y="2886075"/>
            <a:ext cx="2800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训练轮数上限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552450" y="3152775"/>
            <a:ext cx="7524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E4FA8"/>
                </a:solidFill>
                <a:latin typeface="Microsoft YaHei"/>
                <a:ea typeface="Microsoft YaHei"/>
              </a:rPr>
              <a:t>50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381125" y="3152775"/>
            <a:ext cx="5429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epoch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552450" y="4019550"/>
            <a:ext cx="280035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52450" y="4162425"/>
            <a:ext cx="2800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早停耐心值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52450" y="4429125"/>
            <a:ext cx="7524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E4FA8"/>
                </a:solidFill>
                <a:latin typeface="Microsoft YaHei"/>
                <a:ea typeface="Microsoft YaHei"/>
              </a:rPr>
              <a:t>15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381125" y="4429125"/>
            <a:ext cx="5429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epoch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52450" y="5276850"/>
            <a:ext cx="28003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连续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15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轮验证集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macro-F1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不提升即停止，并回滚到历史最优权重。</a:t>
            </a:r>
            <a:endParaRPr/>
          </a:p>
        </p:txBody>
      </p:sp>
      <p:graphicFrame>
        <p:nvGraphicFramePr>
          <p:cNvPr id="34" name=""/>
          <p:cNvGraphicFramePr/>
          <p:nvPr/>
        </p:nvGraphicFramePr>
        <p:xfrm rot="0" flipH="0" flipV="0">
          <a:off x="3771900" y="933450"/>
          <a:ext cx="8039100" cy="4095750"/>
        </p:xfrm>
        <a:graphic>
          <a:graphicData uri="http://schemas.openxmlformats.org/drawingml/2006/table">
            <a:tbl>
              <a:tblGrid>
                <a:gridCol w="1128056">
                  <a:extLst>
                    <a:ext uri="{9D8B030D-6E8A-4147-A177-3AD203B41FA5}">
                      <a16:colId val="1"/>
                    </a:ext>
                  </a:extLst>
                </a:gridCol>
                <a:gridCol w="3008150">
                  <a:extLst>
                    <a:ext uri="{9D8B030D-6E8A-4147-A177-3AD203B41FA5}">
                      <a16:colId val="2"/>
                    </a:ext>
                  </a:extLst>
                </a:gridCol>
                <a:gridCol w="3902894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39126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项目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取值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为什么这么设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7044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输入尺寸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224 × 224 × 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对齐 ImageNet 预训练分辨率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7044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Batch Size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显存占用与梯度稳定性的折中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7044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优化器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AdamW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把权重衰减从梯度更新中解耦，泛化更好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7044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学习率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ResNet 3e-4 / 预训练 ViT 1e-4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ViT 在 3e-4 下训练不稳定，需更小的步长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7044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权重衰减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1e-4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抑制 11M～86M 参数的过拟合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7044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学习率调度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StepLR(step=15, γ=0.1)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每 15 轮降一个数量级，后期细调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7044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损失函数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类别加权交叉熵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抵消 437 : 210 : 133 的类别倾斜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37044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标签平滑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ε = 0.1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防止模型对训练样本过度自信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37044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初始化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ImageNet-1K 预训练权重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把自然图像的底层特征迁移到超声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  <a:tr h="37044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随机种子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保证划分与初始化可复现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1"/>
                  </a:ext>
                </a:extLst>
              </a:tr>
            </a:tbl>
          </a:graphicData>
        </a:graphic>
      </p:graphicFrame>
      <p:sp>
        <p:nvSpPr>
          <p:cNvPr id="35" name=""/>
          <p:cNvSpPr/>
          <p:nvPr/>
        </p:nvSpPr>
        <p:spPr>
          <a:xfrm rot="0" flipH="0" flipV="0">
            <a:off x="3819525" y="5143500"/>
            <a:ext cx="8039100" cy="704850"/>
          </a:xfrm>
          <a:prstGeom prst="roundRect">
            <a:avLst>
              <a:gd name="adj" fmla="val 8108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3819525" y="5143500"/>
            <a:ext cx="8039100" cy="704850"/>
          </a:xfrm>
          <a:custGeom>
            <a:pathLst>
              <a:path w="844" h="74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73"/>
                </a:lnTo>
                <a:cubicBezTo>
                  <a:pt x="5" y="74"/>
                  <a:pt x="5" y="74"/>
                  <a:pt x="6" y="74"/>
                </a:cubicBezTo>
                <a:cubicBezTo>
                  <a:pt x="3" y="74"/>
                  <a:pt x="0" y="71"/>
                  <a:pt x="0" y="6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3971925" y="5191125"/>
            <a:ext cx="77057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判断：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小数据训练里，早停比多训几轮更重要——本实验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ResNet50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跑满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49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轮、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ResNet18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在第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44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轮停、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ViT-B/16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第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32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轮就触发早停，说明容量越大的模型越早撞上过拟合墙。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10 / 38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1" name="" descr="&lt;Slide style={{ padding: 0, background: '#0E3F8C', fontFamily: 'Microsoft YaHei' }}&gt;&#10;    &lt;svg width={1280} height={720} viewBox='0 0 1280 720' style={{ position: 'absolute', top: 0, left: 0, opacity: 0.18 }}&gt;&#10;        &lt;rect x='800' y='200' width='440' height='80' rx='40' fill='none' stroke='#8FC0F0' strokeWidth='3' /&gt;&#10;        &lt;rect x='800' y='330' width='130' height='70' rx='8' fill='none' stroke='#8FC0F0' strokeWidth='3' /&gt;&#10;        &lt;rect x='955' y='330' width='130' height='70' rx='8' fill='none' stroke='#8FC0F0' strokeWidth='3' /&gt;&#10;        &lt;rect x='1110' y='330' width='130' height='70' rx='8' fill='none' stroke='#8FC0F0' strokeWidth='3' /&gt;&#10;        &lt;path d='M800 370 H 1240' stroke='#8FC0F0' strokeWidth='4' /&gt;&#10;        &lt;path d='M1235 362 L 1252 372 L 1235 382' fill='#8FC0F0' /&gt;&#10;        &lt;rect x='800' y='470' width='440' height='80' rx='40' fill='none' stroke='#8FC0F0' strokeWidth='3' /&gt;&#10;        &lt;text x='1020' y='252' fill='#8FC0F0' font-size='30' text-anchor='middle' font-family='Microsoft YaHei'&gt;x&lt;/text&gt;&#10;        &lt;text x='1020' y='522' fill='#8FC0F0' font-size='30' text-anchor='middle' font-family='Microsoft YaHei'&gt;F(x) + x&lt;/text&gt;&#10;    &lt;/svg&gt;&#10;    &lt;Box style={{ width: '100%', height: '100%', paddingTop: 84, paddingLeft: 72, paddingRight: 72, paddingBottom: 72, justifyContent: 'space-between' }}&gt;&#10;        &lt;Box style={{ flexDirection: 'row', alignItems: 'center', gap: 40 }}&gt;&#10;            &lt;Text style={{ fontSize: 200, fontWeight: 'bold', color: '#3D7BD9', lineHeight: 1 }}&gt;&#10;                03&#10;            &lt;/Text&gt;&#10;            &lt;Box style={{ width: 3, height: 150, background: 'rgba(255,255,255,0.35)' }} /&gt;&#10;            &lt;Box style={{ gap: 14 }}&gt;&#10;                &lt;Text style={{ fontSize: 50, fontWeight: 'bold', color: '#FFFFFF', letterSpacing: 3 }}&gt;&#10;                    ResNet：深度残差网络&#10;                &lt;/Text&gt;&#10;                &lt;Text style={{ fontFamily: 'Times New Roman', fontSize: 21, color: '#8FC0F0', letterSpacing: 1 }}&gt;&#10;                    Deep Residual Learning for Image Recognition&#10;                &lt;/Text&gt;&#10;                &lt;Text style={{ fontSize: 21, color: '#CFE0F7', lineHeight: 1.6 }}&gt;&#10;                    一条跳跃连接，让上百层的网络第一次变得&quot;能训练&quot;。&#10;                &lt;/Text&gt;&#10;            &lt;/Box&gt;&#10;        &lt;/Box&gt;&#10;&#10;        &lt;Box style={{ flexDirection: 'row', gap: 24 }}&gt;&#10;            &lt;Box style={{ flex: 1, background: 'rgba(255,255,255,0.10)', border: '1px solid rgba(255,255,255,0.22)', borderRadius: 10, padding: 26, gap: 10 }}&gt;&#10;                &lt;Text style={{ fontSize: 22, fontWeight: 'bold', color: '#FFC107' }}&gt;网络退化问题&lt;/Text&gt;&#10;                &lt;Text style={{ fontSize: 18, color: '#DCE8F7', lineHeight: 1.6 }}&gt;&#10;                    层数加深后训练误差反而上升，这不是过拟合，而是优化本身失败了。&#10;                &lt;/Text&gt;&#10;            &lt;/Box&gt;&#10;            &lt;Box style={{ flex: 1, background: 'rgba(255,255,255,0.10)', border: '1px solid rgba(255,255,255,0.22)', borderRadius: 10, padding: 26, gap: 10 }}&gt;&#10;                &lt;Text style={{ fontSize: 22, fontWeight: 'bold', color: '#FFC107' }}&gt;残差学习&lt;/Text&gt;&#10;                &lt;Text style={{ fontSize: 18, color: '#DCE8F7', lineHeight: 1.6 }}&gt;&#10;                    H(x) = F(x) + x，让每层只学&quot;增量&quot;，学不动时自动退化为恒等映射。&#10;                &lt;/Text&gt;&#10;            &lt;/Box&gt;&#10;            &lt;Box style={{ flex: 1, background: 'rgba(255,255,255,0.10)', border: '1px solid rgba(255,255,255,0.22)', borderRadius: 10, padding: 26, gap: 10 }}&gt;&#10;                &lt;Text style={{ fontSize: 22, fontWeight: 'bold', color: '#FFC107' }}&gt;家族与迁移&lt;/Text&gt;&#10;                &lt;Text style={{ fontSize: 18, color: '#DCE8F7', lineHeight: 1.6 }}&gt;&#10;                    18 / 34 / 50 / 101 四种深度，配合 ImageNet 预训练迁移到医学小数据。&#10;                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85800" y="8001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3D7BD9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3419475" y="1228725"/>
            <a:ext cx="28575" cy="142875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3829050" y="1209675"/>
            <a:ext cx="542925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 spc="225">
                <a:solidFill>
                  <a:srgbClr val="FFFFFF"/>
                </a:solidFill>
                <a:latin typeface="Microsoft YaHei"/>
                <a:ea typeface="Microsoft YaHei"/>
              </a:rPr>
              <a:t>ResNet</a:t>
            </a:r>
            <a:r>
              <a:rPr lang="zh-CN" sz="3750" b="1" spc="225">
                <a:solidFill>
                  <a:srgbClr val="FFFFFF"/>
                </a:solidFill>
                <a:latin typeface="Microsoft YaHei"/>
                <a:ea typeface="Microsoft YaHei"/>
              </a:rPr>
              <a:t>：深度残差网络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3829050" y="1914525"/>
            <a:ext cx="5429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spc="75">
                <a:solidFill>
                  <a:srgbClr val="8FC0F0"/>
                </a:solidFill>
                <a:latin typeface="Times New Roman"/>
                <a:ea typeface="Times New Roman"/>
              </a:rPr>
              <a:t>Deep Residual Learning for Image Recognition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3829050" y="2295525"/>
            <a:ext cx="5429250" cy="390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CFE0F7"/>
                </a:solidFill>
                <a:latin typeface="Microsoft YaHei"/>
                <a:ea typeface="Microsoft YaHei"/>
              </a:rPr>
              <a:t>一条跳跃连接，让上百层的网络第一次变得</a:t>
            </a:r>
            <a:r>
              <a:rPr lang="en-US" sz="1575">
                <a:solidFill>
                  <a:srgbClr val="CFE0F7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CFE0F7"/>
                </a:solidFill>
                <a:latin typeface="Microsoft YaHei"/>
                <a:ea typeface="Microsoft YaHei"/>
              </a:rPr>
              <a:t>能训练</a:t>
            </a:r>
            <a:r>
              <a:rPr lang="en-US" sz="1575">
                <a:solidFill>
                  <a:srgbClr val="CFE0F7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CFE0F7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85800" y="4657725"/>
            <a:ext cx="3457575" cy="1514475"/>
          </a:xfrm>
          <a:prstGeom prst="roundRect">
            <a:avLst>
              <a:gd name="adj" fmla="val 62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933450" y="4905375"/>
            <a:ext cx="2962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网络退化问题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933450" y="5257800"/>
            <a:ext cx="29622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层数加深后训练误差反而上升，这不是过拟合，而是优化本身失败了。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4371975" y="4657725"/>
            <a:ext cx="3448050" cy="1514475"/>
          </a:xfrm>
          <a:prstGeom prst="roundRect">
            <a:avLst>
              <a:gd name="adj" fmla="val 62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619625" y="4905375"/>
            <a:ext cx="2952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残差学习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619625" y="5257800"/>
            <a:ext cx="29527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>H(x) = F(x) + x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，让每层只学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增量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，学不动时自动退化为恒等映射。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8048625" y="4657725"/>
            <a:ext cx="3457575" cy="1514475"/>
          </a:xfrm>
          <a:prstGeom prst="roundRect">
            <a:avLst>
              <a:gd name="adj" fmla="val 62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296275" y="4905375"/>
            <a:ext cx="2962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家族与迁移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296275" y="5257800"/>
            <a:ext cx="29622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18 / 34 / 50 / 101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四种深度，配合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 ImageNet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预训练迁移到医学小数据。</a:t>
            </a:r>
            <a:endParaRPr/>
          </a:p>
        </p:txBody>
      </p:sp>
      <p:pic>
        <p:nvPicPr>
          <p:cNvPr id="57" name="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8" name="" descr="&lt;Slide style={{ padding: 0, background: '#FFFFFF', fontFamily: 'Microsoft YaHei' }}&gt;&#13;&#10;    &lt;Box style={{ width: '100%', height: 76, background: '#0E3F8C', flexDirection: 'row', alignItems: 'center', justifyContent: 'space-between', paddingLeft: 40, paddingRight: 40 }}&gt;&#13;&#10;        &lt;Box style={{ flexDirection: 'row', alignItems: 'center', gap: 16 }}&gt;&#13;&#10;            &lt;Box style={{ width: 6, height: 34, background: '#FFC107' }} /&gt;&#13;&#10;            &lt;Text style={{ fontSize: 32, fontWeight: 'bold', color: '#FFFFFF' }}&gt;网络加深的困境：退化而不是过拟合&lt;/Text&gt;&#13;&#10;        &lt;/Box&gt;&#13;&#10;        &lt;Text style={{ fontSize: 16, color: '#8FC0F0' }}&gt;03 ResNet：深度残差网络&lt;/Text&gt;&#13;&#10;    &lt;/Box&gt;&#13;&#10;&#13;&#10;    &lt;Box style={{ height: 604, flexDirection: 'row', gap: 24, paddingTop: 20, paddingLeft: 40, paddingRight: 40, paddingBottom: 20 }}&gt;&#13;&#10;        &lt;Box style={{ width: 730, background: '#F7F9FC', border: '1px solid #D6DCE5', borderRadius: 10, padding: 10, alignItems: 'center' }}&gt;&#13;&#10;            &lt;svg width={710} height={470} viewBox='0 0 710 470'&gt;&#13;&#10;                &lt;text x='355' y='26' fill='#0E3F8C' font-size='20' font-weight='bold' text-anchor='middle' font-family='Microsoft YaHei'&gt;训练误差随网络加深的变化（He et al., 2015 的经典观察）&lt;/text&gt;&#13;&#10;&#13;&#10;                &lt;path d='M90 70 V 400 H 690' stroke='#8B97A8' strokeWidth='2' fill='none' /&gt;&#13;&#10;                &lt;text x='56' y='84' fill='#8B97A8' font-size='16' text-anchor='end' font-family='Microsoft YaHei'&gt;误差&lt;/text&gt;&#13;&#10;                &lt;text x='355' y='432' fill='#8B97A8' font-size='16' text-anchor='middle' font-family='Microsoft YaHei'&gt;训练轮数 →&lt;/text&gt;&#13;&#10;&#13;&#10;                &lt;polyline points='90,382 200,268 310,196 420,152 530,128 690,104' fill='none' stroke='#1E4FA8' strokeWidth='4' /&gt;&#13;&#10;                &lt;polyline points='90,382 200,306 310,252 420,222 530,206 690,196' fill='none' stroke='#D9534F' strokeWidth='4' strokeDasharray='9 6' /&gt;&#13;&#10;&#13;&#10;                &lt;rect x='470' y='60' width='200' height='62' rx='8' fill='#FFFFFF' stroke='#D6DCE5' strokeWidth='1' /&gt;&#13;&#10;                &lt;path d='M486 82 H 514' stroke='#1E4FA8' strokeWidth='4' /&gt;&#13;&#10;                &lt;text x='524' y='88' fill='#1A2230' font-size='16' font-family='Microsoft YaHei'&gt;20 层 普通网络&lt;/text&gt;&#13;&#10;                &lt;path d='M486 106 H 514' stroke='#D9534F' strokeWidth='4' strokeDasharray='9 6' /&gt;&#13;&#10;                &lt;text x='524' y='112' fill='#1A2230' font-size='16' font-family='Microsoft YaHei'&gt;56 层 普通网络&lt;/text&gt;&#13;&#10;&#13;&#10;                &lt;path d='M560 210 L 640 210' stroke='#D9534F' strokeWidth='2' /&gt;&#13;&#10;                &lt;text x='650' y='215' fill='#D9534F' font-size='17' font-weight='bold' font-family='Microsoft YaHei'&gt;更深反而更差&lt;/text&gt;&#13;&#10;                &lt;path d='M560 112 L 640 112' stroke='#1E4FA8' strokeWidth='2' /&gt;&#13;&#10;                &lt;text x='650' y='117' fill='#1E4FA8' font-size='17' font-weight='bold' font-family='Microsoft YaHei'&gt;浅层更好&lt;/text&gt;&#13;&#10;            &lt;/svg&gt;&#13;&#10;        &lt;/Box&gt;&#13;&#10;&#13;&#10;        &lt;Box style={{ flex: 1, gap: 12 }}&gt;&#13;&#10;            &lt;Box style={{ flexDirection: 'row', alignItems: 'center', gap: 12, background: '#E8EFF8', borderRadius: 8, paddingLeft: 16, paddingTop: 9, paddingBottom: 9 }}&gt;&#13;&#10;                &lt;FAIcon name='info-circle' style={{ fill: '#1E4FA8', width: 24, height: 24 }} /&gt;&#13;&#10;                &lt;Text style={{ fontSize: 19, fontWeight: 'bold', color: '#0E3F8C' }}&gt;先分清：这是哪一种&quot;坏&quot;？&lt;/Text&gt;&#13;&#10;            &lt;/Box&gt;&#13;&#10;&#13;&#10;            &lt;Box style={{ flex: 1, background: '#FFFFFF', border: '1px solid #D6DCE5', borderLeft: '5px solid #D9534F', borderRadius: 8, padding: 14, gap: 6 }}&gt;&#13;&#10;                &lt;Text style={{ fontSize: 21, fontWeight: 'bold', color: '#0E3F8C' }}&gt;过拟合 ≠ 退化&lt;/Text&gt;&#13;&#10;                &lt;Text style={{ fontSize: 17, color: '#4A5568', lineHeight: 1.6 }}&gt;&#13;&#10;                    过拟合的特征是&quot;训练误差很低、测试误差很高&quot;。而这里 56 层网络的&lt;span style={{ fontWeight: 'bold', color: '#D9534F' }}&gt;训练误差本身就更高&lt;/span&gt;，说明模型连训练集都拟合不好。&#13;&#10;                &lt;/Text&gt;&#13;&#10;            &lt;/Box&gt;&#13;&#10;&#13;&#10;            &lt;Box style={{ flex: 1, background: '#FFFFFF', border: '1px solid #D6DCE5', borderLeft: '5px solid #1E4FA8', borderRadius: 8, padding: 14, gap: 6 }}&gt;&#13;&#10;                &lt;Text style={{ fontSize: 21, fontWeight: 'bold', color: '#0E3F8C' }}&gt;梯度连乘的衰减&lt;/Text&gt;&#13;&#10;                &lt;Text style={{ fontSize: 17, color: '#4A5568', lineHeight: 1.6 }}&gt;&#13;&#10;                    反向传播是 Jacobian 矩阵的连乘。层数增加后，梯度范数容易指数级缩小或放大，前面几层几乎收不到有效更新信号。&#13;&#10;                &lt;/Text&gt;&#13;&#10;            &lt;/Box&gt;&#13;&#10;&#13;&#10;            &lt;Box style={{ flex: 1, background: '#FFF8E1', border: '1px solid #FFC107', borderLeft: '5px solid #FFC107', borderRadius: 8, padding: 14, gap: 6 }}&gt;&#13;&#10;                &lt;Text style={{ fontSize: 21, fontWeight: 'bold', color: '#0E3F8C' }}&gt;更深一层的追问&lt;/Text&gt;&#13;&#10;                &lt;Text style={{ fontSize: 17, color: '#4A5568', lineHeight: 1.6 }}&gt;&#13;&#10;                    如果多加的层只做恒等映射，加深不该变差。问题在于：让一堆非线性层去拟合&quot;输入等于输出&quot;，比想象中难得多。&#13;&#10;                &lt;/Text&gt;&#13;&#10;                &lt;Text style={{ fontSize: 17, color: '#1E4FA8', fontWeight: 'bold', marginTop: 2 }}&gt;&#13;&#10;                    → 那就把恒等映射&quot;画&quot;进结构里。&#13;&#10;                &lt;/Text&gt;&#13;&#10;            &lt;/Box&gt;&#13;&#10;        &lt;/Box&gt;&#13;&#10;    &lt;/Box&gt;&#13;&#10;&#13;&#10;    &lt;Box style={{ height: 40, flexDirection: 'row', alignItems: 'center', justifyContent: 'space-between', paddingLeft: 40, paddingRight: 40, borderTop: '1px solid #E5E7EB' }}&gt;&#13;&#10;        &lt;Text style={{ fontSize: 14, color: '#8B97A8' }}&gt;BUSI 乳腺超声图像分类 · 乳腺癌智能诊断&lt;/Text&gt;&#13;&#10;        &lt;Text style={{ fontSize: 14, color: '#1E4FA8' }}&gt;12 / 3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4876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网络加深的困境：退化而不是过拟合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0001250" y="2667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>03 ResNet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：深度残差网络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381000" y="914400"/>
            <a:ext cx="6953250" cy="5372100"/>
          </a:xfrm>
          <a:prstGeom prst="roundRect">
            <a:avLst>
              <a:gd name="adj" fmla="val 177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009650"/>
            <a:ext cx="6762750" cy="4476750"/>
          </a:xfrm>
          <a:prstGeom prst="rect">
            <a:avLst/>
          </a:prstGeom>
          <a:ln/>
        </p:spPr>
      </p:pic>
      <p:sp>
        <p:nvSpPr>
          <p:cNvPr id="66" name=""/>
          <p:cNvSpPr/>
          <p:nvPr/>
        </p:nvSpPr>
        <p:spPr>
          <a:xfrm rot="0" flipH="0" flipV="0">
            <a:off x="7562850" y="914400"/>
            <a:ext cx="4248150" cy="400050"/>
          </a:xfrm>
          <a:prstGeom prst="roundRect">
            <a:avLst>
              <a:gd name="adj" fmla="val 19048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715250" y="1000125"/>
            <a:ext cx="228600" cy="228600"/>
          </a:xfrm>
          <a:prstGeom prst="rect">
            <a:avLst/>
          </a:prstGeom>
          <a:ln/>
        </p:spPr>
      </p:pic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058150" y="1009650"/>
            <a:ext cx="2181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先分清：这是哪一种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坏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？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7610475" y="1428750"/>
            <a:ext cx="424815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7610475" y="1428750"/>
            <a:ext cx="4248150" cy="1504950"/>
          </a:xfrm>
          <a:custGeom>
            <a:pathLst>
              <a:path w="446" h="158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55"/>
                </a:lnTo>
                <a:cubicBezTo>
                  <a:pt x="5" y="157"/>
                  <a:pt x="6" y="158"/>
                  <a:pt x="8" y="158"/>
                </a:cubicBezTo>
                <a:cubicBezTo>
                  <a:pt x="3" y="158"/>
                  <a:pt x="0" y="154"/>
                  <a:pt x="0" y="15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743825" y="1562100"/>
            <a:ext cx="3933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过拟合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退化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743825" y="1866900"/>
            <a:ext cx="39338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过拟合的特征是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训练误差很低、测试误差很高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。而这里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56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层网络的</a:t>
            </a:r>
            <a:r>
              <a:rPr lang="zh-CN" sz="1275" b="1">
                <a:solidFill>
                  <a:srgbClr val="D9534F"/>
                </a:solidFill>
                <a:latin typeface="Microsoft YaHei"/>
                <a:ea typeface="Microsoft YaHei"/>
              </a:rPr>
              <a:t>训练误差本身就更高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，说明模型连训练集都拟合不好。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7610475" y="3048000"/>
            <a:ext cx="424815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7610475" y="3048000"/>
            <a:ext cx="4248150" cy="1504950"/>
          </a:xfrm>
          <a:custGeom>
            <a:pathLst>
              <a:path w="446" h="158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55"/>
                </a:lnTo>
                <a:cubicBezTo>
                  <a:pt x="5" y="157"/>
                  <a:pt x="6" y="158"/>
                  <a:pt x="8" y="158"/>
                </a:cubicBezTo>
                <a:cubicBezTo>
                  <a:pt x="3" y="158"/>
                  <a:pt x="0" y="154"/>
                  <a:pt x="0" y="15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743825" y="3181350"/>
            <a:ext cx="3933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梯度连乘的衰减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743825" y="3486150"/>
            <a:ext cx="39338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反向传播是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Jacobian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矩阵的连乘。层数增加后，梯度范数容易指数级缩小或放大，前面几层几乎收不到有效更新信号。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7610475" y="4667250"/>
            <a:ext cx="4248150" cy="1781175"/>
          </a:xfrm>
          <a:prstGeom prst="roundRect">
            <a:avLst>
              <a:gd name="adj" fmla="val 4278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7610475" y="4667250"/>
            <a:ext cx="4248150" cy="1781175"/>
          </a:xfrm>
          <a:custGeom>
            <a:pathLst>
              <a:path w="446" h="187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84"/>
                </a:lnTo>
                <a:cubicBezTo>
                  <a:pt x="5" y="186"/>
                  <a:pt x="6" y="187"/>
                  <a:pt x="8" y="187"/>
                </a:cubicBezTo>
                <a:cubicBezTo>
                  <a:pt x="3" y="187"/>
                  <a:pt x="0" y="183"/>
                  <a:pt x="0" y="17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743825" y="4800600"/>
            <a:ext cx="3933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更深一层的追问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743825" y="5105400"/>
            <a:ext cx="39338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如果多加的层只做恒等映射，加深不该变差。问题在于：让一堆非线性层去拟合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输入等于输出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，比想象中难得多。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743825" y="6115050"/>
            <a:ext cx="3933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那就把恒等映射</a:t>
            </a:r>
            <a:r>
              <a:rPr lang="en-US" sz="1275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画</a:t>
            </a:r>
            <a:r>
              <a:rPr lang="en-US" sz="1275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进结构里。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12 / 38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5" name="" descr="&lt;Slide style={{ padding: 0, background: '#FFFFFF', fontFamily: 'Microsoft YaHei' }}&gt;&#10;    &lt;Box style={{ width: '100%', height: 76, background: '#0E3F8C', flexDirection: 'row', alignItems: 'center', justifyContent: 'space-between', paddingLeft: 40, paddingRight: 40 }}&gt;&#10;        &lt;Box style={{ flexDirection: 'row', alignItems: 'center', gap: 16 }}&gt;&#10;            &lt;Box style={{ width: 6, height: 34, background: '#FFC107' }} /&gt;&#10;            &lt;Text style={{ fontSize: 32, fontWeight: 'bold', color: '#FFFFFF' }}&gt;残差学习：把恒等映射&quot;画&quot;进结构里&lt;/Text&gt;&#10;        &lt;/Box&gt;&#10;        &lt;Text style={{ fontSize: 16, color: '#8FC0F0' }}&gt;03 ResNet：深度残差网络&lt;/Text&gt;&#10;    &lt;/Box&gt;&#10;&#10;    &lt;Box style={{ flex: 1, flexDirection: 'row', gap: 24, paddingTop: 20, paddingLeft: 40, paddingRight: 40, paddingBottom: 20 }}&gt;&#10;        &lt;Box style={{ width: 690, background: '#F7F9FC', border: '1px solid #D6DCE5', borderRadius: 10, paddingTop: 12, paddingBottom: 12, alignItems: 'center', justifyContent: 'center' }}&gt;&#10;            &lt;svg width={660} height={450} viewBox='0 0 660 450'&gt;&#10;                &lt;text x='330' y='24' fill='#0E3F8C' font-size='19' font-weight='bold' text-anchor='middle' font-family='Microsoft YaHei'&gt;残差块（Residual Block）的数据流&lt;/text&gt;&#10;&#10;                &lt;text x='30' y='150' fill='#1E4FA8' font-size='26' font-weight='bold' font-family='Microsoft YaHei'&gt;x&lt;/text&gt;&#10;                &lt;path d='M46 142 H 92' stroke='#1E4FA8' strokeWidth='2' /&gt;&#10;                &lt;path d='M84 136 L 94 142 L 84 148' fill='#1E4FA8' /&gt;&#10;&#10;                &lt;rect x='94' y='112' width='168' height='60' rx='8' fill='#E8EFF8' stroke='#1E4FA8' strokeWidth='2' /&gt;&#10;                &lt;text x='178' y='140' fill='#0E3F8C' font-size='17' font-weight='bold' text-anchor='middle' font-family='Microsoft YaHei'&gt;3×3 Conv&lt;/text&gt;&#10;                &lt;text x='178' y='161' fill='#4A5568' font-size='14' text-anchor='middle' font-family='Microsoft YaHei'&gt;BN + ReLU&lt;/text&gt;&#10;&#10;                &lt;path d='M262 142 H 292' stroke='#1E4FA8' strokeWidth='2' /&gt;&#10;                &lt;path d='M284 136 L 294 142 L 284 148' fill='#1E4FA8' /&gt;&#10;&#10;                &lt;rect x='294' y='112' width='158' height='60' rx='8' fill='#E8EFF8' stroke='#1E4FA8' strokeWidth='2' /&gt;&#10;                &lt;text x='373' y='140' fill='#0E3F8C' font-size='17' font-weight='bold' text-anchor='middle' font-family='Microsoft YaHei'&gt;3×3 Conv&lt;/text&gt;&#10;                &lt;text x='373' y='161' fill='#4A5568' font-size='14' text-anchor='middle' font-family='Microsoft YaHei'&gt;BN&lt;/text&gt;&#10;&#10;                &lt;path d='M452 142 H 482' stroke='#1E4FA8' strokeWidth='2' /&gt;&#10;                &lt;path d='M474 136 L 484 142 L 474 148' fill='#1E4FA8' /&gt;&#10;&#10;                &lt;circle cx='506' cy='142' r='24' fill='#FFFFFF' stroke='#D9534F' strokeWidth='3' /&gt;&#10;                &lt;text x='506' y='152' fill='#D9534F' font-size='28' font-weight='bold' text-anchor='middle' font-family='Microsoft YaHei'&gt;+&lt;/text&gt;&#10;&#10;                &lt;path d='M530 142 H 556' stroke='#1E4FA8' strokeWidth='2' /&gt;&#10;                &lt;path d='M548 136 L 558 142 L 548 148' fill='#1E4FA8' /&gt;&#10;&#10;                &lt;rect x='558' y='112' width='82' height='60' rx='8' fill='#FFC107' stroke='#0E3F8C' strokeWidth='2' /&gt;&#10;                &lt;text x='599' y='150' fill='#0E3F8C' font-size='18' font-weight='bold' text-anchor='middle' font-family='Microsoft YaHei'&gt;ReLU&lt;/text&gt;&#10;&#10;                &lt;path d='M640 142 H 654' stroke='#1E4FA8' strokeWidth='2' /&gt;&#10;                &lt;text x='330' y='98' fill='#4A5568' font-size='16' text-anchor='middle' font-family='Microsoft YaHei'&gt;↑ 主支路：学习残差 F(x)&lt;/text&gt;&#10;&#10;                &lt;path d='M36 160 V 300 H 506 V 172' fill='none' stroke='#D9534F' strokeWidth='3' /&gt;&#10;                &lt;path d='M500 182 L 506 170 L 512 182' fill='#D9534F' /&gt;&#10;                &lt;text x='270' y='326' fill='#D9534F' font-size='19' font-weight='bold' text-anchor='middle' font-family='Microsoft YaHei'&gt;跳跃连接 shortcut：直接把 x 送到输出端&lt;/text&gt;&#10;&#10;                &lt;rect x='60' y='356' width='540' height='66' rx='8' fill='#FFF8E1' stroke='#FFC107' strokeWidth='2' /&gt;&#10;                &lt;text x='330' y='384' fill='#1A2230' font-size='18' text-anchor='middle' font-family='Microsoft YaHei'&gt;当最优解就是恒等映射时，只需让 F(x) 的权重趋近 0&lt;/text&gt;&#10;                &lt;text x='330' y='408' fill='#1E4FA8' font-size='18' font-weight='bold' text-anchor='middle' font-family='Microsoft YaHei'&gt;H(x) = F(x) + x → x，深层网络至少不会比浅层更差&lt;/text&gt;&#10;            &lt;/svg&gt;&#10;        &lt;/Box&gt;&#10;&#10;        &lt;Box style={{ flex: 1, gap: 12 }}&gt;&#10;            &lt;Box style={{ background: '#0E3F8C', borderRadius: 10, padding: 18, alignItems: 'center', gap: 8 }}&gt;&#10;                &lt;Text style={{ fontSize: 19, color: '#8FC0F0' }}&gt;残差块的输出&lt;/Text&gt;&#10;                &lt;Math latex='H(x) = F(x) + x' width={300} color='#FFFFFF' /&gt;&#10;                &lt;Text style={{ fontSize: 17, color: '#CFE0F7', textAlign: 'center', lineHeight: 1.5 }}&gt;&#10;                    F(x) 是两层卷积要学的残差，x 是未经变换的输入&#10;                &lt;/Text&gt;&#10;            &lt;/Box&gt;&#10;&#10;            &lt;Box style={{ flex: 1, background: '#FFFFFF', border: '1px solid #D6DCE5', borderLeft: '5px solid #1E4FA8', borderRadius: 8, padding: 14, gap: 6 }}&gt;&#10;                &lt;Text style={{ fontSize: 21, fontWeight: 'bold', color: '#0E3F8C' }}&gt;① 学习目标变简单了&lt;/Text&gt;&#10;                &lt;Text style={{ fontSize: 17, color: '#4A5568', lineHeight: 1.6 }}&gt;&#10;                    原来要拟合完整的 H(x)，现在只需拟合&quot;与输入的差值&quot;。让残差趋近 0，比让一堆非线性层输出原值容易得多。&#10;                &lt;/Text&gt;&#10;            &lt;/Box&gt;&#10;&#10;            &lt;Box style={{ flex: 1, background: '#FFFFFF', border: '1px solid #D6DCE5', borderLeft: '5px solid #1E4FA8', borderRadius: 8, padding: 14, gap: 6 }}&gt;&#10;                &lt;Text style={{ fontSize: 21, fontWeight: 'bold', color: '#0E3F8C' }}&gt;② 梯度有了直达通道&lt;/Text&gt;&#10;                &lt;Text style={{ fontSize: 17, color: '#4A5568', lineHeight: 1.6 }}&gt;&#10;                    反向传播时，加法运算把梯度原封不动地分给跳跃支路，第 1 层仍能从第 100 层直接拿到梯度。&#10;                &lt;/Text&gt;&#10;            &lt;/Box&gt;&#10;&#10;            &lt;Box style={{ flex: 1, background: '#FFF8E1', border: '1px solid #FFC107', borderLeft: '5px solid #FFC107', borderRadius: 8, padding: 14, gap: 6 }}&gt;&#10;                &lt;Text style={{ fontSize: 21, fontWeight: 'bold', color: '#0E3F8C' }}&gt;③ 深度不再是负担&lt;/Text&gt;&#10;                &lt;Text style={{ fontSize: 17, color: '#4A5568', lineHeight: 1.6 }}&gt;&#10;                    有了这条&quot;保底线&quot;，ResNet 才第一次把可用深度推到 152 层，并在 2015 年 ImageNet 上把错误率降到 3.57%。&#10;                &lt;/Text&gt;&#10;            &lt;/Box&gt;&#10;        &lt;/Box&gt;&#10;    &lt;/Box&gt;&#10;&#10;    &lt;Box style={{ height: 40, flexDirection: 'row', alignItems: 'center', justifyContent: 'space-between', paddingLeft: 40, paddingRight: 40, borderTop: '1px solid #E5E7EB' }}&gt;&#10;        &lt;Text style={{ fontSize: 14, color: '#8B97A8' }}&gt;BUSI 乳腺超声图像分类 · 乳腺癌智能诊断&lt;/Text&gt;&#10;        &lt;Text style={{ fontSize: 14, color: '#1E4FA8' }}&gt;13 / 3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8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48958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残差学习：把恒等映射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画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进结构里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0001250" y="2667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>03 ResNet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：深度残差网络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381000" y="914400"/>
            <a:ext cx="6572250" cy="5372100"/>
          </a:xfrm>
          <a:prstGeom prst="roundRect">
            <a:avLst>
              <a:gd name="adj" fmla="val 177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23875" y="1457325"/>
            <a:ext cx="6286500" cy="4286250"/>
          </a:xfrm>
          <a:prstGeom prst="rect">
            <a:avLst/>
          </a:prstGeom>
          <a:ln/>
        </p:spPr>
      </p:pic>
      <p:sp>
        <p:nvSpPr>
          <p:cNvPr id="93" name=""/>
          <p:cNvSpPr/>
          <p:nvPr/>
        </p:nvSpPr>
        <p:spPr>
          <a:xfrm rot="0" flipH="0" flipV="0">
            <a:off x="7181850" y="914400"/>
            <a:ext cx="4629150" cy="1400175"/>
          </a:xfrm>
          <a:prstGeom prst="roundRect">
            <a:avLst>
              <a:gd name="adj" fmla="val 6803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953500" y="1085850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FC0F0"/>
                </a:solidFill>
                <a:latin typeface="Microsoft YaHei"/>
                <a:ea typeface="Microsoft YaHei"/>
              </a:rPr>
              <a:t>残差块的输出</a:t>
            </a:r>
            <a:endParaRPr/>
          </a:p>
        </p:txBody>
      </p:sp>
      <p:pic>
        <p:nvPicPr>
          <p:cNvPr id="95" name="" descr="H(x) = F(x) + x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067675" y="1381125"/>
            <a:ext cx="2857500" cy="390525"/>
          </a:xfrm>
          <a:prstGeom prst="rect"/>
          <a:ln/>
        </p:spPr>
      </p:pic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734300" y="1847850"/>
            <a:ext cx="3533775" cy="2952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275">
                <a:solidFill>
                  <a:srgbClr val="CFE0F7"/>
                </a:solidFill>
                <a:latin typeface="Microsoft YaHei"/>
                <a:ea typeface="Microsoft YaHei"/>
              </a:rPr>
              <a:t xml:space="preserve">F(x) </a:t>
            </a:r>
            <a:r>
              <a:rPr lang="zh-CN" sz="1275">
                <a:solidFill>
                  <a:srgbClr val="CFE0F7"/>
                </a:solidFill>
                <a:latin typeface="Microsoft YaHei"/>
                <a:ea typeface="Microsoft YaHei"/>
              </a:rPr>
              <a:t>是两层卷积要学的残差，</a:t>
            </a:r>
            <a:r>
              <a:rPr lang="en-US" sz="1275">
                <a:solidFill>
                  <a:srgbClr val="CFE0F7"/>
                </a:solidFill>
                <a:latin typeface="Microsoft YaHei"/>
                <a:ea typeface="Microsoft YaHei"/>
              </a:rPr>
              <a:t xml:space="preserve">x </a:t>
            </a:r>
            <a:r>
              <a:rPr lang="zh-CN" sz="1275">
                <a:solidFill>
                  <a:srgbClr val="CFE0F7"/>
                </a:solidFill>
                <a:latin typeface="Microsoft YaHei"/>
                <a:ea typeface="Microsoft YaHei"/>
              </a:rPr>
              <a:t>是未经变换的输入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7229475" y="2428875"/>
            <a:ext cx="4629150" cy="1209675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7229475" y="2428875"/>
            <a:ext cx="4629150" cy="1209675"/>
          </a:xfrm>
          <a:custGeom>
            <a:pathLst>
              <a:path w="486" h="127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24"/>
                </a:lnTo>
                <a:cubicBezTo>
                  <a:pt x="5" y="126"/>
                  <a:pt x="6" y="127"/>
                  <a:pt x="8" y="127"/>
                </a:cubicBezTo>
                <a:cubicBezTo>
                  <a:pt x="3" y="127"/>
                  <a:pt x="0" y="123"/>
                  <a:pt x="0" y="11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362825" y="2562225"/>
            <a:ext cx="4314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学习目标变简单了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362825" y="2867025"/>
            <a:ext cx="43148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原来要拟合完整的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H(x)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，现在只需拟合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与输入的差值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。让残差趋近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，比让一堆非线性层输出原值容易得多。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7229475" y="3752850"/>
            <a:ext cx="4629150" cy="1209675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7229475" y="3752850"/>
            <a:ext cx="4629150" cy="1209675"/>
          </a:xfrm>
          <a:custGeom>
            <a:pathLst>
              <a:path w="486" h="127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24"/>
                </a:lnTo>
                <a:cubicBezTo>
                  <a:pt x="5" y="126"/>
                  <a:pt x="6" y="127"/>
                  <a:pt x="8" y="127"/>
                </a:cubicBezTo>
                <a:cubicBezTo>
                  <a:pt x="3" y="127"/>
                  <a:pt x="0" y="123"/>
                  <a:pt x="0" y="11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362825" y="3886200"/>
            <a:ext cx="4314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梯度有了直达通道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362825" y="4191000"/>
            <a:ext cx="43148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反向传播时，加法运算把梯度原封不动地分给跳跃支路，第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层仍能从第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层直接拿到梯度。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7229475" y="5076825"/>
            <a:ext cx="4629150" cy="1209675"/>
          </a:xfrm>
          <a:prstGeom prst="roundRect">
            <a:avLst>
              <a:gd name="adj" fmla="val 6299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7229475" y="5076825"/>
            <a:ext cx="4629150" cy="1209675"/>
          </a:xfrm>
          <a:custGeom>
            <a:pathLst>
              <a:path w="486" h="127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24"/>
                </a:lnTo>
                <a:cubicBezTo>
                  <a:pt x="5" y="126"/>
                  <a:pt x="6" y="127"/>
                  <a:pt x="8" y="127"/>
                </a:cubicBezTo>
                <a:cubicBezTo>
                  <a:pt x="3" y="127"/>
                  <a:pt x="0" y="123"/>
                  <a:pt x="0" y="11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362825" y="5210175"/>
            <a:ext cx="4314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深度不再是负担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362825" y="5514975"/>
            <a:ext cx="43148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有了这条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保底线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ResNet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才第一次把可用深度推到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152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层，并在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2015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年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ImageNet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上把错误率降到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3.57%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13 / 38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112" name="" descr="&lt;Slide style={{ padding: 0, background: '#FFFFFF', fontFamily: 'Microsoft YaHei' }}&gt;&#13;&#10;    &lt;Box style={{ width: '100%', height: 76, background: '#0E3F8C', flexDirection: 'row', alignItems: 'center', justifyContent: 'space-between', paddingLeft: 40, paddingRight: 40 }}&gt;&#13;&#10;        &lt;Box style={{ flexDirection: 'row', alignItems: 'center', gap: 16 }}&gt;&#13;&#10;            &lt;Box style={{ width: 6, height: 34, background: '#FFC107' }} /&gt;&#13;&#10;            &lt;Text style={{ fontSize: 32, fontWeight: 'bold', color: '#FFFFFF' }}&gt;两种残差块：BasicBlock 与 Bottleneck&lt;/Text&gt;&#13;&#10;        &lt;/Box&gt;&#13;&#10;        &lt;Text style={{ fontSize: 16, color: '#8FC0F0' }}&gt;03 ResNet：深度残差网络&lt;/Text&gt;&#13;&#10;    &lt;/Box&gt;&#13;&#10;&#13;&#10;    &lt;Box style={{ height: 604, flexDirection: 'row', gap: 24, paddingTop: 20, paddingLeft: 40, paddingRight: 40, paddingBottom: 20 }}&gt;&#13;&#10;        &lt;Box style={{ width: 700, gap: 12 }}&gt;&#13;&#10;            &lt;Box style={{ flex: 1, background: '#F7F9FC', border: '1px solid #D6DCE5', borderLeft: '5px solid #1E4FA8', borderRadius: 10, padding: 10, alignItems: 'center', justifyContent: 'center' }}&gt;&#13;&#10;                &lt;svg width={660} height={228} viewBox='0 0 660 228'&gt;&#13;&#10;                    &lt;text x='330' y='20' fill='#0E3F8C' font-size='18' font-weight='bold' text-anchor='middle' font-family='Microsoft YaHei'&gt;BasicBlock（ResNet-18 / 34 使用）&lt;/text&gt;&#13;&#10;&#13;&#10;                    &lt;text x='26' y='104' fill='#1E4FA8' font-size='24' font-weight='bold' font-family='Microsoft YaHei'&gt;x&lt;/text&gt;&#13;&#10;                    &lt;path d='M42 96 H 76' stroke='#1E4FA8' strokeWidth='2' /&gt;&#13;&#10;                    &lt;path d='M68 90 L 78 96 L 68 102' fill='#1E4FA8' /&gt;&#13;&#10;&#13;&#10;                    &lt;rect x='78' y='66' width='150' height='60' rx='8' fill='#E8EFF8' stroke='#1E4FA8' strokeWidth='2' /&gt;&#13;&#10;                    &lt;text x='153' y='94' fill='#0E3F8C' font-size='17' font-weight='bold' text-anchor='middle' font-family='Microsoft YaHei'&gt;3×3 Conv, 64&lt;/text&gt;&#13;&#10;                    &lt;text x='153' y='115' fill='#4A5568' font-size='14' text-anchor='middle' font-family='Microsoft YaHei'&gt;BN + ReLU&lt;/text&gt;&#13;&#10;&#13;&#10;                    &lt;path d='M228 96 H 258' stroke='#1E4FA8' strokeWidth='2' /&gt;&#13;&#10;                    &lt;path d='M250 90 L 260 96 L 250 102' fill='#1E4FA8' /&gt;&#13;&#10;&#13;&#10;                    &lt;rect x='260' y='66' width='150' height='60' rx='8' fill='#E8EFF8' stroke='#1E4FA8' strokeWidth='2' /&gt;&#13;&#10;                    &lt;text x='335' y='94' fill='#0E3F8C' font-size='17' font-weight='bold' text-anchor='middle' font-family='Microsoft YaHei'&gt;3×3 Conv, 64&lt;/text&gt;&#13;&#10;                    &lt;text x='335' y='115' fill='#4A5568' font-size='14' text-anchor='middle' font-family='Microsoft YaHei'&gt;BN&lt;/text&gt;&#13;&#10;&#13;&#10;                    &lt;path d='M410 96 H 440' stroke='#1E4FA8' strokeWidth='2' /&gt;&#13;&#10;                    &lt;path d='M432 90 L 442 96 L 432 102' fill='#1E4FA8' /&gt;&#13;&#10;&#13;&#10;                    &lt;circle cx='464' cy='96' r='22' fill='#FFFFFF' stroke='#D9534F' strokeWidth='3' /&gt;&#13;&#10;                    &lt;text x='464' y='105' fill='#D9534F' font-size='26' font-weight='bold' text-anchor='middle' font-family='Microsoft YaHei'&gt;+&lt;/text&gt;&#13;&#10;&#13;&#10;                    &lt;path d='M486 96 H 512' stroke='#1E4FA8' strokeWidth='2' /&gt;&#13;&#10;                    &lt;path d='M504 90 L 514 96 L 504 102' fill='#1E4FA8' /&gt;&#13;&#10;                    &lt;text x='556' y='102' fill='#0E3F8C' font-size='17' font-weight='bold' text-anchor='middle' font-family='Microsoft YaHei'&gt;ReLU 输出&lt;/text&gt;&#13;&#10;&#13;&#10;                    &lt;path d='M32 112 V 176 H 464 V 124' fill='none' stroke='#D9534F' strokeWidth='3' /&gt;&#13;&#10;                    &lt;path d='M458 134 L 464 122 L 470 134' fill='#D9534F' /&gt;&#13;&#10;                    &lt;text x='248' y='204' fill='#D9534F' font-size='16' text-anchor='middle' font-family='Microsoft YaHei'&gt;shortcut 恒等映射（通道数不变，直接相加）&lt;/text&gt;&#13;&#10;                &lt;/svg&gt;&#13;&#10;            &lt;/Box&gt;&#13;&#10;&#13;&#10;            &lt;Box style={{ flex: 1, background: '#F7F9FC', border: '1px solid #D6DCE5', borderLeft: '5px solid #FFC107', borderRadius: 10, padding: 10, alignItems: 'center', justifyContent: 'center' }}&gt;&#13;&#10;                &lt;svg width={660} height={228} viewBox='0 0 660 228'&gt;&#13;&#10;                    &lt;text x='330' y='20' fill='#0E3F8C' font-size='18' font-weight='bold' text-anchor='middle' font-family='Microsoft YaHei'&gt;Bottleneck（ResNet-50 / 101 使用，expansion = 4）&lt;/text&gt;&#13;&#10;&#13;&#10;                    &lt;text x='26' y='104' fill='#1E4FA8' font-size='24' font-weight='bold' font-family='Microsoft YaHei'&gt;x&lt;/text&gt;&#13;&#10;                    &lt;path d='M42 96 H 62' stroke='#1E4FA8' strokeWidth='2' /&gt;&#13;&#10;                    &lt;path d='M54 90 L 64 96 L 54 102' fill='#1E4FA8' /&gt;&#13;&#10;&#13;&#10;                    &lt;rect x='64' y='66' width='112' height='60' rx='8' fill='#FFF8E1' stroke='#0E3F8C' strokeWidth='2' /&gt;&#13;&#10;                    &lt;text x='120' y='94' fill='#0E3F8C' font-size='16' font-weight='bold' text-anchor='middle' font-family='Microsoft YaHei'&gt;1×1 Conv&lt;/text&gt;&#13;&#10;                    &lt;text x='120' y='115' fill='#4A5568' font-size='14' text-anchor='middle' font-family='Microsoft YaHei'&gt;256 → 64 降维&lt;/text&gt;&#13;&#10;&#13;&#10;                    &lt;path d='M176 96 H 196' stroke='#1E4FA8' strokeWidth='2' /&gt;&#13;&#10;                    &lt;path d='M188 90 L 198 96 L 188 102' fill='#1E4FA8' /&gt;&#13;&#10;&#13;&#10;                    &lt;rect x='198' y='66' width='112' height='60' rx='8' fill='#E8EFF8' stroke='#1E4FA8' strokeWidth='2' /&gt;&#13;&#10;                    &lt;text x='254' y='94' fill='#0E3F8C' font-size='16' font-weight='bold' text-anchor='middle' font-family='Microsoft YaHei'&gt;3×3 Conv&lt;/text&gt;&#13;&#10;                    &lt;text x='254' y='115' fill='#4A5568' font-size='14' text-anchor='middle' font-family='Microsoft YaHei'&gt;64 通道提特征&lt;/text&gt;&#13;&#10;&#13;&#10;                    &lt;path d='M310 96 H 330' stroke='#1E4FA8' strokeWidth='2' /&gt;&#13;&#10;                    &lt;path d='M322 90 L 332 96 L 322 102' fill='#1E4FA8' /&gt;&#13;&#10;&#13;&#10;                    &lt;rect x='332' y='66' width='112' height='60' rx='8' fill='#FFF8E1' stroke='#0E3F8C' strokeWidth='2' /&gt;&#13;&#10;                    &lt;text x='388' y='94' fill='#0E3F8C' font-size='16' font-weight='bold' text-anchor='middle' font-family='Microsoft YaHei'&gt;1×1 Conv&lt;/text&gt;&#13;&#10;                    &lt;text x='388' y='115' fill='#4A5568' font-size='14' text-anchor='middle' font-family='Microsoft YaHei'&gt;64 → 256 升维&lt;/text&gt;&#13;&#10;&#13;&#10;                    &lt;path d='M444 96 H 470' stroke='#1E4FA8' strokeWidth='2' /&gt;&#13;&#10;                    &lt;path d='M462 90 L 472 96 L 462 102' fill='#1E4FA8' /&gt;&#13;&#10;&#13;&#10;                    &lt;circle cx='494' cy='96' r='22' fill='#FFFFFF' stroke='#D9534F' strokeWidth='3' /&gt;&#13;&#10;                    &lt;text x='494' y='105' fill='#D9534F' font-size='26' font-weight='bold' text-anchor='middle' font-family='Microsoft YaHei'&gt;+&lt;/text&gt;&#13;&#10;&#13;&#10;                    &lt;path d='M516 96 H 542' stroke='#1E4FA8' strokeWidth='2' /&gt;&#13;&#10;                    &lt;path d='M534 90 L 544 96 L 534 102' fill='#1E4FA8' /&gt;&#13;&#10;                    &lt;text x='588' y='102' fill='#0E3F8C' font-size='17' font-weight='bold' text-anchor='middle' font-family='Microsoft YaHei'&gt;ReLU 输出&lt;/text&gt;&#13;&#10;&#13;&#10;                    &lt;path d='M32 112 V 176 H 494 V 124' fill='none' stroke='#D9534F' strokeWidth='3' strokeDasharray='8 5' /&gt;&#13;&#10;                    &lt;path d='M488 134 L 494 122 L 500 134' fill='#D9534F' /&gt;&#13;&#10;                    &lt;text x='263' y='204' fill='#D9534F' font-size='16' text-anchor='middle' font-family='Microsoft YaHei'&gt;通道数变化时用 1×1 卷积投影（虚线）对齐尺寸后再相加&lt;/text&gt;&#13;&#10;                &lt;/svg&gt;&#13;&#10;            &lt;/Box&gt;&#13;&#10;        &lt;/Box&gt;&#13;&#10;&#13;&#10;        &lt;Box style={{ flex: 1, gap: 12 }}&gt;&#13;&#10;            &lt;Box style={{ flexDirection: 'row', alignItems: 'center', gap: 12, background: '#E8EFF8', borderRadius: 8, paddingLeft: 16, paddingTop: 9, paddingBottom: 9 }}&gt;&#13;&#10;                &lt;FAIcon name='info-circle' style={{ fill: '#1E4FA8', width: 24, height: 24 }} /&gt;&#13;&#10;                &lt;Text style={{ fontSize: 19, fontWeight: 'bold', color: '#0E3F8C' }}&gt;为什么深网络要改用瓶颈结构？&lt;/Text&gt;&#13;&#10;            &lt;/Box&gt;&#13;&#10;&#13;&#10;            &lt;Table&#13;&#10;                style={{ width: '100%', height: 226 }}&#13;&#10;                defaultTextStyle={{ fontSize: 17, textAlign: 'left', color: '#1A2230' }}&#13;&#10;                defaultCellStyle={{&#13;&#10;                    paddingLeft: 14,&#13;&#10;                    border: {&#13;&#10;                        left: { width: 1, color: '#D6DCE5' }, right: { width: 1, color: '#D6DCE5' },&#13;&#10;                        top: { width: 1, color: '#D6DCE5' }, bottom: { width: 1, color: '#D6DCE5' },&#13;&#10;                    },&#13;&#10;                }}&#13;&#10;                cells={[&#13;&#10;                    [&#13;&#10;                        { text: '对比项', textStyle: { bold: true, color: '#FFFFFF' }, cellStyle: { background: { color: '#0E3F8C' } } },&#13;&#10;                        { text: 'BasicBlock', textStyle: { bold: true, color: '#FFFFFF' }, cellStyle: { background: { color: '#0E3F8C' } } },&#13;&#10;                        { text: 'Bottleneck', textStyle: { bold: true, color: '#FFFFFF' }, cellStyle: { background: { color: '#0E3F8C' } } },&#13;&#10;                    ],&#13;&#10;                    [&#13;&#10;                        { text: '卷积层数', textStyle: { bold: true }, cellStyle: { background: { color: '#F0F5FC' } } },&#13;&#10;                        { text: '2 层 3×3', cellStyle: { background: { color: '#F0F5FC' } } },&#13;&#10;                        { text: '1×1 → 3×3 → 1×1', cellStyle: { background: { color: '#F0F5FC' } } },&#13;&#10;                    ],&#13;&#10;                    [&#13;&#10;                        '通道变化', '保持不变', '先降 4 倍，再升 4 倍',&#13;&#10;                    ],&#13;&#10;                    [&#13;&#10;                        { text: '参数与算力', textStyle: { bold: true }, cellStyle: { background: { color: '#F0F5FC' } } },&#13;&#10;                        { text: '单层较费', cellStyle: { background: { color: '#F0F5FC' } } },&#13;&#10;                        { text: '3×3 在低维做，省算力', cellStyle: { background: { color: '#F0F5FC' } } },&#13;&#10;                    ],&#13;&#10;                    [&#13;&#10;                        '用于', 'ResNet-18 / 34', 'ResNet-50 / 101 / 152',&#13;&#10;                    ],&#13;&#10;                    [&#13;&#10;                        { text: 'shortcut', textStyle: { bold: true }, cellStyle: { background: { color: '#F0F5FC' } } },&#13;&#10;                        { text: '多为恒等映射', cellStyle: { background: { color: '#F0F5FC' } } },&#13;&#10;                        { text: '常用 1×1 卷积投影', cellStyle: { background: { color: '#F0F5FC' } } },&#13;&#10;                    ],&#13;&#10;                ]}&#13;&#10;            /&gt;&#13;&#10;&#13;&#10;            &lt;Box style={{ flex: 1, background: '#FFFFFF', border: '1px solid #D6DCE5', borderRadius: 8, padding: 14, gap: 8 }}&gt;&#13;&#10;                &lt;Text style={{ fontSize: 21, fontWeight: 'bold', color: '#0E3F8C' }}&gt;代码里的两个细节&lt;/Text&gt;&#13;&#10;                &lt;Text style={{ fontSize: 17, color: '#4A5568', lineHeight: 1.6 }}&gt;&#13;&#10;                    · 下采样时 stride = 2，同时 shortcut 换成 1×1 卷积 + BN，保证两条支路尺寸一致。&#13;&#10;                &lt;/Text&gt;&#13;&#10;                &lt;Text style={{ fontSize: 17, color: '#4A5568', lineHeight: 1.6 }}&gt;&#13;&#10;                    · 相加&lt;span style={{ fontWeight: 'bold' }}&gt;之后&lt;/span&gt;才做 ReLU，这是 ResNet 原文的顺序（先加后激活），顺序颠倒会削弱恒等通路。&#13;&#10;                &lt;/Text&gt;&#13;&#10;                &lt;Box style={{ background: '#FFF8E1', borderRadius: 6, padding: 10, marginTop: 'auto' }}&gt;&#13;&#10;                    &lt;Text style={{ fontSize: 16, color: '#1A2230', lineHeight: 1.5 }}&gt;&#13;&#10;                        &lt;span style={{ fontWeight: 'bold' }}&gt;判断：&lt;/span&gt;Bottleneck 用&quot;降维—提特征—升维&quot;换取更深的堆叠能力，是参数量与深度之间的工程平衡。&#13;&#10;                    &lt;/Text&gt;&#13;&#10;                &lt;/Box&gt;&#13;&#10;            &lt;/Box&gt;&#13;&#10;        &lt;/Box&gt;&#13;&#10;    &lt;/Box&gt;&#13;&#10;&#13;&#10;    &lt;Box style={{ height: 40, flexDirection: 'row', alignItems: 'center', justifyContent: 'space-between', paddingLeft: 40, paddingRight: 40, borderTop: '1px solid #E5E7EB' }}&gt;&#13;&#10;        &lt;Text style={{ fontSize: 14, color: '#8B97A8' }}&gt;BUSI 乳腺超声图像分类 · 乳腺癌智能诊断&lt;/Text&gt;&#13;&#10;        &lt;Text style={{ fontSize: 14, color: '#1E4FA8' }}&gt;14 / 3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4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55816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两种残差块：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BasicBlock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与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Bottleneck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0001250" y="2667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>03 ResNet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：深度残差网络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428625" y="914400"/>
            <a:ext cx="6667500" cy="2628900"/>
          </a:xfrm>
          <a:prstGeom prst="roundRect">
            <a:avLst>
              <a:gd name="adj" fmla="val 362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428625" y="914400"/>
            <a:ext cx="6667500" cy="2628900"/>
          </a:xfrm>
          <a:custGeom>
            <a:pathLst>
              <a:path w="700" h="27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271"/>
                </a:lnTo>
                <a:cubicBezTo>
                  <a:pt x="5" y="273"/>
                  <a:pt x="7" y="275"/>
                  <a:pt x="9" y="276"/>
                </a:cubicBezTo>
                <a:cubicBezTo>
                  <a:pt x="4" y="275"/>
                  <a:pt x="0" y="271"/>
                  <a:pt x="0" y="26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1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0075" y="1143000"/>
            <a:ext cx="6286500" cy="2171700"/>
          </a:xfrm>
          <a:prstGeom prst="rect">
            <a:avLst/>
          </a:prstGeom>
          <a:ln/>
        </p:spPr>
      </p:pic>
      <p:sp>
        <p:nvSpPr>
          <p:cNvPr id="121" name=""/>
          <p:cNvSpPr/>
          <p:nvPr/>
        </p:nvSpPr>
        <p:spPr>
          <a:xfrm rot="0" flipH="0" flipV="0">
            <a:off x="428625" y="3657600"/>
            <a:ext cx="6667500" cy="2628900"/>
          </a:xfrm>
          <a:prstGeom prst="roundRect">
            <a:avLst>
              <a:gd name="adj" fmla="val 362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22" name=""/>
          <p:cNvSpPr/>
          <p:nvPr/>
        </p:nvSpPr>
        <p:spPr>
          <a:xfrm rot="0" flipH="0" flipV="0">
            <a:off x="428625" y="3657600"/>
            <a:ext cx="6667500" cy="2628900"/>
          </a:xfrm>
          <a:custGeom>
            <a:pathLst>
              <a:path w="700" h="27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271"/>
                </a:lnTo>
                <a:cubicBezTo>
                  <a:pt x="5" y="273"/>
                  <a:pt x="7" y="275"/>
                  <a:pt x="9" y="276"/>
                </a:cubicBezTo>
                <a:cubicBezTo>
                  <a:pt x="4" y="275"/>
                  <a:pt x="0" y="271"/>
                  <a:pt x="0" y="26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pic>
        <p:nvPicPr>
          <p:cNvPr id="1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0075" y="3886200"/>
            <a:ext cx="6286500" cy="2171700"/>
          </a:xfrm>
          <a:prstGeom prst="rect">
            <a:avLst/>
          </a:prstGeom>
          <a:ln/>
        </p:spPr>
      </p:pic>
      <p:sp>
        <p:nvSpPr>
          <p:cNvPr id="124" name=""/>
          <p:cNvSpPr/>
          <p:nvPr/>
        </p:nvSpPr>
        <p:spPr>
          <a:xfrm rot="0" flipH="0" flipV="0">
            <a:off x="7277100" y="914400"/>
            <a:ext cx="4533900" cy="400050"/>
          </a:xfrm>
          <a:prstGeom prst="roundRect">
            <a:avLst>
              <a:gd name="adj" fmla="val 19048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429500" y="1000125"/>
            <a:ext cx="228600" cy="228600"/>
          </a:xfrm>
          <a:prstGeom prst="rect">
            <a:avLst/>
          </a:prstGeom>
          <a:ln/>
        </p:spPr>
      </p:pic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772400" y="1009650"/>
            <a:ext cx="2533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为什么深网络要改用瓶颈结构？</a:t>
            </a:r>
            <a:endParaRPr/>
          </a:p>
        </p:txBody>
      </p:sp>
      <p:graphicFrame>
        <p:nvGraphicFramePr>
          <p:cNvPr id="127" name=""/>
          <p:cNvGraphicFramePr/>
          <p:nvPr/>
        </p:nvGraphicFramePr>
        <p:xfrm rot="0" flipH="0" flipV="0">
          <a:off x="7277100" y="1428750"/>
          <a:ext cx="4533900" cy="2152650"/>
        </p:xfrm>
        <a:graphic>
          <a:graphicData uri="http://schemas.openxmlformats.org/drawingml/2006/table">
            <a:tbl>
              <a:tblGrid>
                <a:gridCol w="1034009">
                  <a:extLst>
                    <a:ext uri="{9D8B030D-6E8A-4147-A177-3AD203B41FA5}">
                      <a16:colId val="1"/>
                    </a:ext>
                  </a:extLst>
                </a:gridCol>
                <a:gridCol w="1438431">
                  <a:extLst>
                    <a:ext uri="{9D8B030D-6E8A-4147-A177-3AD203B41FA5}">
                      <a16:colId val="2"/>
                    </a:ext>
                  </a:extLst>
                </a:gridCol>
                <a:gridCol w="2061460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3587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对比项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BasicBlock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Bottleneck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587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卷积层数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 层 3×3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1×1 → 3×3 → 1×1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587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通道变化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保持不变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先降 4 倍，再升 4 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587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参数与算力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单层较费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3×3 在低维做，省算力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587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用于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ResNet-18 / 34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ResNet-50 / 101 / 152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587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shortcut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多为恒等映射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常用 1×1 卷积投影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128" name=""/>
          <p:cNvSpPr/>
          <p:nvPr/>
        </p:nvSpPr>
        <p:spPr>
          <a:xfrm rot="0" flipH="0" flipV="0">
            <a:off x="7277100" y="3695700"/>
            <a:ext cx="4533900" cy="27432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410450" y="3829050"/>
            <a:ext cx="4267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代码里的两个细节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410450" y="4152900"/>
            <a:ext cx="42672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下采样时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stride = 2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，同时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shortcut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换成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1×1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卷积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BN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，保证两条支路尺寸一致。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410450" y="4857750"/>
            <a:ext cx="42672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相加</a:t>
            </a:r>
            <a:r>
              <a:rPr lang="zh-CN" sz="1275" b="1">
                <a:solidFill>
                  <a:srgbClr val="4A5568"/>
                </a:solidFill>
                <a:latin typeface="Microsoft YaHei"/>
                <a:ea typeface="Microsoft YaHei"/>
              </a:rPr>
              <a:t>之后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才做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ReLU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，这是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ResNet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原文的顺序（先加后激活），顺序颠倒会削弱恒等通路。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7410450" y="5562600"/>
            <a:ext cx="4267200" cy="742950"/>
          </a:xfrm>
          <a:prstGeom prst="roundRect">
            <a:avLst>
              <a:gd name="adj" fmla="val 7692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505700" y="5657850"/>
            <a:ext cx="40767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判断：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Bottleneck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用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降维—提特征—升维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换取更深的堆叠能力，是参数量与深度之间的工程平衡。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14 / 38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137" name="" descr="&lt;Slide style={{ padding: 0, background: '#FFFFFF', fontFamily: 'Microsoft YaHei' }}&gt;&#13;&#10;    &lt;Box style={{ width: '100%', height: 76, background: '#0E3F8C', flexDirection: 'row', alignItems: 'center', justifyContent: 'space-between', paddingLeft: 40, paddingRight: 40 }}&gt;&#13;&#10;        &lt;Box style={{ flexDirection: 'row', alignItems: 'center', gap: 16 }}&gt;&#13;&#10;            &lt;Box style={{ width: 6, height: 34, background: '#FFC107' }} /&gt;&#13;&#10;            &lt;Text style={{ fontSize: 32, fontWeight: 'bold', color: '#FFFFFF' }}&gt;ResNet 家族：从 224×224 到三类概率&lt;/Text&gt;&#13;&#10;        &lt;/Box&gt;&#13;&#10;        &lt;Text style={{ fontSize: 16, color: '#8FC0F0' }}&gt;03 ResNet：深度残差网络&lt;/Text&gt;&#13;&#10;    &lt;/Box&gt;&#13;&#10;&#13;&#10;    &lt;Box style={{ height: 604, flexDirection: 'row', gap: 24, paddingTop: 20, paddingLeft: 40, paddingRight: 40, paddingBottom: 20 }}&gt;&#13;&#10;        &lt;Box style={{ width: 560, background: '#F7F9FC', border: '1px solid #D6DCE5', borderRadius: 10, padding: 10, alignItems: 'center', justifyContent: 'center' }}&gt;&#13;&#10;            &lt;svg width={520} height={490} viewBox='0 0 520 490'&gt;&#13;&#10;                &lt;text x='260' y='20' fill='#0E3F8C' font-size='18' font-weight='bold' text-anchor='middle' font-family='Microsoft YaHei'&gt;ResNet 五阶段结构（以 ResNet-18 为例）&lt;/text&gt;&#13;&#10;&#13;&#10;                &lt;rect x='130' y='34' width='260' height='44' rx='8' fill='#FFFFFF' stroke='#D6DCE5' strokeWidth='2' /&gt;&#13;&#10;                &lt;text x='260' y='62' fill='#1A2230' font-size='16' text-anchor='middle' font-family='Microsoft YaHei'&gt;输入 224 × 224 × 3&lt;/text&gt;&#13;&#10;&#13;&#10;                &lt;path d='M260 78 V 96' stroke='#1E4FA8' strokeWidth='2' /&gt;&#13;&#10;                &lt;path d='M254 90 L 260 98 L 266 90' fill='#1E4FA8' /&gt;&#13;&#10;&#13;&#10;                &lt;rect x='110' y='98' width='300' height='52' rx='8' fill='#E8EFF8' stroke='#1E4FA8' strokeWidth='2' /&gt;&#13;&#10;                &lt;text x='260' y='120' fill='#0E3F8C' font-size='16' font-weight='bold' text-anchor='middle' font-family='Microsoft YaHei'&gt;Stem：7×7 Conv 64, stride 2&lt;/text&gt;&#13;&#10;                &lt;text x='260' y='141' fill='#4A5568' font-size='14' text-anchor='middle' font-family='Microsoft YaHei'&gt;BN + ReLU + 3×3 MaxPool → 56 × 56 × 64&lt;/text&gt;&#13;&#10;&#13;&#10;                &lt;path d='M260 150 V 168' stroke='#1E4FA8' strokeWidth='2' /&gt;&#13;&#10;                &lt;path d='M254 162 L 260 170 L 266 162' fill='#1E4FA8' /&gt;&#13;&#10;&#13;&#10;                &lt;rect x='110' y='170' width='300' height='46' rx='8' fill='#E8EFF8' stroke='#1E4FA8' strokeWidth='2' /&gt;&#13;&#10;                &lt;text x='260' y='190' fill='#0E3F8C' font-size='16' font-weight='bold' text-anchor='middle' font-family='Microsoft YaHei'&gt;Stage 1：残差块 × 2，64 通道&lt;/text&gt;&#13;&#10;                &lt;text x='260' y='209' fill='#4A5568' font-size='14' text-anchor='middle' font-family='Microsoft YaHei'&gt;56 × 56 × 64&lt;/text&gt;&#13;&#10;&#13;&#10;                &lt;path d='M260 216 V 234' stroke='#1E4FA8' strokeWidth='2' /&gt;&#13;&#10;                &lt;path d='M254 228 L 260 236 L 266 228' fill='#1E4FA8' /&gt;&#13;&#10;&#13;&#10;                &lt;rect x='110' y='236' width='300' height='46' rx='8' fill='#E8EFF8' stroke='#1E4FA8' strokeWidth='2' /&gt;&#13;&#10;                &lt;text x='260' y='256' fill='#0E3F8C' font-size='16' font-weight='bold' text-anchor='middle' font-family='Microsoft YaHei'&gt;Stage 2：残差块 × 2，128 通道 / stride 2&lt;/text&gt;&#13;&#10;                &lt;text x='260' y='275' fill='#4A5568' font-size='14' text-anchor='middle' font-family='Microsoft YaHei'&gt;28 × 28 × 128&lt;/text&gt;&#13;&#10;&#13;&#10;                &lt;path d='M260 282 V 300' stroke='#1E4FA8' strokeWidth='2' /&gt;&#13;&#10;                &lt;path d='M254 294 L 260 302 L 266 294' fill='#1E4FA8' /&gt;&#13;&#10;&#13;&#10;                &lt;rect x='110' y='302' width='300' height='46' rx='8' fill='#E8EFF8' stroke='#1E4FA8' strokeWidth='2' /&gt;&#13;&#10;                &lt;text x='260' y='322' fill='#0E3F8C' font-size='16' font-weight='bold' text-anchor='middle' font-family='Microsoft YaHei'&gt;Stage 3：残差块 × 2，256 通道 / stride 2&lt;/text&gt;&#13;&#10;                &lt;text x='260' y='341' fill='#4A5568' font-size='14' text-anchor='middle' font-family='Microsoft YaHei'&gt;14 × 14 × 256&lt;/text&gt;&#13;&#10;&#13;&#10;                &lt;path d='M260 348 V 366' stroke='#1E4FA8' strokeWidth='2' /&gt;&#13;&#10;                &lt;path d='M254 360 L 260 368 L 266 360' fill='#1E4FA8' /&gt;&#13;&#10;&#13;&#10;                &lt;rect x='110' y='368' width='300' height='46' rx='8' fill='#E8EFF8' stroke='#1E4FA8' strokeWidth='2' /&gt;&#13;&#10;                &lt;text x='260' y='388' fill='#0E3F8C' font-size='16' font-weight='bold' text-anchor='middle' font-family='Microsoft YaHei'&gt;Stage 4：残差块 × 2，512 通道 / stride 2&lt;/text&gt;&#13;&#10;                &lt;text x='260' y='407' fill='#4A5568' font-size='14' text-anchor='middle' font-family='Microsoft YaHei'&gt;7 × 7 × 512&lt;/text&gt;&#13;&#10;&#13;&#10;                &lt;path d='M260 414 V 432' stroke='#1E4FA8' strokeWidth='2' /&gt;&#13;&#10;                &lt;path d='M254 426 L 260 434 L 266 426' fill='#1E4FA8' /&gt;&#13;&#10;&#13;&#10;                &lt;rect x='110' y='434' width='140' height='44' rx='8' fill='#FFF8E1' stroke='#FFC107' strokeWidth='2' /&gt;&#13;&#10;                &lt;text x='180' y='462' fill='#0E3F8C' font-size='16' font-weight='bold' text-anchor='middle' font-family='Microsoft YaHei'&gt;全局平均池化&lt;/text&gt;&#13;&#10;&#13;&#10;                &lt;rect x='270' y='434' width='140' height='44' rx='8' fill='#0E3F8C' stroke='#0E3F8C' strokeWidth='2' /&gt;&#13;&#10;                &lt;text x='340' y='462' fill='#FFFFFF' font-size='16' font-weight='bold' text-anchor='middle' font-family='Microsoft YaHei'&gt;FC 512 → 3&lt;/text&gt;&#13;&#10;            &lt;/svg&gt;&#13;&#10;        &lt;/Box&gt;&#13;&#10;&#13;&#10;        &lt;Box style={{ flex: 1, gap: 12 }}&gt;&#13;&#10;            &lt;Box style={{ flexDirection: 'row', alignItems: 'center', gap: 12, background: '#E8EFF8', borderRadius: 8, paddingLeft: 16, paddingTop: 9, paddingBottom: 9 }}&gt;&#13;&#10;                &lt;FAIcon name='info-circle' style={{ fill: '#1E4FA8', width: 24, height: 24 }} /&gt;&#13;&#10;                &lt;Text style={{ fontSize: 19, fontWeight: 'bold', color: '#0E3F8C' }}&gt;四种深度，差别只在块的类型与数量&lt;/Text&gt;&#13;&#10;            &lt;/Box&gt;&#13;&#10;&#13;&#10;            &lt;Table&#13;&#10;                style={{ width: '100%', height: 268 }}&#13;&#10;                defaultTextStyle={{ fontSize: 16, textAlign: 'center', color: '#1A2230' }}&#13;&#10;                defaultCellStyle={{&#13;&#10;                    border: {&#13;&#10;                        left: { width: 1, color: '#D6DCE5' }, right: { width: 1, color: '#D6DCE5' },&#13;&#10;                        top: { width: 1, color: '#D6DCE5' }, bottom: { width: 1, color: '#D6DCE5' },&#13;&#10;                    },&#13;&#10;                }}&#13;&#10;                cells={[&#13;&#10;                    [&#13;&#10;                        { text: '模型', textStyle: { bold: true, color: '#FFFFFF' }, cellStyle: { background: { color: '#0E3F8C' } } },&#13;&#10;                        { text: '残差块', textStyle: { bold: true, color: '#FFFFFF' }, cellStyle: { background: { color: '#0E3F8C' } } },&#13;&#10;                        { text: '各阶段块数', textStyle: { bold: true, color: '#FFFFFF' }, cellStyle: { background: { color: '#0E3F8C' } } },&#13;&#10;                        { text: '参数量', textStyle: { bold: true, color: '#FFFFFF' }, cellStyle: { background: { color: '#0E3F8C' } } },&#13;&#10;                        { text: '测试准确率', textStyle: { bold: true, color: '#FFFFFF' }, cellStyle: { background: { color: '#0E3F8C' } } },&#13;&#10;                    ],&#13;&#10;                    [&#13;&#10;                        { text: 'ResNet-18', textStyle: { bold: true }, cellStyle: { background: { color: '#F0F5FC' } } },&#13;&#10;                        { text: 'Basic', cellStyle: { background: { color: '#F0F5FC' } } },&#13;&#10;                        { text: '[2, 2, 2, 2]', cellStyle: { background: { color: '#F0F5FC' } } },&#13;&#10;                        { text: '11.2 M', cellStyle: { background: { color: '#F0F5FC' } } },&#13;&#10;                        { text: '87.3%', cellStyle: { background: { color: '#F0F5FC' } } },&#13;&#10;                    ],&#13;&#10;                    [&#13;&#10;                        'ResNet-34', 'Basic', '[3, 4, 6, 3]', '21.3 M', '82.2%',&#13;&#10;                    ],&#13;&#10;                    [&#13;&#10;                        { text: 'ResNet-50', textStyle: { bold: true, color: '#0E3F8C' }, cellStyle: { background: { color: '#FFF8E1' } } },&#13;&#10;                        { text: 'Bottleneck', cellStyle: { background: { color: '#FFF8E1' } } },&#13;&#10;                        { text: '[3, 4, 6, 3]', cellStyle: { background: { color: '#FFF8E1' } } },&#13;&#10;                        { text: '23.5 M', cellStyle: { background: { color: '#FFF8E1' } } },&#13;&#10;                        { text: '89.8%', textStyle: { bold: true, color: '#0E3F8C' }, cellStyle: { background: { color: '#FFF8E1' } } },&#13;&#10;                    ],&#13;&#10;                    [&#13;&#10;                        { text: 'ResNet-101', textStyle: { bold: true }, cellStyle: { background: { color: '#F0F5FC' } } },&#13;&#10;                        { text: 'Bottleneck', cellStyle: { background: { color: '#F0F5FC' } } },&#13;&#10;                        { text: '[3, 4, 23, 3]', cellStyle: { background: { color: '#F0F5FC' } } },&#13;&#10;                        { text: '42.5 M', cellStyle: { background: { color: '#F0F5FC' } } },&#13;&#10;                        { text: '88.1%', cellStyle: { background: { color: '#F0F5FC' } } },&#13;&#10;                    ],&#13;&#10;                ]}&#13;&#10;            /&gt;&#13;&#10;&#13;&#10;            &lt;Box style={{ flex: 1, background: '#FFFFFF', border: '1px solid #D6DCE5', borderLeft: '5px solid #1E4FA8', borderRadius: 8, padding: 14, gap: 8 }}&gt;&#13;&#10;                &lt;Text style={{ fontSize: 21, fontWeight: 'bold', color: '#0E3F8C' }}&gt;为什么要分五个阶段？&lt;/Text&gt;&#13;&#10;                &lt;Text style={{ fontSize: 17, color: '#4A5568', lineHeight: 1.6 }}&gt;&#13;&#10;                    空间分辨率逐级减半、通道数逐级翻倍：浅层抓边缘与纹理，中层抓形态，深层抓语义。全局平均池化把 7×7×512 压成 512 维向量，再交给 3 分类的全连接层。&#13;&#10;                &lt;/Text&gt;&#13;&#10;                &lt;Box style={{ background: '#FFF8E1', borderRadius: 6, padding: 10, marginTop: 'auto' }}&gt;&#13;&#10;                    &lt;Text style={{ fontSize: 16, color: '#1A2230', lineHeight: 1.5 }}&gt;&#13;&#10;                        &lt;span style={{ fontWeight: 'bold' }}&gt;判断：&lt;/span&gt;在本项目里 ResNet-50 反而优于更深的 ResNet-101——深度不是越深越好，要与数据量匹配。&#13;&#10;                    &lt;/Text&gt;&#13;&#10;                &lt;/Box&gt;&#13;&#10;            &lt;/Box&gt;&#13;&#10;        &lt;/Box&gt;&#13;&#10;    &lt;/Box&gt;&#13;&#10;&#13;&#10;    &lt;Box style={{ height: 40, flexDirection: 'row', alignItems: 'center', justifyContent: 'space-between', paddingLeft: 40, paddingRight: 40, borderTop: '1px solid #E5E7EB' }}&gt;&#13;&#10;        &lt;Text style={{ fontSize: 14, color: '#8B97A8' }}&gt;BUSI 乳腺超声图像分类 · 乳腺癌智能诊断&lt;/Text&gt;&#13;&#10;        &lt;Text style={{ fontSize: 14, color: '#1E4FA8' }}&gt;15 / 3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54768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ResNet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家族：从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224×224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到三类概率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0001250" y="2667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>03 ResNet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：深度残差网络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381000" y="914400"/>
            <a:ext cx="5334000" cy="5372100"/>
          </a:xfrm>
          <a:prstGeom prst="roundRect">
            <a:avLst>
              <a:gd name="adj" fmla="val 178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1266825"/>
            <a:ext cx="4953000" cy="4667250"/>
          </a:xfrm>
          <a:prstGeom prst="rect">
            <a:avLst/>
          </a:prstGeom>
          <a:ln/>
        </p:spPr>
      </p:pic>
      <p:sp>
        <p:nvSpPr>
          <p:cNvPr id="145" name=""/>
          <p:cNvSpPr/>
          <p:nvPr/>
        </p:nvSpPr>
        <p:spPr>
          <a:xfrm rot="0" flipH="0" flipV="0">
            <a:off x="5943600" y="914400"/>
            <a:ext cx="5867400" cy="400050"/>
          </a:xfrm>
          <a:prstGeom prst="roundRect">
            <a:avLst>
              <a:gd name="adj" fmla="val 19048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0" y="1000125"/>
            <a:ext cx="228600" cy="228600"/>
          </a:xfrm>
          <a:prstGeom prst="rect">
            <a:avLst/>
          </a:prstGeom>
          <a:ln/>
        </p:spPr>
      </p:pic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438900" y="1009650"/>
            <a:ext cx="2895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四种深度，差别只在块的类型与数量</a:t>
            </a:r>
            <a:endParaRPr/>
          </a:p>
        </p:txBody>
      </p:sp>
      <p:graphicFrame>
        <p:nvGraphicFramePr>
          <p:cNvPr id="148" name=""/>
          <p:cNvGraphicFramePr/>
          <p:nvPr/>
        </p:nvGraphicFramePr>
        <p:xfrm rot="0" flipH="0" flipV="0">
          <a:off x="5943600" y="1428750"/>
          <a:ext cx="5867400" cy="2552700"/>
        </p:xfrm>
        <a:graphic>
          <a:graphicData uri="http://schemas.openxmlformats.org/drawingml/2006/table">
            <a:tbl>
              <a:tblGrid>
                <a:gridCol w="1378373">
                  <a:extLst>
                    <a:ext uri="{9D8B030D-6E8A-4147-A177-3AD203B41FA5}">
                      <a16:colId val="1"/>
                    </a:ext>
                  </a:extLst>
                </a:gridCol>
                <a:gridCol w="1218716">
                  <a:extLst>
                    <a:ext uri="{9D8B030D-6E8A-4147-A177-3AD203B41FA5}">
                      <a16:colId val="2"/>
                    </a:ext>
                  </a:extLst>
                </a:gridCol>
                <a:gridCol w="1245326">
                  <a:extLst>
                    <a:ext uri="{9D8B030D-6E8A-4147-A177-3AD203B41FA5}">
                      <a16:colId val="3"/>
                    </a:ext>
                  </a:extLst>
                </a:gridCol>
                <a:gridCol w="832878">
                  <a:extLst>
                    <a:ext uri="{9D8B030D-6E8A-4147-A177-3AD203B41FA5}">
                      <a16:colId val="4"/>
                    </a:ext>
                  </a:extLst>
                </a:gridCol>
                <a:gridCol w="1192107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5105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残差块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各阶段块数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参数量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测试准确率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105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ResNet-18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Basic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[2, 2, 2, 2]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11.2 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87.3%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105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ResNet-34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Basic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[3, 4, 6, 3]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21.3 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82.2%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105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ResNet-50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Bottleneck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[3, 4, 6, 3]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23.5 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89.8%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105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ResNet-101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Bottleneck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[3, 4, 23, 3]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42.5 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88.1%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49" name=""/>
          <p:cNvSpPr/>
          <p:nvPr/>
        </p:nvSpPr>
        <p:spPr>
          <a:xfrm rot="0" flipH="0" flipV="0">
            <a:off x="5991225" y="4095750"/>
            <a:ext cx="5867400" cy="2343150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5991225" y="4095750"/>
            <a:ext cx="5867400" cy="2343150"/>
          </a:xfrm>
          <a:custGeom>
            <a:pathLst>
              <a:path w="616" h="246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243"/>
                </a:lnTo>
                <a:cubicBezTo>
                  <a:pt x="5" y="245"/>
                  <a:pt x="6" y="246"/>
                  <a:pt x="8" y="246"/>
                </a:cubicBezTo>
                <a:cubicBezTo>
                  <a:pt x="3" y="246"/>
                  <a:pt x="0" y="242"/>
                  <a:pt x="0" y="23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124575" y="4229100"/>
            <a:ext cx="55530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为什么要分五个阶段？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124575" y="4552950"/>
            <a:ext cx="55530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空间分辨率逐级减半、通道数逐级翻倍：浅层抓边缘与纹理，中层抓形态，深层抓语义。全局平均池化把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7×7×512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压成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512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维向量，再交给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分类的全连接层。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124575" y="5562600"/>
            <a:ext cx="5553075" cy="742950"/>
          </a:xfrm>
          <a:prstGeom prst="roundRect">
            <a:avLst>
              <a:gd name="adj" fmla="val 7692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219825" y="5657850"/>
            <a:ext cx="53625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判断：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在本项目里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ResNet-50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反而优于更深的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ResNet-101——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深度不是越深越好，要与数据量匹配。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15 / 38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8" name="" descr="&lt;Slide style={{ padding: 0, background: '#FFFFFF', fontFamily: 'Microsoft YaHei' }}&gt;&#13;&#10;    &lt;Box style={{ width: '100%', height: 76, background: '#0E3F8C', flexDirection: 'row', alignItems: 'center', justifyContent: 'space-between', paddingLeft: 40, paddingRight: 40 }}&gt;&#13;&#10;        &lt;Box style={{ flexDirection: 'row', alignItems: 'center', gap: 16 }}&gt;&#13;&#10;            &lt;Box style={{ width: 6, height: 34, background: '#FFC107' }} /&gt;&#13;&#10;            &lt;Text style={{ fontSize: 32, fontWeight: 'bold', color: '#FFFFFF' }}&gt;代码实现与迁移学习&lt;/Text&gt;&#13;&#10;        &lt;/Box&gt;&#13;&#10;        &lt;Text style={{ fontSize: 16, color: '#8FC0F0' }}&gt;03 ResNet：深度残差网络&lt;/Text&gt;&#13;&#10;    &lt;/Box&gt;&#13;&#10;&#13;&#10;    &lt;Box style={{ height: 604, flexDirection: 'row', gap: 24, paddingTop: 20, paddingLeft: 40, paddingRight: 40, paddingBottom: 20 }}&gt;&#13;&#10;        &lt;Box style={{ width: 356, gap: 12 }}&gt;&#13;&#10;            &lt;Box style={{ background: '#0E3F8C', borderRadius: 10, padding: 18, gap: 8 }}&gt;&#13;&#10;                &lt;Text style={{ fontSize: 24, fontWeight: 'bold', color: '#FFFFFF' }}&gt;迁移学习：小数据的救命稻草&lt;/Text&gt;&#13;&#10;                &lt;Text style={{ fontSize: 17, color: '#CFE0F7', lineHeight: 1.6 }}&gt;&#13;&#10;                    546 张训练图不可能从头训出可靠的卷积核。加载 ImageNet 预训练权重，让模型复用已经学好的边缘、纹理与形状检测器。&#13;&#10;                &lt;/Text&gt;&#13;&#10;            &lt;/Box&gt;&#13;&#10;            &lt;Box style={{ flex: 1, background: '#F0F5FC', border: '1px solid #D6DCE5', borderRadius: 10, padding: 16, gap: 10 }}&gt;&#13;&#10;                &lt;Text style={{ fontSize: 21, fontWeight: 'bold', color: '#0E3F8C' }}&gt;三步迁移&lt;/Text&gt;&#13;&#10;                &lt;Box style={{ flexDirection: 'row', gap: 10, alignItems: 'flex-start' }}&gt;&#13;&#10;                    &lt;Box style={{ width: 32, height: 32, background: '#1E4FA8', borderRadius: 16, justifyContent: 'center', alignItems: 'center' }}&gt;&#13;&#10;                        &lt;Text style={{ fontSize: 17, fontWeight: 'bold', color: '#FFFFFF' }}&gt;1&lt;/Text&gt;&#13;&#10;                    &lt;/Box&gt;&#13;&#10;                    &lt;Text style={{ flex: 1, fontSize: 17, color: '#4A5568', lineHeight: 1.55 }}&gt;&#13;&#10;                        载入 torchvision 的 ImageNet 权重&#13;&#10;                    &lt;/Text&gt;&#13;&#10;                &lt;/Box&gt;&#13;&#10;                &lt;Box style={{ flexDirection: 'row', gap: 10, alignItems: 'flex-start' }}&gt;&#13;&#10;                    &lt;Box style={{ width: 32, height: 32, background: '#1E4FA8', borderRadius: 16, justifyContent: 'center', alignItems: 'center' }}&gt;&#13;&#10;                        &lt;Text style={{ fontSize: 17, fontWeight: 'bold', color: '#FFFFFF' }}&gt;2&lt;/Text&gt;&#13;&#10;                    &lt;/Box&gt;&#13;&#10;                    &lt;Text style={{ flex: 1, fontSize: 17, color: '#4A5568', lineHeight: 1.55 }}&gt;&#13;&#10;                        弹出 fc.weight / fc.bias（1000 类不适用）&#13;&#10;                    &lt;/Text&gt;&#13;&#10;                &lt;/Box&gt;&#13;&#10;                &lt;Box style={{ flexDirection: 'row', gap: 10, alignItems: 'flex-start' }}&gt;&#13;&#10;                    &lt;Box style={{ width: 32, height: 32, background: '#1E4FA8', borderRadius: 16, justifyContent: 'center', alignItems: 'center' }}&gt;&#13;&#10;                        &lt;Text style={{ fontSize: 17, fontWeight: 'bold', color: '#FFFFFF' }}&gt;3&lt;/Text&gt;&#13;&#10;                    &lt;/Box&gt;&#13;&#10;                    &lt;Text style={{ flex: 1, fontSize: 17, color: '#4A5568', lineHeight: 1.55 }}&gt;&#13;&#10;                        换上新的 512 → 3 分类头，随机初始化后训练&#13;&#10;                    &lt;/Text&gt;&#13;&#10;                &lt;/Box&gt;&#13;&#10;                &lt;Box style={{ background: '#FFF8E1', borderRadius: 6, padding: 10, marginTop: 'auto' }}&gt;&#13;&#10;                    &lt;Text style={{ fontSize: 16, color: '#1A2230', lineHeight: 1.5 }}&gt;&#13;&#10;                        &lt;span style={{ fontWeight: 'bold' }}&gt;提醒：&lt;/span&gt;strict=False 是关键，它容忍分类头形状不匹配。&#13;&#10;                    &lt;/Text&gt;&#13;&#10;                &lt;/Box&gt;&#13;&#10;            &lt;/Box&gt;&#13;&#10;        &lt;/Box&gt;&#13;&#10;&#13;&#10;        &lt;Box style={{ flex: 1, gap: 12 }}&gt;&#13;&#10;            &lt;Box style={{ flexDirection: 'row', alignItems: 'center', gap: 12, background: '#E8EFF8', borderRadius: 8, paddingLeft: 16, paddingTop: 9, paddingBottom: 9 }}&gt;&#13;&#10;                &lt;FAIcon name='info-circle' style={{ fill: '#1E4FA8', width: 24, height: 24 }} /&gt;&#13;&#10;                &lt;Text style={{ fontSize: 19, fontWeight: 'bold', color: '#0E3F8C' }}&gt;核心代码只有十几行，但每一行都有讲究&lt;/Text&gt;&#13;&#10;            &lt;/Box&gt;&#13;&#10;&#13;&#10;            &lt;CodeBlock&#13;&#10;                code={`# 1) 残差块的前向：先卷积，再相加，最后激活&#13;&#10;class BasicBlock(nn.Module):&#13;&#10;    def forward(self, x):&#13;&#10;        identity = x                    # 保住原始输入&#13;&#10;        out = self.relu(self.bn1(self.conv1(x)))&#13;&#10;        out = self.bn2(self.conv2(out))&#13;&#10;        if self.downsample is not None: # 尺寸/通道不一致时投影&#13;&#10;            identity = self.downsample(x)&#13;&#10;        out += identity                 # ← 就是这一行&#13;&#10;        return self.relu(out)&#13;&#10;&#13;&#10;# 2) 载入 ImageNet 预训练权重，只替换分类头&#13;&#10;from torchvision import models as tv_models&#13;&#10;w = tv_models.ResNet18_Weights.IMAGENET1K_V1&#13;&#10;state = tv_models.resnet18(weights=w).state_dict()&#13;&#10;state.pop(&quot;fc.weight&quot;); state.pop(&quot;fc.bias&quot;)&#13;&#10;model.load_state_dict(state, strict=False)&#13;&#10;model.fc = nn.Linear(512, num_classes)  # 512 -&gt; 3`}&#13;&#10;                language='python'&#13;&#10;                width={800}&#13;&#10;                fontSize={12}&#13;&#10;                theme='github-light'&#13;&#10;            /&gt;&#13;&#10;&#13;&#10;            &lt;Box style={{ flex: 1, background: '#FFFFFF', border: '1px solid #D6DCE5', borderLeft: '5px solid #FFC107', borderRadius: 8, padding: 14, gap: 6 }}&gt;&#13;&#10;                &lt;Text style={{ fontSize: 20, fontWeight: 'bold', color: '#0E3F8C' }}&gt;迁移带来的实际收益&lt;/Text&gt;&#13;&#10;                &lt;Text style={{ fontSize: 17, color: '#4A5568', lineHeight: 1.6 }}&gt;&#13;&#10;                    预训练权重把&quot;看见了什么&quot;的通用能力带进来，模型只需专注学习&quot;超声图像上的良恶性差别&quot;。这也是本项目所有 ResNet 与 ViT 都默认开启预训练的原因。&#13;&#10;                &lt;/Text&gt;&#13;&#10;            &lt;/Box&gt;&#13;&#10;        &lt;/Box&gt;&#13;&#10;    &lt;/Box&gt;&#13;&#10;&#13;&#10;    &lt;Box style={{ height: 40, flexDirection: 'row', alignItems: 'center', justifyContent: 'space-between', paddingLeft: 40, paddingRight: 40, borderTop: '1px solid #E5E7EB' }}&gt;&#13;&#10;        &lt;Text style={{ fontSize: 14, color: '#8B97A8' }}&gt;BUSI 乳腺超声图像分类 · 乳腺癌智能诊断&lt;/Text&gt;&#13;&#10;        &lt;Text style={{ fontSize: 14, color: '#1E4FA8' }}&gt;16 / 3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2743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代码实现与迁移学习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0001250" y="2667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>03 ResNet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：深度残差网络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381000" y="914400"/>
            <a:ext cx="3390900" cy="1943100"/>
          </a:xfrm>
          <a:prstGeom prst="roundRect">
            <a:avLst>
              <a:gd name="adj" fmla="val 4902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52450" y="1085850"/>
            <a:ext cx="3048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迁移学习：小数据的救命稻草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52450" y="1438275"/>
            <a:ext cx="3048000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CFE0F7"/>
                </a:solidFill>
                <a:latin typeface="Microsoft YaHei"/>
                <a:ea typeface="Microsoft YaHei"/>
              </a:rPr>
              <a:t xml:space="preserve">546 </a:t>
            </a:r>
            <a:r>
              <a:rPr lang="zh-CN" sz="1275">
                <a:solidFill>
                  <a:srgbClr val="CFE0F7"/>
                </a:solidFill>
                <a:latin typeface="Microsoft YaHei"/>
                <a:ea typeface="Microsoft YaHei"/>
              </a:rPr>
              <a:t>张训练图不可能从头训出可靠的卷积核。加载</a:t>
            </a:r>
            <a:r>
              <a:rPr lang="en-US" sz="1275">
                <a:solidFill>
                  <a:srgbClr val="CFE0F7"/>
                </a:solidFill>
                <a:latin typeface="Microsoft YaHei"/>
                <a:ea typeface="Microsoft YaHei"/>
              </a:rPr>
              <a:t xml:space="preserve"> ImageNet </a:t>
            </a:r>
            <a:r>
              <a:rPr lang="zh-CN" sz="1275">
                <a:solidFill>
                  <a:srgbClr val="CFE0F7"/>
                </a:solidFill>
                <a:latin typeface="Microsoft YaHei"/>
                <a:ea typeface="Microsoft YaHei"/>
              </a:rPr>
              <a:t>预训练权重，让模型复用已经学好的边缘、纹理与形状检测器。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381000" y="2971800"/>
            <a:ext cx="3390900" cy="3314700"/>
          </a:xfrm>
          <a:prstGeom prst="roundRect">
            <a:avLst>
              <a:gd name="adj" fmla="val 2874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33400" y="3124200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三步迁移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533400" y="34671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38175" y="352425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933450" y="3467100"/>
            <a:ext cx="268605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载入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torchvision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的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ImageNet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权重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533400" y="38671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38175" y="39243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933450" y="3867150"/>
            <a:ext cx="26860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弹出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fc.weight / fc.bias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1000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类不适用）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533400" y="45720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38175" y="462915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933450" y="4572000"/>
            <a:ext cx="26860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换上新的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512 → 3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分类头，随机初始化后训练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533400" y="5391150"/>
            <a:ext cx="3086100" cy="742950"/>
          </a:xfrm>
          <a:prstGeom prst="roundRect">
            <a:avLst>
              <a:gd name="adj" fmla="val 7692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28650" y="5486400"/>
            <a:ext cx="2895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提醒：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strict=False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是关键，它容忍分类头形状不匹配。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4000500" y="914400"/>
            <a:ext cx="7810500" cy="400050"/>
          </a:xfrm>
          <a:prstGeom prst="roundRect">
            <a:avLst>
              <a:gd name="adj" fmla="val 19048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152900" y="1000125"/>
            <a:ext cx="228600" cy="228600"/>
          </a:xfrm>
          <a:prstGeom prst="rect">
            <a:avLst/>
          </a:prstGeom>
          <a:ln/>
        </p:spPr>
      </p:pic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495800" y="1009650"/>
            <a:ext cx="3257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核心代码只有十几行，但每一行都有讲究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4048125" y="5267325"/>
            <a:ext cx="781050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4048125" y="5267325"/>
            <a:ext cx="7810500" cy="1181100"/>
          </a:xfrm>
          <a:custGeom>
            <a:pathLst>
              <a:path w="820" h="124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21"/>
                </a:lnTo>
                <a:cubicBezTo>
                  <a:pt x="5" y="123"/>
                  <a:pt x="6" y="124"/>
                  <a:pt x="8" y="124"/>
                </a:cubicBezTo>
                <a:cubicBezTo>
                  <a:pt x="3" y="124"/>
                  <a:pt x="0" y="120"/>
                  <a:pt x="0" y="11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181475" y="5400675"/>
            <a:ext cx="7496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迁移带来的实际收益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181475" y="5686425"/>
            <a:ext cx="74961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预训练权重把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看见了什么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的通用能力带进来，模型只需专注学习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超声图像上的良恶性差别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。这也是本项目所有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ResNet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ViT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都默认开启预训练的原因。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16 / 38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4000500" y="1428750"/>
            <a:ext cx="7810500" cy="3724275"/>
          </a:xfrm>
          <a:prstGeom prst="roundRect">
            <a:avLst>
              <a:gd name="adj" fmla="val 2046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191" name=""/>
          <p:cNvSpPr txBox="1"/>
          <p:nvPr/>
        </p:nvSpPr>
        <p:spPr>
          <a:xfrm rot="0" flipH="0" flipV="0">
            <a:off x="4152900" y="1562100"/>
            <a:ext cx="7505700" cy="3457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# 1) 残差块的前向：先卷积，再相加，最后激活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class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6F42C1"/>
                </a:solidFill>
                <a:latin typeface="Menlo"/>
                <a:ea typeface="Menlo"/>
              </a:rPr>
              <a:t>BasicBlock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(</a:t>
            </a:r>
            <a:r>
              <a:rPr sz="900">
                <a:solidFill>
                  <a:srgbClr val="6F42C1"/>
                </a:solidFill>
                <a:latin typeface="Menlo"/>
                <a:ea typeface="Menlo"/>
              </a:rPr>
              <a:t>nn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.</a:t>
            </a:r>
            <a:r>
              <a:rPr sz="900">
                <a:solidFill>
                  <a:srgbClr val="6F42C1"/>
                </a:solidFill>
                <a:latin typeface="Menlo"/>
                <a:ea typeface="Menlo"/>
              </a:rPr>
              <a:t>Module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):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   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def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6F42C1"/>
                </a:solidFill>
                <a:latin typeface="Menlo"/>
                <a:ea typeface="Menlo"/>
              </a:rPr>
              <a:t>forward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(self, x):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       identity 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x                    </a:t>
            </a: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# 保住原始输入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       out 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self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.relu(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self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.bn1(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self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.conv1(x)))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       out 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self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.bn2(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self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.conv2(out))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       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if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self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.downsample 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is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not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None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: </a:t>
            </a: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# 尺寸/通道不一致时投影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           identity 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self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.downsample(x)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       out 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+=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identity                 </a:t>
            </a: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# ← 就是这一行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       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return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self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.relu(out)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# 2) 载入 ImageNet 预训练权重，只替换分类头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from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torchvision 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import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models 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as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tv_models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w 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tv_models.ResNet18_Weights.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IMAGENET1K_V1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state 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tv_models.resnet18(</a:t>
            </a:r>
            <a:r>
              <a:rPr sz="900">
                <a:solidFill>
                  <a:srgbClr val="E36209"/>
                </a:solidFill>
                <a:latin typeface="Menlo"/>
                <a:ea typeface="Menlo"/>
              </a:rPr>
              <a:t>weights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w).state_dict()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state.pop(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"fc.weight"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); state.pop(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"fc.bias"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model.load_state_dict(state, </a:t>
            </a:r>
            <a:r>
              <a:rPr sz="900">
                <a:solidFill>
                  <a:srgbClr val="E36209"/>
                </a:solidFill>
                <a:latin typeface="Menlo"/>
                <a:ea typeface="Menlo"/>
              </a:rPr>
              <a:t>strict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False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model.fc 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nn.Linear(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512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, num_classes)  </a:t>
            </a: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# 512 -&gt; 3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92" name="" descr="&lt;Slide style={{ padding: 0, background: '#0E3F8C', fontFamily: 'Microsoft YaHei' }}&gt;&#10;    &lt;svg width={1280} height={720} viewBox='0 0 1280 720' style={{ position: 'absolute', top: 0, left: 0, opacity: 0.18 }}&gt;&#10;        &lt;rect x='820' y='190' width='400' height='400' rx='12' fill='none' stroke='#8FC0F0' strokeWidth='3' /&gt;&#10;        &lt;path d='M920 190 V 590 M1020 190 V 590 M1120 190 V 590' stroke='#8FC0F0' strokeWidth='2' /&gt;&#10;        &lt;path d='M820 290 H 1220 M820 390 H 1220 M820 490 H 1220' stroke='#8FC0F0' strokeWidth='2' /&gt;&#10;        &lt;circle cx='870' cy='240' r='14' fill='#8FC0F0' /&gt;&#10;        &lt;circle cx='1070' cy='440' r='14' fill='#8FC0F0' /&gt;&#10;        &lt;circle cx='1170' cy='340' r='14' fill='#8FC0F0' /&gt;&#10;        &lt;path d='M884 240 L 1056 440' stroke='#8FC0F0' strokeWidth='2' /&gt;&#10;        &lt;path d='M884 248 L 1156 338' stroke='#8FC0F0' strokeWidth='2' /&gt;&#10;    &lt;/svg&gt;&#10;    &lt;Box style={{ width: '100%', height: '100%', paddingTop: 84, paddingLeft: 72, paddingRight: 72, paddingBottom: 72, justifyContent: 'space-between' }}&gt;&#10;        &lt;Box style={{ flexDirection: 'row', alignItems: 'center', gap: 40 }}&gt;&#10;            &lt;Text style={{ fontSize: 200, fontWeight: 'bold', color: '#3D7BD9', lineHeight: 1 }}&gt;&#10;                04&#10;            &lt;/Text&gt;&#10;            &lt;Box style={{ width: 3, height: 150, background: 'rgba(255,255,255,0.35)' }} /&gt;&#10;            &lt;Box style={{ gap: 14 }}&gt;&#10;                &lt;Text style={{ fontSize: 50, fontWeight: 'bold', color: '#FFFFFF', letterSpacing: 3 }}&gt;&#10;                    ViT：视觉 Transformer&#10;                &lt;/Text&gt;&#10;                &lt;Text style={{ fontFamily: 'Times New Roman', fontSize: 21, color: '#8FC0F0', letterSpacing: 1 }}&gt;&#10;                    An Image is Worth 16x16 Words · Dosovitskiy et al., 2020&#10;                &lt;/Text&gt;&#10;                &lt;Text style={{ fontSize: 21, color: '#CFE0F7', lineHeight: 1.6 }}&gt;&#10;                    把图像切成 196 个小块，当成 196 个单词交给 Transformer。&#10;                &lt;/Text&gt;&#10;            &lt;/Box&gt;&#10;        &lt;/Box&gt;&#10;&#10;        &lt;Box style={{ flexDirection: 'row', gap: 24 }}&gt;&#10;            &lt;Box style={{ flex: 1, background: 'rgba(255,255,255,0.10)', border: '1px solid rgba(255,255,255,0.22)', borderRadius: 10, padding: 26, gap: 10 }}&gt;&#10;                &lt;Text style={{ fontSize: 22, fontWeight: 'bold', color: '#FFC107' }}&gt;从局部到全局&lt;/Text&gt;&#10;                &lt;Text style={{ fontSize: 18, color: '#DCE8F7', lineHeight: 1.6 }}&gt;&#10;                    卷积只看邻域，自注意力第一层就能把全图任意两个位置关联起来。&#10;                &lt;/Text&gt;&#10;            &lt;/Box&gt;&#10;            &lt;Box style={{ flex: 1, background: 'rgba(255,255,255,0.10)', border: '1px solid rgba(255,255,255,0.22)', borderRadius: 10, padding: 26, gap: 10 }}&gt;&#10;                &lt;Text style={{ fontSize: 22, fontWeight: 'bold', color: '#FFC107' }}&gt;分块与位置&lt;/Text&gt;&#10;                &lt;Text style={{ fontSize: 18, color: '#DCE8F7', lineHeight: 1.6 }}&gt;&#10;                    16×16 Patch Embedding 把 224×224 图变成 196 个 token，再加可学习位置编码。&#10;                &lt;/Text&gt;&#10;            &lt;/Box&gt;&#10;            &lt;Box style={{ flex: 1, background: 'rgba(255,255,255,0.10)', border: '1px solid rgba(255,255,255,0.22)', borderRadius: 10, padding: 26, gap: 10 }}&gt;&#10;                &lt;Text style={{ fontSize: 22, fontWeight: 'bold', color: '#FFC107' }}&gt;代价与边界&lt;/Text&gt;&#10;                &lt;Text style={{ fontSize: 18, color: '#DCE8F7', lineHeight: 1.6 }}&gt;&#10;                    少了卷积的归纳偏置，需要更大的数据量才能学会&quot;看图&quot;的先验。&#10;                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85800" y="8001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3D7BD9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3419475" y="1228725"/>
            <a:ext cx="28575" cy="142875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3829050" y="1209675"/>
            <a:ext cx="5838825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 spc="225">
                <a:solidFill>
                  <a:srgbClr val="FFFFFF"/>
                </a:solidFill>
                <a:latin typeface="Microsoft YaHei"/>
                <a:ea typeface="Microsoft YaHei"/>
              </a:rPr>
              <a:t>ViT</a:t>
            </a:r>
            <a:r>
              <a:rPr lang="zh-CN" sz="3750" b="1" spc="225">
                <a:solidFill>
                  <a:srgbClr val="FFFFFF"/>
                </a:solidFill>
                <a:latin typeface="Microsoft YaHei"/>
                <a:ea typeface="Microsoft YaHei"/>
              </a:rPr>
              <a:t>：视觉</a:t>
            </a:r>
            <a:r>
              <a:rPr lang="en-US" sz="3750" b="1" spc="225">
                <a:solidFill>
                  <a:srgbClr val="FFFFFF"/>
                </a:solidFill>
                <a:latin typeface="Microsoft YaHei"/>
                <a:ea typeface="Microsoft YaHei"/>
              </a:rPr>
              <a:t xml:space="preserve"> Transformer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3829050" y="1914525"/>
            <a:ext cx="5838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spc="75">
                <a:solidFill>
                  <a:srgbClr val="8FC0F0"/>
                </a:solidFill>
                <a:latin typeface="Times New Roman"/>
                <a:ea typeface="Times New Roman"/>
              </a:rPr>
              <a:t>An Image is Worth 16x16 Words · Dosovitskiy et al., 2020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3829050" y="2295525"/>
            <a:ext cx="5838825" cy="390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CFE0F7"/>
                </a:solidFill>
                <a:latin typeface="Microsoft YaHei"/>
                <a:ea typeface="Microsoft YaHei"/>
              </a:rPr>
              <a:t>把图像切成</a:t>
            </a:r>
            <a:r>
              <a:rPr lang="en-US" sz="1575">
                <a:solidFill>
                  <a:srgbClr val="CFE0F7"/>
                </a:solidFill>
                <a:latin typeface="Microsoft YaHei"/>
                <a:ea typeface="Microsoft YaHei"/>
              </a:rPr>
              <a:t xml:space="preserve"> 196 </a:t>
            </a:r>
            <a:r>
              <a:rPr lang="zh-CN" sz="1575">
                <a:solidFill>
                  <a:srgbClr val="CFE0F7"/>
                </a:solidFill>
                <a:latin typeface="Microsoft YaHei"/>
                <a:ea typeface="Microsoft YaHei"/>
              </a:rPr>
              <a:t>个小块，当成</a:t>
            </a:r>
            <a:r>
              <a:rPr lang="en-US" sz="1575">
                <a:solidFill>
                  <a:srgbClr val="CFE0F7"/>
                </a:solidFill>
                <a:latin typeface="Microsoft YaHei"/>
                <a:ea typeface="Microsoft YaHei"/>
              </a:rPr>
              <a:t xml:space="preserve"> 196 </a:t>
            </a:r>
            <a:r>
              <a:rPr lang="zh-CN" sz="1575">
                <a:solidFill>
                  <a:srgbClr val="CFE0F7"/>
                </a:solidFill>
                <a:latin typeface="Microsoft YaHei"/>
                <a:ea typeface="Microsoft YaHei"/>
              </a:rPr>
              <a:t>个单词交给</a:t>
            </a:r>
            <a:r>
              <a:rPr lang="en-US" sz="1575">
                <a:solidFill>
                  <a:srgbClr val="CFE0F7"/>
                </a:solidFill>
                <a:latin typeface="Microsoft YaHei"/>
                <a:ea typeface="Microsoft YaHei"/>
              </a:rPr>
              <a:t xml:space="preserve"> Transformer</a:t>
            </a:r>
            <a:r>
              <a:rPr lang="zh-CN" sz="1575">
                <a:solidFill>
                  <a:srgbClr val="CFE0F7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685800" y="4333875"/>
            <a:ext cx="3457575" cy="1838325"/>
          </a:xfrm>
          <a:prstGeom prst="roundRect">
            <a:avLst>
              <a:gd name="adj" fmla="val 518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933450" y="4581525"/>
            <a:ext cx="2962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从局部到全局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933450" y="4933950"/>
            <a:ext cx="29622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卷积只看邻域，自注意力第一层就能把全图任意两个位置关联起来。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4371975" y="4333875"/>
            <a:ext cx="3448050" cy="1838325"/>
          </a:xfrm>
          <a:prstGeom prst="roundRect">
            <a:avLst>
              <a:gd name="adj" fmla="val 518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619625" y="4581525"/>
            <a:ext cx="2952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分块与位置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619625" y="4933950"/>
            <a:ext cx="295275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16×16 Patch Embedding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把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 224×224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图变成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 196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个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 token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，再加可学习位置编码。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8048625" y="4333875"/>
            <a:ext cx="3457575" cy="1838325"/>
          </a:xfrm>
          <a:prstGeom prst="roundRect">
            <a:avLst>
              <a:gd name="adj" fmla="val 518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296275" y="4581525"/>
            <a:ext cx="2962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代价与边界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296275" y="4933950"/>
            <a:ext cx="29622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少了卷积的归纳偏置，需要更大的数据量才能学会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看图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的先验。</a:t>
            </a:r>
            <a:endParaRPr/>
          </a:p>
        </p:txBody>
      </p:sp>
      <p:pic>
        <p:nvPicPr>
          <p:cNvPr id="208" name="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09" name="" descr="&lt;Slide style={{ padding: 0, background: '#FFFFFF', fontFamily: 'Microsoft YaHei' }}&gt;&#10;    &lt;Box style={{ width: '100%', height: 76, background: '#0E3F8C', flexDirection: 'row', alignItems: 'center', justifyContent: 'space-between', paddingLeft: 40, paddingRight: 40 }}&gt;&#10;        &lt;Box style={{ flexDirection: 'row', alignItems: 'center', gap: 16 }}&gt;&#10;            &lt;Box style={{ width: 6, height: 34, background: '#FFC107' }} /&gt;&#10;            &lt;Text style={{ fontSize: 32, fontWeight: 'bold', color: '#FFFFFF' }}&gt;从卷积到注意力：归纳偏置的取舍&lt;/Text&gt;&#10;        &lt;/Box&gt;&#10;        &lt;Text style={{ fontSize: 16, color: '#8FC0F0' }}&gt;04 ViT：视觉 Transformer&lt;/Text&gt;&#10;    &lt;/Box&gt;&#10;&#10;    &lt;Box style={{ flex: 1, flexDirection: 'row', gap: 24, paddingTop: 20, paddingLeft: 40, paddingRight: 40, paddingBottom: 20 }}&gt;&#10;        &lt;Box style={{ width: 700, background: '#F7F9FC', border: '1px solid #D6DCE5', borderRadius: 10, padding: 10, alignItems: 'center', justifyContent: 'center' }}&gt;&#10;            &lt;svg width={680} height={470} viewBox='0 0 680 470'&gt;&#10;                &lt;text x='170' y='26' fill='#0E3F8C' font-size='19' font-weight='bold' text-anchor='middle' font-family='Microsoft YaHei'&gt;卷积：局部感受野&lt;/text&gt;&#10;                &lt;text x='510' y='26' fill='#D9534F' font-size='19' font-weight='bold' text-anchor='middle' font-family='Microsoft YaHei'&gt;自注意力：全局关联&lt;/text&gt;&#10;&#10;                &lt;g&gt;&#10;                    &lt;rect x='40' y='50' width='280' height='280' rx='6' fill='#FFFFFF' stroke='#D6DCE5' strokeWidth='2' /&gt;&#10;                    &lt;rect x='70' y='66' width='34' height='34' fill='#F5F7FA' stroke='#D6DCE5' strokeWidth='1' /&gt;&#10;                    &lt;rect x='104' y='66' width='34' height='34' fill='#F5F7FA' stroke='#D6DCE5' strokeWidth='1' /&gt;&#10;                    &lt;rect x='138' y='66' width='34' height='34' fill='#F5F7FA' stroke='#D6DCE5' strokeWidth='1' /&gt;&#10;                    &lt;rect x='172' y='66' width='34' height='34' fill='#F5F7FA' stroke='#D6DCE5' strokeWidth='1' /&gt;&#10;                    &lt;rect x='206' y='66' width='34' height='34' fill='#F5F7FA' stroke='#D6DCE5' strokeWidth='1' /&gt;&#10;                    &lt;rect x='240' y='66' width='34' height='34' fill='#F5F7FA' stroke='#D6DCE5' strokeWidth='1' /&gt;&#10;                    &lt;rect x='274' y='66' width='34' height='34' fill='#F5F7FA' stroke='#D6DCE5' strokeWidth='1' /&gt;&#10;                    &lt;rect x='70' y='100' width='34' height='34' fill='#F5F7FA' stroke='#D6DCE5' strokeWidth='1' /&gt;&#10;                    &lt;rect x='104' y='100' width='34' height='34' fill='#F5F7FA' stroke='#D6DCE5' strokeWidth='1' /&gt;&#10;                    &lt;rect x='138' y='100' width='34' height='34' fill='#F5F7FA' stroke='#D6DCE5' strokeWidth='1' /&gt;&#10;                    &lt;rect x='172' y='100' width='34' height='34' fill='#F5F7FA' stroke='#D6DCE5' strokeWidth='1' /&gt;&#10;                    &lt;rect x='206' y='100' width='34' height='34' fill='#F5F7FA' stroke='#D6DCE5' strokeWidth='1' /&gt;&#10;                    &lt;rect x='240' y='100' width='34' height='34' fill='#F5F7FA' stroke='#D6DCE5' strokeWidth='1' /&gt;&#10;                    &lt;rect x='274' y='100' width='34' height='34' fill='#F5F7FA' stroke='#D6DCE5' strokeWidth='1' /&gt;&#10;                    &lt;rect x='70' y='134' width='34' height='34' fill='#F5F7FA' stroke='#D6DCE5' strokeWidth='1' /&gt;&#10;                    &lt;rect x='104' y='134' width='34' height='34' fill='#F5F7FA' stroke='#D6DCE5' strokeWidth='1' /&gt;&#10;                    &lt;rect x='138' y='134' width='102' height='102' fill='#E8EFF8' stroke='#1E4FA8' strokeWidth='3' /&gt;&#10;                    &lt;rect x='240' y='134' width='34' height='34' fill='#F5F7FA' stroke='#D6DCE5' strokeWidth='1' /&gt;&#10;                    &lt;rect x='274' y='134' width='34' height='34' fill='#F5F7FA' stroke='#D6DCE5' strokeWidth='1' /&gt;&#10;                    &lt;rect x='70' y='168' width='34' height='34' fill='#F5F7FA' stroke='#D6DCE5' strokeWidth='1' /&gt;&#10;                    &lt;rect x='240' y='168' width='34' height='34' fill='#F5F7FA' stroke='#D6DCE5' strokeWidth='1' /&gt;&#10;                    &lt;rect x='274' y='168' width='34' height='34' fill='#F5F7FA' stroke='#D6DCE5' strokeWidth='1' /&gt;&#10;                    &lt;rect x='70' y='202' width='34' height='34' fill='#F5F7FA' stroke='#D6DCE5' strokeWidth='1' /&gt;&#10;                    &lt;rect x='240' y='202' width='34' height='34' fill='#F5F7FA' stroke='#D6DCE5' strokeWidth='1' /&gt;&#10;                    &lt;rect x='274' y='202' width='34' height='34' fill='#F5F7FA' stroke='#D6DCE5' strokeWidth='1' /&gt;&#10;                    &lt;rect x='70' y='236' width='34' height='34' fill='#F5F7FA' stroke='#D6DCE5' strokeWidth='1' /&gt;&#10;                    &lt;rect x='104' y='236' width='34' height='34' fill='#F5F7FA' stroke='#D6DCE5' strokeWidth='1' /&gt;&#10;                    &lt;rect x='138' y='236' width='34' height='34' fill='#F5F7FA' stroke='#D6DCE5' strokeWidth='1' /&gt;&#10;                    &lt;rect x='172' y='236' width='34' height='34' fill='#F5F7FA' stroke='#D6DCE5' strokeWidth='1' /&gt;&#10;                    &lt;rect x='206' y='236' width='34' height='34' fill='#F5F7FA' stroke='#D6DCE5' strokeWidth='1' /&gt;&#10;                    &lt;rect x='240' y='236' width='34' height='34' fill='#F5F7FA' stroke='#D6DCE5' strokeWidth='1' /&gt;&#10;                    &lt;rect x='274' y='236' width='34' height='34' fill='#F5F7FA' stroke='#D6DCE5' strokeWidth='1' /&gt;&#10;                    &lt;rect x='70' y='270' width='34' height='34' fill='#F5F7FA' stroke='#D6DCE5' strokeWidth='1' /&gt;&#10;                    &lt;rect x='104' y='270' width='34' height='34' fill='#F5F7FA' stroke='#D6DCE5' strokeWidth='1' /&gt;&#10;                    &lt;rect x='138' y='270' width='34' height='34' fill='#F5F7FA' stroke='#D6DCE5' strokeWidth='1' /&gt;&#10;                    &lt;rect x='172' y='270' width='34' height='34' fill='#F5F7FA' stroke='#D6DCE5' strokeWidth='1' /&gt;&#10;                    &lt;rect x='206' y='270' width='34' height='34' fill='#F5F7FA' stroke='#D6DCE5' strokeWidth='1' /&gt;&#10;                    &lt;rect x='240' y='270' width='34' height='34' fill='#F5F7FA' stroke='#D6DCE5' strokeWidth='1' /&gt;&#10;                    &lt;rect x='274' y='270' width='34' height='34' fill='#F5F7FA' stroke='#D6DCE5' strokeWidth='1' /&gt;&#10;                    &lt;text x='180' y='356' fill='#1E4FA8' font-size='17' text-anchor='middle' font-family='Microsoft YaHei'&gt;每层只聚合 3×3 邻域，靠堆叠扩大视野&lt;/text&gt;&#10;                    &lt;text x='180' y='382' fill='#4A5568' font-size='16' text-anchor='middle' font-family='Microsoft YaHei'&gt;卷积核在全图共享权重&lt;/text&gt;&#10;                &lt;/g&gt;&#10;&#10;                &lt;path d='M336 200 H 366' stroke='#8B97A8' strokeWidth='3' /&gt;&#10;                &lt;path d='M356 192 L 368 200 L 356 208' fill='#8B97A8' /&gt;&#10;&#10;                &lt;g&gt;&#10;                    &lt;rect x='380' y='50' width='280' height='280' rx='6' fill='#FFFFFF' stroke='#D6DCE5' strokeWidth='2' /&gt;&#10;                    &lt;rect x='410' y='66' width='34' height='34' fill='#F5F7FA' stroke='#D6DCE5' strokeWidth='1' /&gt;&#10;                    &lt;rect x='444' y='66' width='34' height='34' fill='#FDECEC' stroke='#D9534F' strokeWidth='2' /&gt;&#10;                    &lt;rect x='478' y='66' width='34' height='34' fill='#F5F7FA' stroke='#D6DCE5' strokeWidth='1' /&gt;&#10;                    &lt;rect x='512' y='66' width='34' height='34' fill='#F5F7FA' stroke='#D6DCE5' strokeWidth='1' /&gt;&#10;                    &lt;rect x='546' y='66' width='34' height='34' fill='#F5F7FA' stroke='#D6DCE5' strokeWidth='1' /&gt;&#10;                    &lt;rect x='580' y='66' width='34' height='34' fill='#FDECEC' stroke='#D9534F' strokeWidth='2' /&gt;&#10;                    &lt;rect x='614' y='66' width='34' height='34' fill='#F5F7FA' stroke='#D6DCE5' strokeWidth='1' /&gt;&#10;                    &lt;rect x='410' y='100' width='34' height='34' fill='#F5F7FA' stroke='#D6DCE5' strokeWidth='1' /&gt;&#10;                    &lt;rect x='444' y='100' width='34' height='34' fill='#F5F7FA' stroke='#D6DCE5' strokeWidth='1' /&gt;&#10;                    &lt;rect x='478' y='100' width='34' height='34' fill='#F5F7FA' stroke='#D6DCE5' strokeWidth='1' /&gt;&#10;                    &lt;rect x='512' y='100' width='34' height='34' fill='#F5F7FA' stroke='#D6DCE5' strokeWidth='1' /&gt;&#10;                    &lt;rect x='546' y='100' width='34' height='34' fill='#F5F7FA' stroke='#D6DCE5' strokeWidth='1' /&gt;&#10;                    &lt;rect x='580' y='100' width='34' height='34' fill='#F5F7FA' stroke='#D6DCE5' strokeWidth='1' /&gt;&#10;                    &lt;rect x='614' y='100' width='34' height='34' fill='#F5F7FA' stroke='#D6DCE5' strokeWidth='1' /&gt;&#10;                    &lt;rect x='410' y='134' width='34' height='34' fill='#F5F7FA' stroke='#D6DCE5' strokeWidth='1' /&gt;&#10;                    &lt;rect x='444' y='134' width='34' height='34' fill='#F5F7FA' stroke='#D6DCE5' strokeWidth='1' /&gt;&#10;                    &lt;rect x='478' y='134' width='102' height='102' fill='#FFC107' stroke='#0E3F8C' strokeWidth='3' /&gt;&#10;                    &lt;rect x='580' y='134' width='34' height='34' fill='#F5F7FA' stroke='#D6DCE5' strokeWidth='1' /&gt;&#10;                    &lt;rect x='614' y='134' width='34' height='34' fill='#F5F7FA' stroke='#D6DCE5' strokeWidth='1' /&gt;&#10;                    &lt;rect x='410' y='168' width='34' height='34' fill='#F5F7FA' stroke='#D6DCE5' strokeWidth='1' /&gt;&#10;                    &lt;rect x='580' y='168' width='34' height='34' fill='#F5F7FA' stroke='#D6DCE5' strokeWidth='1' /&gt;&#10;                    &lt;rect x='614' y='168' width='34' height='34' fill='#F5F7FA' stroke='#D6DCE5' strokeWidth='1' /&gt;&#10;                    &lt;rect x='410' y='202' width='34' height='34' fill='#F5F7FA' stroke='#D6DCE5' strokeWidth='1' /&gt;&#10;                    &lt;rect x='580' y='202' width='34' height='34' fill='#F5F7FA' stroke='#D6DCE5' strokeWidth='1' /&gt;&#10;                    &lt;rect x='614' y='202' width='34' height='34' fill='#F5F7FA' stroke='#D6DCE5' strokeWidth='1' /&gt;&#10;                    &lt;rect x='410' y='236' width='34' height='34' fill='#FDECEC' stroke='#D9534F' strokeWidth='2' /&gt;&#10;                    &lt;rect x='444' y='236' width='34' height='34' fill='#F5F7FA' stroke='#D6DCE5' strokeWidth='1' /&gt;&#10;                    &lt;rect x='478' y='236' width='34' height='34' fill='#F5F7FA' stroke='#D6DCE5' strokeWidth='1' /&gt;&#10;                    &lt;rect x='512' y='236' width='34' height='34' fill='#F5F7FA' stroke='#D6DCE5' strokeWidth='1' /&gt;&#10;                    &lt;rect x='546' y='236' width='34' height='34' fill='#F5F7FA' stroke='#D6DCE5' strokeWidth='1' /&gt;&#10;                    &lt;rect x='580' y='236' width='34' height='34' fill='#F5F7FA' stroke='#D6DCE5' strokeWidth='1' /&gt;&#10;                    &lt;rect x='614' y='236' width='34' height='34' fill='#FDECEC' stroke='#D9534F' strokeWidth='2' /&gt;&#10;                    &lt;rect x='410' y='270' width='34' height='34' fill='#F5F7FA' stroke='#D6DCE5' strokeWidth='1' /&gt;&#10;                    &lt;rect x='444' y='270' width='34' height='34' fill='#F5F7FA' stroke='#D6DCE5' strokeWidth='1' /&gt;&#10;                    &lt;rect x='478' y='270' width='34' height='34' fill='#F5F7FA' stroke='#D6DCE5' strokeWidth='1' /&gt;&#10;                    &lt;rect x='512' y='270' width='34' height='34' fill='#F5F7FA' stroke='#D6DCE5' strokeWidth='1' /&gt;&#10;                    &lt;rect x='546' y='270' width='34' height='34' fill='#F5F7FA' stroke='#D6DCE5' strokeWidth='1' /&gt;&#10;                    &lt;rect x='580' y='270' width='34' height='34' fill='#F5F7FA' stroke='#D6DCE5' strokeWidth='1' /&gt;&#10;                    &lt;rect x='614' y='270' width='34' height='34' fill='#F5F7FA' stroke='#D6DCE5' strokeWidth='1' /&gt;&#10;&#10;                    &lt;path d='M529 185 L 461 83' stroke='#D9534F' strokeWidth='2' /&gt;&#10;                    &lt;path d='M529 185 L 597 83' stroke='#D9534F' strokeWidth='2' /&gt;&#10;                    &lt;path d='M529 185 L 427 253' stroke='#D9534F' strokeWidth='2' /&gt;&#10;                    &lt;path d='M529 185 L 631 253' stroke='#D9534F' strokeWidth='2' /&gt;&#10;                    &lt;text x='520' y='356' fill='#D9534F' font-size='17' text-anchor='middle' font-family='Microsoft YaHei'&gt;第一层就与全图任意位置建立连接&lt;/text&gt;&#10;                    &lt;text x='520' y='382' fill='#4A5568' font-size='16' text-anchor='middle' font-family='Microsoft YaHei'&gt;关联强度由内容相似度动态决定&lt;/text&gt;&#10;                &lt;/g&gt;&#10;&#10;                &lt;rect x='60' y='404' width='560' height='52' rx='8' fill='#FFF8E1' stroke='#FFC107' strokeWidth='2' /&gt;&#10;                &lt;text x='340' y='427' fill='#1A2230' font-size='17' text-anchor='middle' font-family='Microsoft YaHei'&gt;卷积把&quot;局部性、平移等变&quot;写进了结构（归纳偏置）&lt;/text&gt;&#10;                &lt;text x='340' y='448' fill='#1E4FA8' font-size='17' font-weight='bold' text-anchor='middle' font-family='Microsoft YaHei'&gt;注意力什么都没假设，代价是必须自己从数据里学出来&lt;/text&gt;&#10;            &lt;/svg&gt;&#10;        &lt;/Box&gt;&#10;&#10;        &lt;Box style={{ flex: 1, gap: 12 }}&gt;&#10;            &lt;Box style={{ flexDirection: 'row', alignItems: 'center', gap: 12, background: '#E8EFF8', borderRadius: 8, paddingLeft: 16, paddingTop: 9, paddingBottom: 9 }}&gt;&#10;                &lt;FAIcon name='info-circle' style={{ fill: '#1E4FA8', width: 24, height: 24 }} /&gt;&#10;                &lt;Text style={{ fontSize: 19, fontWeight: 'bold', color: '#0E3F8C' }}&gt;&quot;看得更全&quot;就等于&quot;看得更好&quot;吗？&lt;/Text&gt;&#10;            &lt;/Box&gt;&#10;&#10;            &lt;Box style={{ flex: 1, background: '#FFFFFF', border: '1px solid #D6DCE5', borderLeft: '5px solid #1E4FA8', borderRadius: 8, padding: 14, gap: 6 }}&gt;&#10;                &lt;Text style={{ fontSize: 21, fontWeight: 'bold', color: '#0E3F8C' }}&gt;卷积的三条先天假设&lt;/Text&gt;&#10;                &lt;Text style={{ fontSize: 17, color: '#4A5568', lineHeight: 1.6 }}&gt;&#10;                    &lt;span style={{ fontWeight: 'bold' }}&gt;局部性&lt;/span&gt;：相邻像素关系更紧密；&lt;span style={{ fontWeight: 'bold' }}&gt;平移等变&lt;/span&gt;：同一特征换位置仍应被识别；&lt;span style={{ fontWeight: 'bold' }}&gt;权重共享&lt;/span&gt;：全图用同一套卷积核。&#10;                &lt;/Text&gt;&#10;            &lt;/Box&gt;&#10;&#10;            &lt;Box style={{ flex: 1, background: '#FFFFFF', border: '1px solid #D6DCE5', borderLeft: '5px solid #D9534F', borderRadius: 8, padding: 14, gap: 6 }}&gt;&#10;                &lt;Text style={{ fontSize: 21, fontWeight: 'bold', color: '#0E3F8C' }}&gt;注意力把这些假设全删了&lt;/Text&gt;&#10;                &lt;Text style={{ fontSize: 17, color: '#4A5568', lineHeight: 1.6 }}&gt;&#10;                    每个位置对所有位置做加权求和，权重由 Q 与 K 的相似度算出。更灵活，但参数自由度高得多，需要海量数据才能收敛到合理解。&#10;                &lt;/Text&gt;&#10;            &lt;/Box&gt;&#10;&#10;            &lt;Box style={{ flex: 1, background: '#FFF8E1', border: '1px solid #FFC107', borderLeft: '5px solid #FFC107', borderRadius: 8, padding: 14, gap: 6 }}&gt;&#10;                &lt;Text style={{ fontSize: 21, fontWeight: 'bold', color: '#0E3F8C' }}&gt;对本项目的直接含义&lt;/Text&gt;&#10;                &lt;Text style={{ fontSize: 17, color: '#4A5568', lineHeight: 1.6 }}&gt;&#10;                    只有 546 张训练图时，卷积的先天假设相当于&quot;免费的专业先验&quot;；而 ViT 必须从零学这些先验——这正是后面实验结果反转的根源。&#10;                &lt;/Text&gt;&#10;            &lt;/Box&gt;&#10;        &lt;/Box&gt;&#10;    &lt;/Box&gt;&#10;&#10;    &lt;Box style={{ height: 40, flexDirection: 'row', alignItems: 'center', justifyContent: 'space-between', paddingLeft: 40, paddingRight: 40, borderTop: '1px solid #E5E7EB' }}&gt;&#10;        &lt;Text style={{ fontSize: 14, color: '#8B97A8' }}&gt;BUSI 乳腺超声图像分类 · 乳腺癌智能诊断&lt;/Text&gt;&#10;        &lt;Text style={{ fontSize: 14, color: '#1E4FA8' }}&gt;18 / 3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1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4572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从卷积到注意力：归纳偏置的取舍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9972675" y="26670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>04 ViT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：视觉</a:t>
            </a: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 xml:space="preserve"> Transformer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381000" y="914400"/>
            <a:ext cx="6667500" cy="5372100"/>
          </a:xfrm>
          <a:prstGeom prst="roundRect">
            <a:avLst>
              <a:gd name="adj" fmla="val 177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362075"/>
            <a:ext cx="6477000" cy="4476750"/>
          </a:xfrm>
          <a:prstGeom prst="rect">
            <a:avLst/>
          </a:prstGeom>
          <a:ln/>
        </p:spPr>
      </p:pic>
      <p:sp>
        <p:nvSpPr>
          <p:cNvPr id="217" name=""/>
          <p:cNvSpPr/>
          <p:nvPr/>
        </p:nvSpPr>
        <p:spPr>
          <a:xfrm rot="0" flipH="0" flipV="0">
            <a:off x="7277100" y="914400"/>
            <a:ext cx="4533900" cy="400050"/>
          </a:xfrm>
          <a:prstGeom prst="roundRect">
            <a:avLst>
              <a:gd name="adj" fmla="val 19048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2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429500" y="1000125"/>
            <a:ext cx="228600" cy="228600"/>
          </a:xfrm>
          <a:prstGeom prst="rect">
            <a:avLst/>
          </a:prstGeom>
          <a:ln/>
        </p:spPr>
      </p:pic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772400" y="1009650"/>
            <a:ext cx="27336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看得更全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就等于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看得更好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吗？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7324725" y="1428750"/>
            <a:ext cx="4533900" cy="1343025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1" name=""/>
          <p:cNvSpPr/>
          <p:nvPr/>
        </p:nvSpPr>
        <p:spPr>
          <a:xfrm rot="0" flipH="0" flipV="0">
            <a:off x="7324725" y="1428750"/>
            <a:ext cx="4533900" cy="1343025"/>
          </a:xfrm>
          <a:custGeom>
            <a:pathLst>
              <a:path w="476" h="141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38"/>
                </a:lnTo>
                <a:cubicBezTo>
                  <a:pt x="5" y="140"/>
                  <a:pt x="6" y="141"/>
                  <a:pt x="8" y="141"/>
                </a:cubicBezTo>
                <a:cubicBezTo>
                  <a:pt x="3" y="141"/>
                  <a:pt x="0" y="137"/>
                  <a:pt x="0" y="13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7458075" y="1562100"/>
            <a:ext cx="4219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卷积的三条先天假设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7458075" y="1866900"/>
            <a:ext cx="42195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4A5568"/>
                </a:solidFill>
                <a:latin typeface="Microsoft YaHei"/>
                <a:ea typeface="Microsoft YaHei"/>
              </a:rPr>
              <a:t>局部性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：相邻像素关系更紧密；</a:t>
            </a:r>
            <a:r>
              <a:rPr lang="zh-CN" sz="1275" b="1">
                <a:solidFill>
                  <a:srgbClr val="4A5568"/>
                </a:solidFill>
                <a:latin typeface="Microsoft YaHei"/>
                <a:ea typeface="Microsoft YaHei"/>
              </a:rPr>
              <a:t>平移等变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：同一特征换位置仍应被识别；</a:t>
            </a:r>
            <a:r>
              <a:rPr lang="zh-CN" sz="1275" b="1">
                <a:solidFill>
                  <a:srgbClr val="4A5568"/>
                </a:solidFill>
                <a:latin typeface="Microsoft YaHei"/>
                <a:ea typeface="Microsoft YaHei"/>
              </a:rPr>
              <a:t>权重共享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：全图用同一套卷积核。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7324725" y="2886075"/>
            <a:ext cx="4533900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7324725" y="2886075"/>
            <a:ext cx="4533900" cy="1638300"/>
          </a:xfrm>
          <a:custGeom>
            <a:pathLst>
              <a:path w="476" h="172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69"/>
                </a:lnTo>
                <a:cubicBezTo>
                  <a:pt x="5" y="171"/>
                  <a:pt x="6" y="172"/>
                  <a:pt x="8" y="172"/>
                </a:cubicBezTo>
                <a:cubicBezTo>
                  <a:pt x="3" y="172"/>
                  <a:pt x="0" y="168"/>
                  <a:pt x="0" y="16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7458075" y="3019425"/>
            <a:ext cx="4219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注意力把这些假设全删了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7458075" y="3324225"/>
            <a:ext cx="42195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每个位置对所有位置做加权求和，权重由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Q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K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的相似度算出。更灵活，但参数自由度高得多，需要海量数据才能收敛到合理解。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7324725" y="4638675"/>
            <a:ext cx="4533900" cy="1647825"/>
          </a:xfrm>
          <a:prstGeom prst="roundRect">
            <a:avLst>
              <a:gd name="adj" fmla="val 4624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7324725" y="4638675"/>
            <a:ext cx="4533900" cy="1647825"/>
          </a:xfrm>
          <a:custGeom>
            <a:pathLst>
              <a:path w="476" h="173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70"/>
                </a:lnTo>
                <a:cubicBezTo>
                  <a:pt x="5" y="172"/>
                  <a:pt x="6" y="173"/>
                  <a:pt x="8" y="173"/>
                </a:cubicBezTo>
                <a:cubicBezTo>
                  <a:pt x="3" y="173"/>
                  <a:pt x="0" y="169"/>
                  <a:pt x="0" y="16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458075" y="4772025"/>
            <a:ext cx="4219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对本项目的直接含义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458075" y="5076825"/>
            <a:ext cx="42195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只有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546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张训练图时，卷积的先天假设相当于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免费的专业先验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；而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ViT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必须从零学这些先验——这正是后面实验结果反转的根源。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18 / 38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5" name="" descr="&lt;Slide style={{ padding: 0, background: '#FFFFFF', fontFamily: 'Microsoft YaHei' }}&gt;&#13;&#10;    &lt;Box style={{ width: '100%', height: 76, background: '#0E3F8C', flexDirection: 'row', alignItems: 'center', justifyContent: 'space-between', paddingLeft: 40, paddingRight: 40 }}&gt;&#13;&#10;        &lt;Box style={{ flexDirection: 'row', alignItems: 'center', gap: 16 }}&gt;&#13;&#10;            &lt;Box style={{ width: 6, height: 34, background: '#FFC107' }} /&gt;&#13;&#10;            &lt;Text style={{ fontSize: 32, fontWeight: 'bold', color: '#FFFFFF' }}&gt;ViT 整体框架：把图像当成一句话&lt;/Text&gt;&#13;&#10;        &lt;/Box&gt;&#13;&#10;        &lt;Text style={{ fontSize: 16, color: '#8FC0F0' }}&gt;04 ViT：视觉 Transformer&lt;/Text&gt;&#13;&#10;    &lt;/Box&gt;&#13;&#10;&#13;&#10;    &lt;Box style={{ height: 604, gap: 12, paddingTop: 18, paddingLeft: 40, paddingRight: 40, paddingBottom: 18 }}&gt;&#13;&#10;        &lt;Box style={{ background: '#F7F9FC', border: '1px solid #D6DCE5', borderRadius: 10, paddingTop: 6, paddingBottom: 6, alignItems: 'center' }}&gt;&#13;&#10;            &lt;svg width={1160} height={400} viewBox='0 0 1160 400'&gt;&#13;&#10;                &lt;text x='580' y='22' fill='#0E3F8C' font-size='19' font-weight='bold' text-anchor='middle' font-family='Microsoft YaHei'&gt;Vision Transformer 前向流程（ViT-B/16，输入 224 × 224）&lt;/text&gt;&#13;&#10;&#13;&#10;                &lt;rect x='20' y='120' width='96' height='96' fill='#FFFFFF' stroke='#1E4FA8' strokeWidth='2' /&gt;&#13;&#10;                &lt;path d='M44 120 V 216 M68 120 V 216 M92 120 V 216 M20 144 H 116 M20 168 H 116 M20 192 H 116' stroke='#B9CDF0' strokeWidth='1' /&gt;&#13;&#10;                &lt;text x='68' y='240' fill='#1A2230' font-size='15' text-anchor='middle' font-family='Microsoft YaHei'&gt;224 × 224 × 3&lt;/text&gt;&#13;&#10;&#13;&#10;                &lt;path d='M116 168 H 140' stroke='#1E4FA8' strokeWidth='2' /&gt;&#13;&#10;                &lt;path d='M132 162 L 142 168 L 132 174' fill='#1E4FA8' /&gt;&#13;&#10;&#13;&#10;                &lt;rect x='142' y='118' width='176' height='100' rx='8' fill='#E8EFF8' stroke='#1E4FA8' strokeWidth='2' /&gt;&#13;&#10;                &lt;text x='230' y='148' fill='#0E3F8C' font-size='17' font-weight='bold' text-anchor='middle' font-family='Microsoft YaHei'&gt;Patch Embedding&lt;/text&gt;&#13;&#10;                &lt;text x='230' y='170' fill='#4A5568' font-size='14' text-anchor='middle' font-family='Microsoft YaHei'&gt;Conv 16×16, stride 16&lt;/text&gt;&#13;&#10;                &lt;text x='230' y='192' fill='#4A5568' font-size='14' text-anchor='middle' font-family='Microsoft YaHei'&gt;196 块 × 768 维&lt;/text&gt;&#13;&#10;                &lt;text x='230' y='240' fill='#8B97A8' font-size='14' text-anchor='middle' font-family='Microsoft YaHei'&gt;14 × 14 = 196 个图像块&lt;/text&gt;&#13;&#10;&#13;&#10;                &lt;path d='M318 168 H 342' stroke='#1E4FA8' strokeWidth='2' /&gt;&#13;&#10;                &lt;path d='M334 162 L 344 168 L 334 174' fill='#1E4FA8' /&gt;&#13;&#10;&#13;&#10;                &lt;rect x='344' y='118' width='176' height='100' rx='8' fill='#FFF8E1' stroke='#FFC107' strokeWidth='2' /&gt;&#13;&#10;                &lt;text x='432' y='146' fill='#0E3F8C' font-size='17' font-weight='bold' text-anchor='middle' font-family='Microsoft YaHei'&gt;拼 CLS + 位置编码&lt;/text&gt;&#13;&#10;                &lt;text x='432' y='168' fill='#4A5568' font-size='14' text-anchor='middle' font-family='Microsoft YaHei'&gt;在序列最前面插入 cls token&lt;/text&gt;&#13;&#10;                &lt;text x='432' y='190' fill='#4A5568' font-size='14' text-anchor='middle' font-family='Microsoft YaHei'&gt;叠加可学习位置嵌入&lt;/text&gt;&#13;&#10;                &lt;text x='432' y='240' fill='#8B97A8' font-size='14' text-anchor='middle' font-family='Microsoft YaHei'&gt;197 × 768&lt;/text&gt;&#13;&#10;&#13;&#10;                &lt;path d='M520 168 H 544' stroke='#1E4FA8' strokeWidth='2' /&gt;&#13;&#10;                &lt;path d='M536 162 L 546 168 L 536 174' fill='#1E4FA8' /&gt;&#13;&#10;&#13;&#10;                &lt;rect x='546' y='66' width='404' height='204' rx='10' fill='#FFFFFF' stroke='#0E3F8C' strokeWidth='3' /&gt;&#13;&#10;                &lt;text x='748' y='92' fill='#0E3F8C' font-size='18' font-weight='bold' text-anchor='middle' font-family='Microsoft YaHei'&gt;Transformer Encoder × L（B/16 为 12 层）&lt;/text&gt;&#13;&#10;&#13;&#10;                &lt;rect x='566' y='108' width='150' height='46' rx='6' fill='#E8EFF8' stroke='#1E4FA8' strokeWidth='2' /&gt;&#13;&#10;                &lt;text x='641' y='137' fill='#0E3F8C' font-size='16' font-weight='bold' text-anchor='middle' font-family='Microsoft YaHei'&gt;Layer Norm&lt;/text&gt;&#13;&#10;                &lt;path d='M716 131 H 736' stroke='#1E4FA8' strokeWidth='2' /&gt;&#13;&#10;                &lt;path d='M728 125 L 738 131 L 728 137' fill='#1E4FA8' /&gt;&#13;&#10;                &lt;rect x='738' y='108' width='190' height='46' rx='6' fill='#E8EFF8' stroke='#1E4FA8' strokeWidth='2' /&gt;&#13;&#10;                &lt;text x='833' y='137' fill='#0E3F8C' font-size='16' font-weight='bold' text-anchor='middle' font-family='Microsoft YaHei'&gt;Multi-Head Attention&lt;/text&gt;&#13;&#10;&#13;&#10;                &lt;path d='M833 154 V 196 H 641 V 160' fill='none' stroke='#D9534F' strokeWidth='2' /&gt;&#13;&#10;                &lt;path d='M635 174 L 641 158 L 647 174' fill='#D9534F' /&gt;&#13;&#10;                &lt;circle cx='833' cy='196' r='14' fill='#FFFFFF' stroke='#D9534F' strokeWidth='2' /&gt;&#13;&#10;                &lt;text x='833' y='202' fill='#D9534F' font-size='18' font-weight='bold' text-anchor='middle' font-family='Microsoft YaHei'&gt;+&lt;/text&gt;&#13;&#10;&#13;&#10;                &lt;path d='M928 131 H 566' stroke='#1E4FA8' strokeWidth='2' /&gt;&#13;&#10;&#13;&#10;                &lt;rect x='566' y='216' width='150' height='46' rx='6' fill='#E8EFF8' stroke='#1E4FA8' strokeWidth='2' /&gt;&#13;&#10;                &lt;text x='641' y='245' fill='#0E3F8C' font-size='16' font-weight='bold' text-anchor='middle' font-family='Microsoft YaHei'&gt;Layer Norm&lt;/text&gt;&#13;&#10;                &lt;path d='M716 239 H 736' stroke='#1E4FA8' strokeWidth='2' /&gt;&#13;&#10;                &lt;path d='M728 233 L 738 239 L 728 245' fill='#1E4FA8' /&gt;&#13;&#10;                &lt;rect x='738' y='216' width='190' height='46' rx='6' fill='#E8EFF8' stroke='#1E4FA8' strokeWidth='2' /&gt;&#13;&#10;                &lt;text x='833' y='245' fill='#0E3F8C' font-size='16' font-weight='bold' text-anchor='middle' font-family='Microsoft YaHei'&gt;MLP（GELU + Dropout）&lt;/text&gt;&#13;&#10;                &lt;path d='M833 262 V 296 H 641 V 268' fill='none' stroke='#D9534F' strokeWidth='2' /&gt;&#13;&#10;                &lt;path d='M635 282 L 641 266 L 647 282' fill='#D9534F' /&gt;&#13;&#10;                &lt;circle cx='833' cy='296' r='14' fill='#FFFFFF' stroke='#D9534F' strokeWidth='2' /&gt;&#13;&#10;                &lt;text x='833' y='302' fill='#D9534F' font-size='18' font-weight='bold' text-anchor='middle' font-family='Microsoft YaHei'&gt;+&lt;/text&gt;&#13;&#10;&#13;&#10;                &lt;path d='M950 168 H 976' stroke='#1E4FA8' strokeWidth='2' /&gt;&#13;&#10;                &lt;path d='M968 162 L 978 168 L 968 174' fill='#1E4FA8' /&gt;&#13;&#10;&#13;&#10;                &lt;rect x='978' y='118' width='164' height='100' rx='8' fill='#0E3F8C' stroke='#0E3F8C' strokeWidth='2' /&gt;&#13;&#10;                &lt;text x='1060' y='146' fill='#FFFFFF' font-size='17' font-weight='bold' text-anchor='middle' font-family='Microsoft YaHei'&gt;取 cls token&lt;/text&gt;&#13;&#10;                &lt;text x='1060' y='170' fill='#CFE0F7' font-size='14' text-anchor='middle' font-family='Microsoft YaHei'&gt;Layer Norm&lt;/text&gt;&#13;&#10;                &lt;text x='1060' y='192' fill='#FFC107' font-size='15' font-weight='bold' text-anchor='middle' font-family='Microsoft YaHei'&gt;MLP Head → 3 类&lt;/text&gt;&#13;&#10;                &lt;text x='1060' y='240' fill='#8B97A8' font-size='14' text-anchor='middle' font-family='Microsoft YaHei'&gt;良性 / 恶性 / 正常&lt;/text&gt;&#13;&#10;&#13;&#10;                &lt;rect x='300' y='330' width='560' height='56' rx='8' fill='#FFF8E1' stroke='#FFC107' strokeWidth='2' /&gt;&#13;&#10;                &lt;text x='580' y='352' fill='#1A2230' font-size='17' text-anchor='middle' font-family='Microsoft YaHei'&gt;一句话概括：切块 → 嵌入 → 加位置 → 反复做&quot;全局混信息&quot; → 用 cls token 做分类&lt;/text&gt;&#13;&#10;                &lt;text x='580' y='375' fill='#1E4FA8' font-size='17' font-weight='bold' text-anchor='middle' font-family='Microsoft YaHei'&gt;全程没有一次卷积，特征图尺寸始终是 197 × 768&lt;/text&gt;&#13;&#10;            &lt;/svg&gt;&#13;&#10;        &lt;/Box&gt;&#13;&#10;&#13;&#10;        &lt;Box style={{ flexDirection: 'row', gap: 16 }}&gt;&#13;&#10;            &lt;Box style={{ flex: 1, background: '#FFFFFF', border: '1px solid #D6DCE5', borderTop: '4px solid #1E4FA8', borderRadius: 8, padding: 14, gap: 6 }}&gt;&#13;&#10;                &lt;Text style={{ fontSize: 21, fontWeight: 'bold', color: '#0E3F8C' }}&gt;为什么需要 cls token&lt;/Text&gt;&#13;&#10;                &lt;Text style={{ fontSize: 17, color: '#4A5568', lineHeight: 1.55 }}&gt;&#13;&#10;                    196 个 patch token 地位平等，需要一个&quot;汇总位&quot;来承载整图语义。cls token 不对应任何图像区域，经过多层注意力后成为全局表示。&#13;&#10;                &lt;/Text&gt;&#13;&#10;            &lt;/Box&gt;&#13;&#10;            &lt;Box style={{ flex: 1, background: '#FFFFFF', border: '1px solid #D6DCE5', borderTop: '4px solid #FFC107', borderRadius: 8, padding: 14, gap: 6 }}&gt;&#13;&#10;                &lt;Text style={{ fontSize: 21, fontWeight: 'bold', color: '#0E3F8C' }}&gt;为什么序列长度不变&lt;/Text&gt;&#13;&#10;                &lt;Text style={{ fontSize: 17, color: '#4A5568', lineHeight: 1.55 }}&gt;&#13;&#10;                    Encoder 每一层的输入与输出都是 197 × 768，因此可以任意堆叠 L 层。这与 CNN&quot;分辨率递减、通道递增&quot;的金字塔截然不同。&#13;&#10;                &lt;/Text&gt;&#13;&#10;            &lt;/Box&gt;&#13;&#10;            &lt;Box style={{ flex: 1, background: '#FFFFFF', border: '1px solid #D6DCE5', borderTop: '4px solid #D9534F', borderRadius: 8, padding: 14, gap: 6 }}&gt;&#13;&#10;                &lt;Text style={{ fontSize: 21, fontWeight: 'bold', color: '#0E3F8C' }}&gt;计算量随什么增长&lt;/Text&gt;&#13;&#10;                &lt;Text style={{ fontSize: 17, color: '#4A5568', lineHeight: 1.55 }}&gt;&#13;&#10;                    注意力矩阵是 197 × 197，复杂度为 O(N²·d)。图像分辨率翻倍，patch 数变 4 倍，注意力开销变 16 倍——这是 ViT 难上高分辨率的原因。&#13;&#10;                &lt;/Text&gt;&#13;&#10;            &lt;/Box&gt;&#13;&#10;        &lt;/Box&gt;&#13;&#10;    &lt;/Box&gt;&#13;&#10;&#13;&#10;    &lt;Box style={{ height: 40, flexDirection: 'row', alignItems: 'center', justifyContent: 'space-between', paddingLeft: 40, paddingRight: 40, borderTop: '1px solid #E5E7EB' }}&gt;&#13;&#10;        &lt;Text style={{ fontSize: 14, color: '#8B97A8' }}&gt;BUSI 乳腺超声图像分类 · 乳腺癌智能诊断&lt;/Text&gt;&#13;&#10;        &lt;Text style={{ fontSize: 14, color: '#1E4FA8' }}&gt;19 / 3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45529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ViT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整体框架：把图像当成一句话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9972675" y="26670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>04 ViT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：视觉</a:t>
            </a: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 xml:space="preserve"> Transformer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381000" y="895350"/>
            <a:ext cx="11430000" cy="3924300"/>
          </a:xfrm>
          <a:prstGeom prst="roundRect">
            <a:avLst>
              <a:gd name="adj" fmla="val 242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952500"/>
            <a:ext cx="11049000" cy="3810000"/>
          </a:xfrm>
          <a:prstGeom prst="rect">
            <a:avLst/>
          </a:prstGeom>
          <a:ln/>
        </p:spPr>
      </p:pic>
      <p:sp>
        <p:nvSpPr>
          <p:cNvPr id="243" name=""/>
          <p:cNvSpPr/>
          <p:nvPr/>
        </p:nvSpPr>
        <p:spPr>
          <a:xfrm rot="0" flipH="0" flipV="0">
            <a:off x="381000" y="4972050"/>
            <a:ext cx="3705225" cy="1514475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381000" y="4972050"/>
            <a:ext cx="3705225" cy="1514475"/>
          </a:xfrm>
          <a:custGeom>
            <a:pathLst>
              <a:path w="389" h="159">
                <a:moveTo>
                  <a:pt x="381" y="0"/>
                </a:moveTo>
                <a:cubicBezTo>
                  <a:pt x="385" y="0"/>
                  <a:pt x="388" y="3"/>
                  <a:pt x="389" y="7"/>
                </a:cubicBezTo>
                <a:cubicBezTo>
                  <a:pt x="388" y="5"/>
                  <a:pt x="387" y="4"/>
                  <a:pt x="385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381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514350" y="5105400"/>
            <a:ext cx="34385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为什么需要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cls token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514350" y="5410200"/>
            <a:ext cx="343852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196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个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patch token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地位平等，需要一个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汇总位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来承载整图语义。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cls token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不对应任何图像区域，经过多层注意力后成为全局表示。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4238625" y="4972050"/>
            <a:ext cx="3714750" cy="1514475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4238625" y="4972050"/>
            <a:ext cx="3714750" cy="1514475"/>
          </a:xfrm>
          <a:custGeom>
            <a:pathLst>
              <a:path w="390" h="159">
                <a:moveTo>
                  <a:pt x="382" y="0"/>
                </a:moveTo>
                <a:cubicBezTo>
                  <a:pt x="386" y="0"/>
                  <a:pt x="389" y="3"/>
                  <a:pt x="390" y="7"/>
                </a:cubicBezTo>
                <a:cubicBezTo>
                  <a:pt x="389" y="5"/>
                  <a:pt x="388" y="4"/>
                  <a:pt x="386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382" y="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4371975" y="5105400"/>
            <a:ext cx="3448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为什么序列长度不变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4371975" y="5410200"/>
            <a:ext cx="344805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Encoder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每一层的输入与输出都是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197 × 768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，因此可以任意堆叠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L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层。这与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CNN"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分辨率递减、通道递增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的金字塔截然不同。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8105775" y="4972050"/>
            <a:ext cx="3705225" cy="1514475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8105775" y="4972050"/>
            <a:ext cx="3705225" cy="1514475"/>
          </a:xfrm>
          <a:custGeom>
            <a:pathLst>
              <a:path w="389" h="159">
                <a:moveTo>
                  <a:pt x="381" y="0"/>
                </a:moveTo>
                <a:cubicBezTo>
                  <a:pt x="385" y="0"/>
                  <a:pt x="388" y="3"/>
                  <a:pt x="389" y="7"/>
                </a:cubicBezTo>
                <a:cubicBezTo>
                  <a:pt x="388" y="5"/>
                  <a:pt x="387" y="4"/>
                  <a:pt x="385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381" y="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239125" y="5105400"/>
            <a:ext cx="34385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计算量随什么增长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239125" y="5410200"/>
            <a:ext cx="343852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注意力矩阵是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197 × 197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，复杂度为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O(N²·d)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。图像分辨率翻倍，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patch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数变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倍，注意力开销变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16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倍——这是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ViT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难上高分辨率的原因。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19 / 38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03" name="" descr="&lt;Slide style={{ padding: 0, background: '#FFFFFF', fontFamily: 'Microsoft YaHei' }}&gt;&#10;    &lt;Box style={{ width: '100%', height: 76, background: '#0E3F8C', flexDirection: 'row', alignItems: 'center', justifyContent: 'space-between', paddingLeft: 40, paddingRight: 40 }}&gt;&#10;        &lt;Box style={{ flexDirection: 'row', alignItems: 'center', gap: 16 }}&gt;&#10;            &lt;Box style={{ width: 6, height: 34, background: '#FFC107' }} /&gt;&#10;            &lt;Text style={{ fontSize: 32, fontWeight: 'bold', color: '#FFFFFF' }}&gt;分块嵌入与位置编码&lt;/Text&gt;&#10;        &lt;/Box&gt;&#10;        &lt;Text style={{ fontSize: 16, color: '#8FC0F0' }}&gt;04 ViT：视觉 Transformer&lt;/Text&gt;&#10;    &lt;/Box&gt;&#10;&#10;    &lt;Box style={{ flex: 1, gap: 12, paddingTop: 18, paddingLeft: 40, paddingRight: 40, paddingBottom: 18 }}&gt;&#10;        &lt;Box style={{ flexDirection: 'row', alignItems: 'center', gap: 12, background: '#E8EFF8', borderRadius: 8, paddingLeft: 18, paddingTop: 9, paddingBottom: 9 }}&gt;&#10;            &lt;FAIcon name='info-circle' style={{ fill: '#1E4FA8', width: 24, height: 24 }} /&gt;&#10;            &lt;Text style={{ fontSize: 20, fontWeight: 'bold', color: '#0E3F8C' }}&gt;引导问题：一张二维图像，怎么变成 Transformer 能吃的&quot;词序列&quot;？&lt;/Text&gt;&#10;        &lt;/Box&gt;&#10;&#10;        &lt;Box style={{ background: '#F7F9FC', border: '1px solid #D6DCE5', borderRadius: 10, padding: 8, alignItems: 'center' }}&gt;&#10;            &lt;svg width={1140} height={300} viewBox='0 0 1140 300'&gt;&#10;                &lt;rect x='30' y='40' width='210' height='210' fill='#FFFFFF' stroke='#1E4FA8' strokeWidth='2' /&gt;&#10;                &lt;path d='M45 40 V 250 M60 40 V 250 M75 40 V 250 M90 40 V 250 M105 40 V 250 M120 40 V 250 M135 40 V 250 M150 40 V 250 M165 40 V 250 M180 40 V 250 M195 40 V 250 M210 40 V 250 M225 40 V 250' stroke='#C7D8F2' strokeWidth='1' /&gt;&#10;                &lt;path d='M30 55 H 240 M30 70 H 240 M30 85 H 240 M30 100 H 240 M30 115 H 240 M30 130 H 240 M30 145 H 240 M30 160 H 240 M30 175 H 240 M30 190 H 240 M30 205 H 240 M30 220 H 240 M30 235 H 240' stroke='#C7D8F2' strokeWidth='1' /&gt;&#10;                &lt;rect x='150' y='115' width='15' height='15' fill='#D9534F' stroke='#B03430' strokeWidth='1' /&gt;&#10;                &lt;text x='135' y='272' fill='#1A2230' font-size='16' text-anchor='middle' font-family='Microsoft YaHei'&gt;输入 224 × 224 × 3&lt;/text&gt;&#10;                &lt;text x='135' y='292' fill='#8B97A8' font-size='15' text-anchor='middle' font-family='Microsoft YaHei'&gt;按 16 × 16 切成 14 × 14 = 196 块&lt;/text&gt;&#10;&#10;                &lt;path d='M165 115 C 240 60 280 90 336 118' fill='none' stroke='#D9534F' strokeWidth='2' strokeDasharray='6 4' /&gt;&#10;                &lt;path d='M330 112 L 340 120 L 328 126' fill='#D9534F' /&gt;&#10;&#10;                &lt;rect x='346' y='60' width='130' height='130' fill='#FFFFFF' stroke='#D9534F' strokeWidth='2' /&gt;&#10;                &lt;path d='M378 60 V 190 M411 60 V 190 M444 60 V 190 M346 92 H 476 M346 125 H 476 M346 158 H 476' stroke='#F0B8B6' strokeWidth='1' /&gt;&#10;                &lt;text x='411' y='214' fill='#1A2230' font-size='16' text-anchor='middle' font-family='Microsoft YaHei'&gt;单个 patch：16 × 16 × 3&lt;/text&gt;&#10;                &lt;text x='411' y='234' fill='#8B97A8' font-size='15' text-anchor='middle' font-family='Microsoft YaHei'&gt;= 768 个像素值&lt;/text&gt;&#10;&#10;                &lt;path d='M476 125 H 512' stroke='#1E4FA8' strokeWidth='2' /&gt;&#10;                &lt;path d='M504 119 L 514 125 L 504 131' fill='#1E4FA8' /&gt;&#10;&#10;                &lt;rect x='514' y='80' width='168' height='90' rx='8' fill='#E8EFF8' stroke='#1E4FA8' strokeWidth='2' /&gt;&#10;                &lt;text x='598' y='112' fill='#0E3F8C' font-size='17' font-weight='bold' text-anchor='middle' font-family='Microsoft YaHei'&gt;展平 Flatten&lt;/text&gt;&#10;                &lt;text x='598' y='136' fill='#4A5568' font-size='15' text-anchor='middle' font-family='Microsoft YaHei'&gt;768 维向量&lt;/text&gt;&#10;                &lt;text x='598' y='158' fill='#4A5568' font-size='14' text-anchor='middle' font-family='Microsoft YaHei'&gt;16×16×3 = 768&lt;/text&gt;&#10;&#10;                &lt;path d='M682 125 H 712' stroke='#1E4FA8' strokeWidth='2' /&gt;&#10;                &lt;path d='M704 119 L 714 125 L 704 131' fill='#1E4FA8' /&gt;&#10;&#10;                &lt;rect x='714' y='80' width='192' height='90' rx='8' fill='#FFF8E1' stroke='#FFC107' strokeWidth='2' /&gt;&#10;                &lt;text x='810' y='112' fill='#0E3F8C' font-size='17' font-weight='bold' text-anchor='middle' font-family='Microsoft YaHei'&gt;线性投影&lt;/text&gt;&#10;                &lt;text x='810' y='136' fill='#4A5568' font-size='15' text-anchor='middle' font-family='Microsoft YaHei'&gt;共享权重 W：768 → D&lt;/text&gt;&#10;                &lt;text x='810' y='158' fill='#4A5568' font-size='14' text-anchor='middle' font-family='Microsoft YaHei'&gt;B/16 的 D = 768&lt;/text&gt;&#10;&#10;                &lt;path d='M906 125 H 936' stroke='#1E4FA8' strokeWidth='2' /&gt;&#10;                &lt;path d='M928 119 L 938 125 L 928 131' fill='#1E4FA8' /&gt;&#10;&#10;                &lt;rect x='938' y='80' width='172' height='90' rx='8' fill='#0E3F8C' stroke='#0E3F8C' strokeWidth='2' /&gt;&#10;                &lt;text x='1024' y='112' fill='#FFFFFF' font-size='17' font-weight='bold' text-anchor='middle' font-family='Microsoft YaHei'&gt;Patch Token&lt;/text&gt;&#10;                &lt;text x='1024' y='136' fill='#CFE0F7' font-size='15' text-anchor='middle' font-family='Microsoft YaHei'&gt;196 个，每个 D 维&lt;/text&gt;&#10;                &lt;text x='1024' y='158' fill='#FFC107' font-size='14' text-anchor='middle' font-family='Microsoft YaHei'&gt;+ 位置编码 E_pos&lt;/text&gt;&#10;&#10;                &lt;rect x='514' y='222' width='596' height='58' rx='8' fill='#FFFFFF' stroke='#D6DCE5' strokeWidth='1' /&gt;&#10;                &lt;text x='812' y='246' fill='#1A2230' font-size='16' text-anchor='middle' font-family='Microsoft YaHei'&gt;196 个 patch 共用同一个投影矩阵，再叠加可学习的位置嵌入&lt;/text&gt;&#10;                &lt;text x='812' y='269' fill='#1E4FA8' font-size='16' font-weight='bold' text-anchor='middle' font-family='Microsoft YaHei'&gt;z₀ = [ x_cls ; x¹ₚW ; x²ₚW ; … ; x¹⁹⁶ₚW ] + E_pos&lt;/text&gt;&#10;            &lt;/svg&gt;&#10;        &lt;/Box&gt;&#10;&#10;        &lt;Box style={{ flexDirection: 'row', gap: 16 }}&gt;&#10;            &lt;Box style={{ flex: 1, background: '#FFFFFF', border: '1px solid #D6DCE5', borderLeft: '5px solid #1E4FA8', borderRadius: 8, padding: 14, gap: 6 }}&gt;&#10;                &lt;Text style={{ fontSize: 21, fontWeight: 'bold', color: '#0E3F8C' }}&gt;分块 = 一次大步长卷积&lt;/Text&gt;&#10;                &lt;Text style={{ fontSize: 16, color: '#4A5568', lineHeight: 1.55 }}&gt;&#10;                    不需要真的去&quot;切图&quot;。一个 kernel=16、stride=16 的 Conv2d(3, D) 就等价完成了分块 + 线性投影，展开后直接得到 196 × D 的序列。&#10;                &lt;/Text&gt;&#10;            &lt;/Box&gt;&#10;            &lt;Box style={{ flex: 1, background: '#FFFFFF', border: '1px solid #D6DCE5', borderLeft: '5px solid #D9534F', borderRadius: 8, padding: 14, gap: 6 }}&gt;&#10;                &lt;Text style={{ fontSize: 21, fontWeight: 'bold', color: '#0E3F8C' }}&gt;没有位置编码会怎样&lt;/Text&gt;&#10;                &lt;Text style={{ fontSize: 16, color: '#4A5568', lineHeight: 1.55 }}&gt;&#10;                    自注意力对输入顺序是置换不变的：把 196 个 patch 随机打乱，输出完全一样。图像的空间结构就丢了，所以必须显式注入位置信息。&#10;                &lt;/Text&gt;&#10;            &lt;/Box&gt;&#10;            &lt;Box style={{ flex: 1, background: '#FFF8E1', border: '1px solid #FFC107', borderLeft: '5px solid #FFC107', borderRadius: 8, padding: 14, gap: 6 }}&gt;&#10;                &lt;Text style={{ fontSize: 21, fontWeight: 'bold', color: '#0E3F8C' }}&gt;本项目的做法&lt;/Text&gt;&#10;                &lt;Text style={{ fontSize: 16, color: '#4A5568', lineHeight: 1.55 }}&gt;&#10;                    用 torch.zeros(1, N+1, D) 的可学习位置嵌入，截断正态初始化（std = 0.02），与 cls token 一起参与训练，让模型自己学&quot;哪里是哪里&quot;。&#10;                &lt;/Text&gt;&#10;            &lt;/Box&gt;&#10;        &lt;/Box&gt;&#10;    &lt;/Box&gt;&#10;&#10;    &lt;Box style={{ height: 40, flexDirection: 'row', alignItems: 'center', justifyContent: 'space-between', paddingLeft: 40, paddingRight: 40, borderTop: '1px solid #E5E7EB' }}&gt;&#10;        &lt;Text style={{ fontSize: 14, color: '#8B97A8' }}&gt;BUSI 乳腺超声图像分类 · 乳腺癌智能诊断&lt;/Text&gt;&#10;        &lt;Text style={{ fontSize: 14, color: '#1E4FA8' }}&gt;20 / 3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5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06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2743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分块嵌入与位置编码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9972675" y="26670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>04 ViT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：视觉</a:t>
            </a: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 xml:space="preserve"> Transformer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381000" y="895350"/>
            <a:ext cx="11430000" cy="400050"/>
          </a:xfrm>
          <a:prstGeom prst="roundRect">
            <a:avLst>
              <a:gd name="adj" fmla="val 19048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3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52450" y="981075"/>
            <a:ext cx="228600" cy="228600"/>
          </a:xfrm>
          <a:prstGeom prst="rect">
            <a:avLst/>
          </a:prstGeom>
          <a:ln/>
        </p:spPr>
      </p:pic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895350" y="981075"/>
            <a:ext cx="5876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引导问题：一张二维图像，怎么变成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Transformer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能吃的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词序列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？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381000" y="1409700"/>
            <a:ext cx="11430000" cy="3009900"/>
          </a:xfrm>
          <a:prstGeom prst="roundRect">
            <a:avLst>
              <a:gd name="adj" fmla="val 316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66750" y="1485900"/>
            <a:ext cx="10858500" cy="2857500"/>
          </a:xfrm>
          <a:prstGeom prst="rect">
            <a:avLst/>
          </a:prstGeom>
          <a:ln/>
        </p:spPr>
      </p:pic>
      <p:sp>
        <p:nvSpPr>
          <p:cNvPr id="314" name=""/>
          <p:cNvSpPr/>
          <p:nvPr/>
        </p:nvSpPr>
        <p:spPr>
          <a:xfrm rot="0" flipH="0" flipV="0">
            <a:off x="428625" y="4533900"/>
            <a:ext cx="370522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5" name=""/>
          <p:cNvSpPr/>
          <p:nvPr/>
        </p:nvSpPr>
        <p:spPr>
          <a:xfrm rot="0" flipH="0" flipV="0">
            <a:off x="428625" y="4533900"/>
            <a:ext cx="3705225" cy="1428750"/>
          </a:xfrm>
          <a:custGeom>
            <a:pathLst>
              <a:path w="389" h="150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47"/>
                </a:lnTo>
                <a:cubicBezTo>
                  <a:pt x="5" y="149"/>
                  <a:pt x="6" y="150"/>
                  <a:pt x="8" y="150"/>
                </a:cubicBezTo>
                <a:cubicBezTo>
                  <a:pt x="3" y="150"/>
                  <a:pt x="0" y="146"/>
                  <a:pt x="0" y="14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561975" y="4667250"/>
            <a:ext cx="3390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分块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一次大步长卷积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561975" y="4972050"/>
            <a:ext cx="33909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不需要真的去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切图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。一个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kernel=16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stride=16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的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Conv2d(3, D)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就等价完成了分块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线性投影，展开后直接得到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196 × D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的序列。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4286250" y="4533900"/>
            <a:ext cx="3714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4286250" y="4533900"/>
            <a:ext cx="3714750" cy="1428750"/>
          </a:xfrm>
          <a:custGeom>
            <a:pathLst>
              <a:path w="390" h="150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47"/>
                </a:lnTo>
                <a:cubicBezTo>
                  <a:pt x="5" y="149"/>
                  <a:pt x="6" y="150"/>
                  <a:pt x="8" y="150"/>
                </a:cubicBezTo>
                <a:cubicBezTo>
                  <a:pt x="3" y="150"/>
                  <a:pt x="0" y="146"/>
                  <a:pt x="0" y="14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4419600" y="4667250"/>
            <a:ext cx="34004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没有位置编码会怎样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419600" y="4972050"/>
            <a:ext cx="340042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自注意力对输入顺序是置换不变的：把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196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个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patch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随机打乱，输出完全一样。图像的空间结构就丢了，所以必须显式注入位置信息。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8153400" y="4533900"/>
            <a:ext cx="3705225" cy="1428750"/>
          </a:xfrm>
          <a:prstGeom prst="roundRect">
            <a:avLst>
              <a:gd name="adj" fmla="val 5333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8153400" y="4533900"/>
            <a:ext cx="3705225" cy="1428750"/>
          </a:xfrm>
          <a:custGeom>
            <a:pathLst>
              <a:path w="389" h="150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47"/>
                </a:lnTo>
                <a:cubicBezTo>
                  <a:pt x="5" y="149"/>
                  <a:pt x="6" y="150"/>
                  <a:pt x="8" y="150"/>
                </a:cubicBezTo>
                <a:cubicBezTo>
                  <a:pt x="3" y="150"/>
                  <a:pt x="0" y="146"/>
                  <a:pt x="0" y="14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8286750" y="4667250"/>
            <a:ext cx="3390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本项目的做法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8286750" y="4972050"/>
            <a:ext cx="33909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torch.zeros(1, N+1, D)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的可学习位置嵌入，截断正态初始化（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std = 0.02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），与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cls token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一起参与训练，让模型自己学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哪里是哪里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20 / 38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29" name="" descr="&lt;Slide style={{ padding: 0, background: '#FFFFFF', fontFamily: 'Microsoft YaHei' }}&gt;&#13;&#10;    &lt;Box style={{ width: '100%', height: 76, background: '#0E3F8C', flexDirection: 'row', alignItems: 'center', justifyContent: 'space-between', paddingLeft: 40, paddingRight: 40 }}&gt;&#13;&#10;        &lt;Box style={{ flexDirection: 'row', alignItems: 'center', gap: 16 }}&gt;&#13;&#10;            &lt;Box style={{ width: 6, height: 34, background: '#FFC107' }} /&gt;&#13;&#10;            &lt;Text style={{ fontSize: 32, fontWeight: 'bold', color: '#FFFFFF' }}&gt;多头自注意力：Q、K、V 与缩放点积&lt;/Text&gt;&#13;&#10;        &lt;/Box&gt;&#13;&#10;        &lt;Text style={{ fontSize: 16, color: '#8FC0F0' }}&gt;04 ViT：视觉 Transformer&lt;/Text&gt;&#13;&#10;    &lt;/Box&gt;&#13;&#10;&#13;&#10;    &lt;Box style={{ height: 604, flexDirection: 'row', gap: 24, paddingTop: 20, paddingLeft: 40, paddingRight: 40, paddingBottom: 20 }}&gt;&#13;&#10;        &lt;Box style={{ width: 700, background: '#F7F9FC', border: '1px solid #D6DCE5', borderRadius: 10, padding: 8, alignItems: 'center', justifyContent: 'center' }}&gt;&#13;&#10;            &lt;svg width={660} height={470} viewBox='0 0 660 470'&gt;&#13;&#10;                &lt;text x='330' y='20' fill='#0E3F8C' font-size='18' font-weight='bold' text-anchor='middle' font-family='Microsoft YaHei'&gt;单头注意力的计算流程（Multi-Head 则是并行做 h 次）&lt;/text&gt;&#13;&#10;&#13;&#10;                &lt;rect x='255' y='34' width='150' height='44' rx='8' fill='#FFFFFF' stroke='#1E4FA8' strokeWidth='2' /&gt;&#13;&#10;                &lt;text x='330' y='62' fill='#1A2230' font-size='16' text-anchor='middle' font-family='Microsoft YaHei'&gt;输入 X：N × D&lt;/text&gt;&#13;&#10;&#13;&#10;                &lt;path d='M310 78 V 92 H 140 V 106' fill='none' stroke='#1E4FA8' strokeWidth='2' /&gt;&#13;&#10;                &lt;path d='M330 78 V 106' stroke='#1E4FA8' strokeWidth='2' /&gt;&#13;&#10;                &lt;path d='M350 78 V 92 H 520 V 106' fill='none' stroke='#1E4FA8' strokeWidth='2' /&gt;&#13;&#10;&#13;&#10;                &lt;rect x='60' y='108' width='160' height='52' rx='8' fill='#E8EFF8' stroke='#1E4FA8' strokeWidth='2' /&gt;&#13;&#10;                &lt;text x='140' y='131' fill='#0E3F8C' font-size='17' font-weight='bold' text-anchor='middle' font-family='Microsoft YaHei'&gt;Q = X W_Q&lt;/text&gt;&#13;&#10;                &lt;text x='140' y='150' fill='#4A5568' font-size='14' text-anchor='middle' font-family='Microsoft YaHei'&gt;查询：我想找什么&lt;/text&gt;&#13;&#10;&#13;&#10;                &lt;rect x='250' y='108' width='160' height='52' rx='8' fill='#E8EFF8' stroke='#1E4FA8' strokeWidth='2' /&gt;&#13;&#10;                &lt;text x='330' y='131' fill='#0E3F8C' font-size='17' font-weight='bold' text-anchor='middle' font-family='Microsoft YaHei'&gt;K = X W_K&lt;/text&gt;&#13;&#10;                &lt;text x='330' y='150' fill='#4A5568' font-size='14' text-anchor='middle' font-family='Microsoft YaHei'&gt;键：我能提供什么&lt;/text&gt;&#13;&#10;&#13;&#10;                &lt;rect x='440' y='108' width='160' height='52' rx='8' fill='#E8EFF8' stroke='#1E4FA8' strokeWidth='2' /&gt;&#13;&#10;                &lt;text x='520' y='131' fill='#0E3F8C' font-size='17' font-weight='bold' text-anchor='middle' font-family='Microsoft YaHei'&gt;V = X W_V&lt;/text&gt;&#13;&#10;                &lt;text x='520' y='150' fill='#4A5568' font-size='14' text-anchor='middle' font-family='Microsoft YaHei'&gt;值：我携带的信息&lt;/text&gt;&#13;&#10;&#13;&#10;                &lt;path d='M140 160 V 180 H 300 V 196' fill='none' stroke='#1E4FA8' strokeWidth='2' /&gt;&#13;&#10;                &lt;path d='M330 160 V 196' stroke='#1E4FA8' strokeWidth='2' /&gt;&#13;&#10;                &lt;path d='M520 160 V 180 H 400 V 196' fill='none' stroke='#1E4FA8' strokeWidth='2' /&gt;&#13;&#10;&#13;&#10;                &lt;rect x='190' y='198' width='280' height='52' rx='8' fill='#FFF8E1' stroke='#FFC107' strokeWidth='2' /&gt;&#13;&#10;                &lt;text x='330' y='221' fill='#0E3F8C' font-size='17' font-weight='bold' text-anchor='middle' font-family='Microsoft YaHei'&gt;打分 QKᵀ ÷ √d_k&lt;/text&gt;&#13;&#10;                &lt;text x='330' y='240' fill='#4A5568' font-size='14' text-anchor='middle' font-family='Microsoft YaHei'&gt;得到 N × N 的相关性矩阵&lt;/text&gt;&#13;&#10;&#13;&#10;                &lt;g&gt;&#13;&#10;                    &lt;rect x='500' y='186' width='132' height='76' fill='#FFFFFF' stroke='#D6DCE5' strokeWidth='1' /&gt;&#13;&#10;                    &lt;rect x='512' y='198' width='20' height='20' fill='#F5F7FA' stroke='#D6DCE5' strokeWidth='1' /&gt;&#13;&#10;                    &lt;rect x='534' y='198' width='20' height='20' fill='#8FB4E8' stroke='#D6DCE5' strokeWidth='1' /&gt;&#13;&#10;                    &lt;rect x='556' y='198' width='20' height='20' fill='#F5F7FA' stroke='#D6DCE5' strokeWidth='1' /&gt;&#13;&#10;                    &lt;rect x='578' y='198' width='20' height='20' fill='#F5F7FA' stroke='#D6DCE5' strokeWidth='1' /&gt;&#13;&#10;                    &lt;rect x='600' y='198' width='20' height='20' fill='#1E4FA8' stroke='#D6DCE5' strokeWidth='1' /&gt;&#13;&#10;                    &lt;rect x='512' y='220' width='20' height='20' fill='#F5F7FA' stroke='#D6DCE5' strokeWidth='1' /&gt;&#13;&#10;                    &lt;rect x='534' y='220' width='20' height='20' fill='#F5F7FA' stroke='#D6DCE5' strokeWidth='1' /&gt;&#13;&#10;                    &lt;rect x='556' y='220' width='20' height='20' fill='#1E4FA8' stroke='#D6DCE5' strokeWidth='1' /&gt;&#13;&#10;                    &lt;rect x='578' y='220' width='20' height='20' fill='#F5F7FA' stroke='#D6DCE5' strokeWidth='1' /&gt;&#13;&#10;                    &lt;rect x='600' y='220' width='20' height='20' fill='#F5F7FA' stroke='#D6DCE5' strokeWidth='1' /&gt;&#13;&#10;                    &lt;rect x='512' y='242' width='20' height='20' fill='#F5F7FA' stroke='#D6DCE5' strokeWidth='1' /&gt;&#13;&#10;                    &lt;rect x='534' y='242' width='20' height='20' fill='#F5F7FA' stroke='#D6DCE5' strokeWidth='1' /&gt;&#13;&#10;                    &lt;rect x='556' y='242' width='20' height='20' fill='#8FB4E8' stroke='#D6DCE5' strokeWidth='1' /&gt;&#13;&#10;                    &lt;rect x='578' y='242' width='20' height='20' fill='#F5F7FA' stroke='#D6DCE5' strokeWidth='1' /&gt;&#13;&#10;                    &lt;rect x='600' y='242' width='20' height='20' fill='#F5F7FA' stroke='#D6DCE5' strokeWidth='1' /&gt;&#13;&#10;                    &lt;text x='566' y='278' fill='#8B97A8' font-size='14' text-anchor='middle' font-family='Microsoft YaHei'&gt;注意力权重矩阵&lt;/text&gt;&#13;&#10;                &lt;/g&gt;&#13;&#10;&#13;&#10;                &lt;path d='M330 250 V 268' stroke='#1E4FA8' strokeWidth='2' /&gt;&#13;&#10;                &lt;path d='M324 262 L 330 270 L 336 262' fill='#1E4FA8' /&gt;&#13;&#10;&#13;&#10;                &lt;rect x='190' y='272' width='280' height='52' rx='8' fill='#FFF8E1' stroke='#FFC107' strokeWidth='2' /&gt;&#13;&#10;                &lt;text x='330' y='295' fill='#0E3F8C' font-size='17' font-weight='bold' text-anchor='middle' font-family='Microsoft YaHei'&gt;Softmax 归一化&lt;/text&gt;&#13;&#10;                &lt;text x='330' y='314' fill='#4A5568' font-size='14' text-anchor='middle' font-family='Microsoft YaHei'&gt;每一行的权重和为 1&lt;/text&gt;&#13;&#10;&#13;&#10;                &lt;path d='M470 298 H 520 V 340 H 400' fill='none' stroke='#D9534F' strokeWidth='2' /&gt;&#13;&#10;                &lt;path d='M408 334 L 396 340 L 408 346' fill='#D9534F' /&gt;&#13;&#10;                &lt;path d='M330 324 V 340' stroke='#1E4FA8' strokeWidth='2' /&gt;&#13;&#10;                &lt;path d='M324 334 L 330 342 L 336 334' fill='#1E4FA8' /&gt;&#13;&#10;&#13;&#10;                &lt;rect x='190' y='346' width='280' height='52' rx='8' fill='#E8EFF8' stroke='#1E4FA8' strokeWidth='2' /&gt;&#13;&#10;                &lt;text x='330' y='369' fill='#0E3F8C' font-size='17' font-weight='bold' text-anchor='middle' font-family='Microsoft YaHei'&gt;加权求和 A · V&lt;/text&gt;&#13;&#10;                &lt;text x='330' y='388' fill='#4A5568' font-size='14' text-anchor='middle' font-family='Microsoft YaHei'&gt;按相关性混合所有位置的信息&lt;/text&gt;&#13;&#10;                &lt;text x='470' y='372' fill='#D9534F' font-size='15' text-anchor='middle' font-family='Microsoft YaHei'&gt;V 从右侧汇入&lt;/text&gt;&#13;&#10;&#13;&#10;                &lt;path d='M330 398 V 414' stroke='#1E4FA8' strokeWidth='2' /&gt;&#13;&#10;                &lt;path d='M324 408 L 330 416 L 336 408' fill='#1E4FA8' /&gt;&#13;&#10;&#13;&#10;                &lt;rect x='130' y='418' width='400' height='42' rx='8' fill='#0E3F8C' stroke='#0E3F8C' strokeWidth='2' /&gt;&#13;&#10;                &lt;text x='330' y='445' fill='#FFFFFF' font-size='16' text-anchor='middle' font-family='Microsoft YaHei'&gt;多头拼接：Concat(head₁ … head₁₂) · W_O → N × D&lt;/text&gt;&#13;&#10;            &lt;/svg&gt;&#13;&#10;        &lt;/Box&gt;&#13;&#10;&#13;&#10;        &lt;Box style={{ flex: 1, gap: 12 }}&gt;&#13;&#10;            &lt;Box style={{ background: '#0E3F8C', borderRadius: 10, padding: 16, alignItems: 'center', gap: 8 }}&gt;&#13;&#10;                &lt;Text style={{ fontSize: 18, color: '#8FC0F0' }}&gt;缩放点积注意力&lt;/Text&gt;&#13;&#10;                &lt;Math latex='Attention(Q,K,V)=softmax\!\left(\frac{QK^{\top}}{\sqrt{d_k}}\right)V' width={330} color='#FFFFFF' /&gt;&#13;&#10;                &lt;Math latex='head_i = Attention(XW_i^Q,\;XW_i^K,\;XW_i^V)' width={320} color='#CFE0F7' /&gt;&#13;&#10;            &lt;/Box&gt;&#13;&#10;&#13;&#10;            &lt;Box style={{ flex: 1, background: '#FFFFFF', border: '1px solid #D6DCE5', borderLeft: '5px solid #1E4FA8', borderRadius: 8, padding: 14, gap: 6 }}&gt;&#13;&#10;                &lt;Text style={{ fontSize: 21, fontWeight: 'bold', color: '#0E3F8C' }}&gt;① Q、K、V 到底是什么&lt;/Text&gt;&#13;&#10;                &lt;Text style={{ fontSize: 16, color: '#4A5568', lineHeight: 1.55 }}&gt;&#13;&#10;                    同一个 X 经三个线性变换得到三种角色。Q 与 K 的点积衡量&quot;两个 patch 有多相关&quot;，V 是被加权取出的内容。&#13;&#10;                &lt;/Text&gt;&#13;&#10;            &lt;/Box&gt;&#13;&#10;&#13;&#10;            &lt;Box style={{ flex: 1, background: '#FFFFFF', border: '1px solid #D6DCE5', borderLeft: '5px solid #FFC107', borderRadius: 8, padding: 14, gap: 6 }}&gt;&#13;&#10;                &lt;Text style={{ fontSize: 21, fontWeight: 'bold', color: '#0E3F8C' }}&gt;② 为什么要除以 √d_k&lt;/Text&gt;&#13;&#10;                &lt;Text style={{ fontSize: 16, color: '#4A5568', lineHeight: 1.55 }}&gt;&#13;&#10;                    d_k = 64 时点积方差约为 64，数值过大把 softmax 推入饱和区、梯度趋近 0。除以 √d_k 把方差拉回 1。&#13;&#10;                &lt;/Text&gt;&#13;&#10;            &lt;/Box&gt;&#13;&#10;&#13;&#10;            &lt;Box style={{ flex: 1, background: '#FFF8E1', border: '1px solid #FFC107', borderLeft: '5px solid #FFC107', borderRadius: 8, padding: 14, gap: 6 }}&gt;&#13;&#10;                &lt;Text style={{ fontSize: 21, fontWeight: 'bold', color: '#0E3F8C' }}&gt;③ 多头在并行看什么&lt;/Text&gt;&#13;&#10;                &lt;Text style={{ fontSize: 16, color: '#4A5568', lineHeight: 1.55 }}&gt;&#13;&#10;                    ViT-B/16 有 12 个头，每头只看 64 维子空间：有的盯病灶边缘，有的盯远处背景，有的近似 CNN 局部模式。&#13;&#10;                &lt;/Text&gt;&#13;&#10;            &lt;/Box&gt;&#13;&#10;        &lt;/Box&gt;&#13;&#10;    &lt;/Box&gt;&#13;&#10;&#13;&#10;    &lt;Box style={{ height: 40, flexDirection: 'row', alignItems: 'center', justifyContent: 'space-between', paddingLeft: 40, paddingRight: 40, borderTop: '1px solid #E5E7EB' }}&gt;&#13;&#10;        &lt;Text style={{ fontSize: 14, color: '#8B97A8' }}&gt;BUSI 乳腺超声图像分类 · 乳腺癌智能诊断&lt;/Text&gt;&#13;&#10;        &lt;Text style={{ fontSize: 14, color: '#1E4FA8' }}&gt;21 / 3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1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50387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多头自注意力：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Q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、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K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、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V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与缩放点积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9972675" y="26670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>04 ViT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：视觉</a:t>
            </a: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 xml:space="preserve"> Transformer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381000" y="914400"/>
            <a:ext cx="6667500" cy="5372100"/>
          </a:xfrm>
          <a:prstGeom prst="roundRect">
            <a:avLst>
              <a:gd name="adj" fmla="val 177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1362075"/>
            <a:ext cx="6286500" cy="4476750"/>
          </a:xfrm>
          <a:prstGeom prst="rect">
            <a:avLst/>
          </a:prstGeom>
          <a:ln/>
        </p:spPr>
      </p:pic>
      <p:sp>
        <p:nvSpPr>
          <p:cNvPr id="337" name=""/>
          <p:cNvSpPr/>
          <p:nvPr/>
        </p:nvSpPr>
        <p:spPr>
          <a:xfrm rot="0" flipH="0" flipV="0">
            <a:off x="7277100" y="914400"/>
            <a:ext cx="4533900" cy="1209675"/>
          </a:xfrm>
          <a:prstGeom prst="roundRect">
            <a:avLst>
              <a:gd name="adj" fmla="val 7874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8943975" y="106680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C0F0"/>
                </a:solidFill>
                <a:latin typeface="Microsoft YaHei"/>
                <a:ea typeface="Microsoft YaHei"/>
              </a:rPr>
              <a:t>缩放点积注意力</a:t>
            </a:r>
            <a:endParaRPr/>
          </a:p>
        </p:txBody>
      </p:sp>
      <p:pic>
        <p:nvPicPr>
          <p:cNvPr id="339" name="" descr="Attention(Q,K,V)=softmax\!\left(\frac{QK^{\top}}{\sqrt{d_k}}\right)V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972425" y="1352550"/>
            <a:ext cx="3143250" cy="323850"/>
          </a:xfrm>
          <a:prstGeom prst="rect"/>
          <a:ln/>
        </p:spPr>
      </p:pic>
      <p:pic>
        <p:nvPicPr>
          <p:cNvPr id="340" name="" descr="head_i = Attention(XW_i^Q,\;XW_i^K,\;XW_i^V)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020050" y="1752600"/>
            <a:ext cx="3048000" cy="219075"/>
          </a:xfrm>
          <a:prstGeom prst="rect"/>
          <a:ln/>
        </p:spPr>
      </p:pic>
      <p:sp>
        <p:nvSpPr>
          <p:cNvPr id="341" name=""/>
          <p:cNvSpPr/>
          <p:nvPr/>
        </p:nvSpPr>
        <p:spPr>
          <a:xfrm rot="0" flipH="0" flipV="0">
            <a:off x="7324725" y="2238375"/>
            <a:ext cx="4533900" cy="12763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2" name=""/>
          <p:cNvSpPr/>
          <p:nvPr/>
        </p:nvSpPr>
        <p:spPr>
          <a:xfrm rot="0" flipH="0" flipV="0">
            <a:off x="7324725" y="2238375"/>
            <a:ext cx="4533900" cy="1276350"/>
          </a:xfrm>
          <a:custGeom>
            <a:pathLst>
              <a:path w="476" h="134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31"/>
                </a:lnTo>
                <a:cubicBezTo>
                  <a:pt x="5" y="133"/>
                  <a:pt x="6" y="134"/>
                  <a:pt x="8" y="134"/>
                </a:cubicBezTo>
                <a:cubicBezTo>
                  <a:pt x="3" y="134"/>
                  <a:pt x="0" y="130"/>
                  <a:pt x="0" y="12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7458075" y="2371725"/>
            <a:ext cx="4219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>① Q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、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>K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、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V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到底是什么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7458075" y="2676525"/>
            <a:ext cx="42195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同一个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X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经三个线性变换得到三种角色。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Q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K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的点积衡量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两个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patch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有多相关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V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是被加权取出的内容。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7324725" y="3629025"/>
            <a:ext cx="4533900" cy="1266825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7324725" y="3629025"/>
            <a:ext cx="4533900" cy="1266825"/>
          </a:xfrm>
          <a:custGeom>
            <a:pathLst>
              <a:path w="476" h="133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30"/>
                </a:lnTo>
                <a:cubicBezTo>
                  <a:pt x="5" y="132"/>
                  <a:pt x="6" y="133"/>
                  <a:pt x="8" y="133"/>
                </a:cubicBezTo>
                <a:cubicBezTo>
                  <a:pt x="3" y="133"/>
                  <a:pt x="0" y="129"/>
                  <a:pt x="0" y="12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7458075" y="3762375"/>
            <a:ext cx="4219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为什么要除以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√d_k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7458075" y="4067175"/>
            <a:ext cx="42195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d_k = 64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时点积方差约为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64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，数值过大把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softmax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推入饱和区、梯度趋近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。除以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√d_k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把方差拉回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7324725" y="5010150"/>
            <a:ext cx="4533900" cy="1276350"/>
          </a:xfrm>
          <a:prstGeom prst="roundRect">
            <a:avLst>
              <a:gd name="adj" fmla="val 5970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350" name=""/>
          <p:cNvSpPr/>
          <p:nvPr/>
        </p:nvSpPr>
        <p:spPr>
          <a:xfrm rot="0" flipH="0" flipV="0">
            <a:off x="7324725" y="5010150"/>
            <a:ext cx="4533900" cy="1276350"/>
          </a:xfrm>
          <a:custGeom>
            <a:pathLst>
              <a:path w="476" h="134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31"/>
                </a:lnTo>
                <a:cubicBezTo>
                  <a:pt x="5" y="133"/>
                  <a:pt x="6" y="134"/>
                  <a:pt x="8" y="134"/>
                </a:cubicBezTo>
                <a:cubicBezTo>
                  <a:pt x="3" y="134"/>
                  <a:pt x="0" y="130"/>
                  <a:pt x="0" y="12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7458075" y="5143500"/>
            <a:ext cx="4219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多头在并行看什么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7458075" y="5448300"/>
            <a:ext cx="42195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ViT-B/16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有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个头，每头只看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64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维子空间：有的盯病灶边缘，有的盯远处背景，有的近似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CNN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局部模式。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21 / 38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356" name="" descr="&lt;Slide style={{ padding: 0, background: '#FFFFFF', fontFamily: 'Microsoft YaHei' }}&gt;&#10;    &lt;Box style={{ width: '100%', height: 76, background: '#0E3F8C', flexDirection: 'row', alignItems: 'center', justifyContent: 'space-between', paddingLeft: 40, paddingRight: 40 }}&gt;&#10;        &lt;Box style={{ flexDirection: 'row', alignItems: 'center', gap: 16 }}&gt;&#10;            &lt;Box style={{ width: 6, height: 34, background: '#FFC107' }} /&gt;&#10;            &lt;Text style={{ fontSize: 32, fontWeight: 'bold', color: '#FFFFFF' }}&gt;Encoder Block 结构与 ViT 变体&lt;/Text&gt;&#10;        &lt;/Box&gt;&#10;        &lt;Text style={{ fontSize: 16, color: '#8FC0F0' }}&gt;04 ViT：视觉 Transformer&lt;/Text&gt;&#10;    &lt;/Box&gt;&#10;&#10;    &lt;Box style={{ flex: 1, flexDirection: 'row', gap: 24, paddingTop: 20, paddingLeft: 40, paddingRight: 40, paddingBottom: 20 }}&gt;&#10;        &lt;Box style={{ width: 620, background: '#F7F9FC', border: '1px solid #D6DCE5', borderRadius: 10, padding: 8, alignItems: 'center', justifyContent: 'center' }}&gt;&#10;            &lt;svg width={580} height={470} viewBox='0 0 580 470'&gt;&#10;                &lt;text x='290' y='22' fill='#0E3F8C' font-size='18' font-weight='bold' text-anchor='middle' font-family='Microsoft YaHei'&gt;Transformer Encoder Block（Pre-Norm 结构）&lt;/text&gt;&#10;&#10;                &lt;text x='34' y='72' fill='#1E4FA8' font-size='22' font-weight='bold' font-family='Microsoft YaHei'&gt;x&lt;/text&gt;&#10;                &lt;path d='M48 64 H 96' stroke='#1E4FA8' strokeWidth='2' /&gt;&#10;                &lt;path d='M88 58 L 98 64 L 88 70' fill='#1E4FA8' /&gt;&#10;&#10;                &lt;rect x='98' y='44' width='170' height='46' rx='8' fill='#E8EFF8' stroke='#1E4FA8' strokeWidth='2' /&gt;&#10;                &lt;text x='183' y='73' fill='#0E3F8C' font-size='17' font-weight='bold' text-anchor='middle' font-family='Microsoft YaHei'&gt;Layer Norm&lt;/text&gt;&#10;&#10;                &lt;path d='M268 67 H 296' stroke='#1E4FA8' strokeWidth='2' /&gt;&#10;                &lt;path d='M288 61 L 298 67 L 288 73' fill='#1E4FA8' /&gt;&#10;&#10;                &lt;rect x='298' y='44' width='220' height='46' rx='8' fill='#FFF8E1' stroke='#FFC107' strokeWidth='2' /&gt;&#10;                &lt;text x='408' y='73' fill='#0E3F8C' font-size='17' font-weight='bold' text-anchor='middle' font-family='Microsoft YaHei'&gt;Multi-Head Self-Attention&lt;/text&gt;&#10;&#10;                &lt;path d='M408 90 V 150 H 408' stroke='#D9534F' strokeWidth='0' /&gt;&#10;                &lt;path d='M350 90 V 150 H 130 V 96' fill='none' stroke='#D9534F' strokeWidth='3' /&gt;&#10;                &lt;path d='M124 108 L 130 92 L 136 108' fill='#D9534F' /&gt;&#10;&#10;                &lt;circle cx='408' cy='150' r='22' fill='#FFFFFF' stroke='#D9534F' strokeWidth='3' /&gt;&#10;                &lt;text x='408' y='159' fill='#D9534F' font-size='26' font-weight='bold' text-anchor='middle' font-family='Microsoft YaHei'&gt;+&lt;/text&gt;&#10;&#10;                &lt;path d='M430 150 H 470' stroke='#1E4FA8' strokeWidth='2' /&gt;&#10;                &lt;path d='M462 144 L 472 150 L 462 156' fill='#1E4FA8' /&gt;&#10;&#10;                &lt;rect x='470' y='128' width='94' height='44' rx='8' fill='#E8EFF8' stroke='#1E4FA8' strokeWidth='2' /&gt;&#10;                &lt;text x='517' y='156' fill='#0E3F8C' font-size='16' font-weight='bold' text-anchor='middle' font-family='Microsoft YaHei'&gt;中间态&lt;/text&gt;&#10;&#10;                &lt;path d='M517 172 V 200 H 183 V 222' fill='none' stroke='#1E4FA8' strokeWidth='2' /&gt;&#10;                &lt;path d='M177 210 L 183 220 L 189 210' fill='#1E4FA8' /&gt;&#10;&#10;                &lt;rect x='98' y='224' width='170' height='46' rx='8' fill='#E8EFF8' stroke='#1E4FA8' strokeWidth='2' /&gt;&#10;                &lt;text x='183' y='253' fill='#0E3F8C' font-size='17' font-weight='bold' text-anchor='middle' font-family='Microsoft YaHei'&gt;Layer Norm&lt;/text&gt;&#10;&#10;                &lt;path d='M268 247 H 296' stroke='#1E4FA8' strokeWidth='2' /&gt;&#10;                &lt;path d='M288 241 L 298 247 L 288 253' fill='#1E4FA8' /&gt;&#10;&#10;                &lt;rect x='298' y='224' width='220' height='46' rx='8' fill='#FFF8E1' stroke='#FFC107' strokeWidth='2' /&gt;&#10;                &lt;text x='408' y='253' fill='#0E3F8C' font-size='17' font-weight='bold' text-anchor='middle' font-family='Microsoft YaHei'&gt;MLP：D → 4D → D&lt;/text&gt;&#10;&#10;                &lt;path d='M350 270 V 320 H 130 V 276' fill='none' stroke='#D9534F' strokeWidth='3' /&gt;&#10;                &lt;path d='M124 288 L 130 272 L 136 288' fill='#D9534F' /&gt;&#10;&#10;                &lt;circle cx='408' cy='320' r='22' fill='#FFFFFF' stroke='#D9534F' strokeWidth='3' /&gt;&#10;                &lt;text x='408' y='329' fill='#D9534F' font-size='26' font-weight='bold' text-anchor='middle' font-family='Microsoft YaHei'&gt;+&lt;/text&gt;&#10;&#10;                &lt;path d='M430 320 H 480' stroke='#1E4FA8' strokeWidth='2' /&gt;&#10;                &lt;path d='M472 314 L 482 320 L 472 326' fill='#1E4FA8' /&gt;&#10;                &lt;text x='520' y='327' fill='#0E3F8C' font-size='18' font-weight='bold' text-anchor='middle' font-family='Microsoft YaHei'&gt;输出&lt;/text&gt;&#10;&#10;                &lt;rect x='60' y='366' width='460' height='80' rx='8' fill='#FFFFFF' stroke='#D6DCE5' strokeWidth='1' /&gt;&#10;                &lt;text x='290' y='392' fill='#1A2230' font-size='16' text-anchor='middle' font-family='Microsoft YaHei'&gt;两条残差支路：x′ = x + MSA(LN(x))，y = x′ + MLP(LN(x′))&lt;/text&gt;&#10;                &lt;text x='290' y='414' fill='#1E4FA8' font-size='16' font-weight='bold' text-anchor='middle' font-family='Microsoft YaHei'&gt;Pre-Norm（先归一化再进子层）比 Post-Norm 更容易训练深层&lt;/text&gt;&#10;                &lt;text x='290' y='434' fill='#8B97A8' font-size='15' text-anchor='middle' font-family='Microsoft YaHei'&gt;MLP 用 GELU 激活 + Dropout，扩展倍数为 4（768 → 3072 → 768）&lt;/text&gt;&#10;            &lt;/svg&gt;&#10;        &lt;/Box&gt;&#10;&#10;        &lt;Box style={{ flex: 1, gap: 12 }}&gt;&#10;            &lt;Box style={{ flexDirection: 'row', alignItems: 'center', gap: 12, background: '#E8EFF8', borderRadius: 8, paddingLeft: 16, paddingTop: 9, paddingBottom: 9 }}&gt;&#10;                &lt;FAIcon name='info-circle' style={{ fill: '#1E4FA8', width: 24, height: 24 }} /&gt;&#10;                &lt;Text style={{ fontSize: 19, fontWeight: 'bold', color: '#0E3F8C' }}&gt;同一个骨架，四种规格&lt;/Text&gt;&#10;            &lt;/Box&gt;&#10;&#10;            &lt;Table&#10;                style={{ width: '100%', height: 250 }}&#10;                defaultTextStyle={{ fontSize: 16, textAlign: 'center', color: '#1A2230' }}&#10;                defaultCellStyle={{&#10;                    border: {&#10;                        left: { width: 1, color: '#D6DCE5' }, right: { width: 1, color: '#D6DCE5' },&#10;                        top: { width: 1, color: '#D6DCE5' }, bottom: { width: 1, color: '#D6DCE5' },&#10;                    },&#10;                }}&#10;                cells={[&#10;                    [&#10;                        { text: '变体', textStyle: { bold: true, color: '#FFFFFF' }, cellStyle: { background: { color: '#0E3F8C' } } },&#10;                        { text: '隐藏维 D', textStyle: { bold: true, color: '#FFFFFF' }, cellStyle: { background: { color: '#0E3F8C' } } },&#10;                        { text: '层数 L', textStyle: { bold: true, color: '#FFFFFF' }, cellStyle: { background: { color: '#0E3F8C' } } },&#10;                        { text: '头数', textStyle: { bold: true, color: '#FFFFFF' }, cellStyle: { background: { color: '#0E3F8C' } } },&#10;                        { text: '参数量', textStyle: { bold: true, color: '#FFFFFF' }, cellStyle: { background: { color: '#0E3F8C' } } },&#10;                    ],&#10;                    [&#10;                        { text: 'ViT-B/16', textStyle: { bold: true }, cellStyle: { background: { color: '#F0F5FC' } } },&#10;                        '768', '12', '12', '85.8 M',&#10;                    ],&#10;                    [&#10;                        'ViT-B/32', '768', '12', '12', '约 88 M',&#10;                    ],&#10;                    [&#10;                        { text: 'ViT-L/16', textStyle: { bold: true }, cellStyle: { background: { color: '#F0F5FC' } } },&#10;                        '1024', '24', '16', '约 304 M',&#10;                    ],&#10;                    [&#10;                        'ViT-L/32', '1024', '24', '16', '约 306 M',&#10;                    ],&#10;                    [&#10;                        { text: '从零轻量版', textStyle: { bold: true, color: '#0E3F8C' }, cellStyle: { background: { color: '#FFF8E1' } } },&#10;                        { text: '256', cellStyle: { background: { color: '#FFF8E1' } } },&#10;                        { text: '6', cellStyle: { background: { color: '#FFF8E1' } } },&#10;                        { text: '8', cellStyle: { background: { color: '#FFF8E1' } } },&#10;                        { text: '3.4 M', textStyle: { bold: true, color: '#0E3F8C' }, cellStyle: { background: { color: '#FFF8E1' } } },&#10;                    ],&#10;                ]}&#10;            /&gt;&#10;&#10;            &lt;Box style={{ flex: 1, background: '#FFFFFF', border: '1px solid #D6DCE5', borderLeft: '5px solid #1E4FA8', borderRadius: 8, padding: 14, gap: 8 }}&gt;&#10;                &lt;Text style={{ fontSize: 21, fontWeight: 'bold', color: '#0E3F8C' }}&gt;patch 大小决定序列长度&lt;/Text&gt;&#10;                &lt;Text style={{ fontSize: 17, color: '#4A5568', lineHeight: 1.6 }}&gt;&#10;                    16×16 把 224 图切成 196 块，32×32 只切 49 块。块越大序列越短、算力越省，但细节损失越多——医学影像上细粒度纹理恰恰是判别依据。&#10;                &lt;/Text&gt;&#10;                &lt;Box style={{ background: '#FFF8E1', borderRadius: 6, padding: 10, marginTop: 'auto' }}&gt;&#10;                    &lt;Text style={{ fontSize: 16, color: '#1A2230', lineHeight: 1.5 }}&gt;&#10;                        &lt;span style={{ fontWeight: 'bold' }}&gt;本项目选择：&lt;/span&gt;预训练 ViT-B/16（85.8 M）作为主力，另加一个从零实现的轻量版（3.4 M）做对照。&#10;                    &lt;/Text&gt;&#10;                &lt;/Box&gt;&#10;            &lt;/Box&gt;&#10;        &lt;/Box&gt;&#10;    &lt;/Box&gt;&#10;&#10;    &lt;Box style={{ height: 40, flexDirection: 'row', alignItems: 'center', justifyContent: 'space-between', paddingLeft: 40, paddingRight: 40, borderTop: '1px solid #E5E7EB' }}&gt;&#10;        &lt;Text style={{ fontSize: 14, color: '#8B97A8' }}&gt;BUSI 乳腺超声图像分类 · 乳腺癌智能诊断&lt;/Text&gt;&#10;        &lt;Text style={{ fontSize: 14, color: '#1E4FA8' }}&gt;22 / 3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8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59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44672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Encoder Block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结构与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ViT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变体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9972675" y="26670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>04 ViT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：视觉</a:t>
            </a: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 xml:space="preserve"> Transformer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381000" y="914400"/>
            <a:ext cx="5905500" cy="5372100"/>
          </a:xfrm>
          <a:prstGeom prst="roundRect">
            <a:avLst>
              <a:gd name="adj" fmla="val 177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1362075"/>
            <a:ext cx="5524500" cy="4476750"/>
          </a:xfrm>
          <a:prstGeom prst="rect">
            <a:avLst/>
          </a:prstGeom>
          <a:ln/>
        </p:spPr>
      </p:pic>
      <p:sp>
        <p:nvSpPr>
          <p:cNvPr id="364" name=""/>
          <p:cNvSpPr/>
          <p:nvPr/>
        </p:nvSpPr>
        <p:spPr>
          <a:xfrm rot="0" flipH="0" flipV="0">
            <a:off x="6515100" y="914400"/>
            <a:ext cx="5295900" cy="400050"/>
          </a:xfrm>
          <a:prstGeom prst="roundRect">
            <a:avLst>
              <a:gd name="adj" fmla="val 19048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3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667500" y="1000125"/>
            <a:ext cx="228600" cy="228600"/>
          </a:xfrm>
          <a:prstGeom prst="rect">
            <a:avLst/>
          </a:prstGeom>
          <a:ln/>
        </p:spPr>
      </p:pic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7010400" y="100965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同一个骨架，四种规格</a:t>
            </a:r>
            <a:endParaRPr/>
          </a:p>
        </p:txBody>
      </p:sp>
      <p:graphicFrame>
        <p:nvGraphicFramePr>
          <p:cNvPr id="367" name=""/>
          <p:cNvGraphicFramePr/>
          <p:nvPr/>
        </p:nvGraphicFramePr>
        <p:xfrm rot="0" flipH="0" flipV="0">
          <a:off x="6515100" y="1428750"/>
          <a:ext cx="5295900" cy="2381250"/>
        </p:xfrm>
        <a:graphic>
          <a:graphicData uri="http://schemas.openxmlformats.org/drawingml/2006/table">
            <a:tbl>
              <a:tblGrid>
                <a:gridCol w="1387464">
                  <a:extLst>
                    <a:ext uri="{9D8B030D-6E8A-4147-A177-3AD203B41FA5}">
                      <a16:colId val="1"/>
                    </a:ext>
                  </a:extLst>
                </a:gridCol>
                <a:gridCol w="1170673">
                  <a:extLst>
                    <a:ext uri="{9D8B030D-6E8A-4147-A177-3AD203B41FA5}">
                      <a16:colId val="2"/>
                    </a:ext>
                  </a:extLst>
                </a:gridCol>
                <a:gridCol w="860971">
                  <a:extLst>
                    <a:ext uri="{9D8B030D-6E8A-4147-A177-3AD203B41FA5}">
                      <a16:colId val="3"/>
                    </a:ext>
                  </a:extLst>
                </a:gridCol>
                <a:gridCol w="644180">
                  <a:extLst>
                    <a:ext uri="{9D8B030D-6E8A-4147-A177-3AD203B41FA5}">
                      <a16:colId val="4"/>
                    </a:ext>
                  </a:extLst>
                </a:gridCol>
                <a:gridCol w="1232613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3968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变体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隐藏维 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层数 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头数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参数量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968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ViT-B/16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768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85.8 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968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ViT-B/32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768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约 88 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968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ViT-L/16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1024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约 304 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968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ViT-L/32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1024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约 306 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968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从零轻量版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256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3.4 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368" name=""/>
          <p:cNvSpPr/>
          <p:nvPr/>
        </p:nvSpPr>
        <p:spPr>
          <a:xfrm rot="0" flipH="0" flipV="0">
            <a:off x="6562725" y="3924300"/>
            <a:ext cx="52959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9" name=""/>
          <p:cNvSpPr/>
          <p:nvPr/>
        </p:nvSpPr>
        <p:spPr>
          <a:xfrm rot="0" flipH="0" flipV="0">
            <a:off x="6562725" y="3924300"/>
            <a:ext cx="5295900" cy="2362200"/>
          </a:xfrm>
          <a:custGeom>
            <a:pathLst>
              <a:path w="556" h="248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245"/>
                </a:lnTo>
                <a:cubicBezTo>
                  <a:pt x="5" y="247"/>
                  <a:pt x="6" y="248"/>
                  <a:pt x="8" y="248"/>
                </a:cubicBezTo>
                <a:cubicBezTo>
                  <a:pt x="3" y="248"/>
                  <a:pt x="0" y="244"/>
                  <a:pt x="0" y="24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6696075" y="4057650"/>
            <a:ext cx="4981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patch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大小决定序列长度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6696075" y="4381500"/>
            <a:ext cx="49815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16×16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把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224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图切成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196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块，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32×32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只切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49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块。块越大序列越短、算力越省，但细节损失越多——医学影像上细粒度纹理恰恰是判别依据。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6696075" y="5410200"/>
            <a:ext cx="4981575" cy="742950"/>
          </a:xfrm>
          <a:prstGeom prst="roundRect">
            <a:avLst>
              <a:gd name="adj" fmla="val 7692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6791325" y="5505450"/>
            <a:ext cx="47910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本项目选择：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预训练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ViT-B/16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85.8 M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）作为主力，另加一个从零实现的轻量版（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3.4 M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）做对照。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22 / 38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77" name="" descr="&lt;Slide style={{ padding: 0, background: '#0E3F8C', fontFamily: 'Microsoft YaHei' }}&gt;&#10;    &lt;svg width={1280} height={720} viewBox='0 0 1280 720' style={{ position: 'absolute', top: 0, left: 0, opacity: 0.18 }}&gt;&#10;        &lt;path d='M800 500 Q 950 200 1100 320 T 1260 240' fill='none' stroke='#8FC0F0' strokeWidth='3' /&gt;&#10;        &lt;circle cx='1100' cy='320' r='16' fill='#FFC107' /&gt;&#10;        &lt;circle cx='960' cy='300' r='10' fill='#8FC0F0' /&gt;&#10;        &lt;path d='M800 560 H 1260' stroke='#8FC0F0' strokeWidth='2' /&gt;&#10;        &lt;path d='M1090 330 L 1080 400 M1100 336 L 1100 400 M1110 330 L 1120 400' stroke='#8FC0F0' strokeWidth='2' /&gt;&#10;        &lt;text x='1100' y='430' fill='#8FC0F0' font-size='24' text-anchor='middle' font-family='Microsoft YaHei'&gt;min L&lt;/text&gt;&#10;    &lt;/svg&gt;&#10;    &lt;Box style={{ width: '100%', height: '100%', paddingTop: 84, paddingLeft: 72, paddingRight: 72, paddingBottom: 72, justifyContent: 'space-between' }}&gt;&#10;        &lt;Box style={{ flexDirection: 'row', alignItems: 'center', gap: 40 }}&gt;&#10;            &lt;Text style={{ fontSize: 200, fontWeight: 'bold', color: '#3D7BD9', lineHeight: 1 }}&gt;&#10;                05&#10;            &lt;/Text&gt;&#10;            &lt;Box style={{ width: 3, height: 150, background: 'rgba(255,255,255,0.35)' }} /&gt;&#10;            &lt;Box style={{ gap: 14 }}&gt;&#10;                &lt;Text style={{ fontSize: 50, fontWeight: 'bold', color: '#FFFFFF', letterSpacing: 3 }}&gt;&#10;                    损失函数与优化策略&#10;                &lt;/Text&gt;&#10;                &lt;Text style={{ fontFamily: 'Times New Roman', fontSize: 21, color: '#8FC0F0', letterSpacing: 1 }}&gt;&#10;                    Loss Functions and Optimization&#10;                &lt;/Text&gt;&#10;                &lt;Text style={{ fontSize: 21, color: '#CFE0F7', lineHeight: 1.6 }}&gt;&#10;                    损失函数定义了&quot;什么算错&quot;，优化器决定了&quot;怎么改&quot;。&#10;                &lt;/Text&gt;&#10;            &lt;/Box&gt;&#10;        &lt;/Box&gt;&#10;&#10;        &lt;Box style={{ flexDirection: 'row', gap: 24 }}&gt;&#10;            &lt;Box style={{ flex: 1, background: 'rgba(255,255,255,0.10)', border: '1px solid rgba(255,255,255,0.22)', borderRadius: 10, padding: 26, gap: 10 }}&gt;&#10;                &lt;Text style={{ fontSize: 22, fontWeight: 'bold', color: '#FFC107' }}&gt;交叉熵&lt;/Text&gt;&#10;                &lt;Text style={{ fontSize: 18, color: '#DCE8F7', lineHeight: 1.6 }}&gt;&#10;                    Softmax 把 logits 变成概率，交叉熵惩罚&quot;给真实类别的概率不够高&quot;。&#10;                &lt;/Text&gt;&#10;            &lt;/Box&gt;&#10;            &lt;Box style={{ flex: 1, background: 'rgba(255,255,255,0.10)', border: '1px solid rgba(255,255,255,0.22)', borderRadius: 10, padding: 26, gap: 10 }}&gt;&#10;                &lt;Text style={{ fontSize: 22, fontWeight: 'bold', color: '#FFC107' }}&gt;类别加权&lt;/Text&gt;&#10;                &lt;Text style={{ fontSize: 18, color: '#DCE8F7', lineHeight: 1.6 }}&gt;&#10;                    少数类的错误乘上更大权重，直接把&quot;临床偏好&quot;写进损失。&#10;                &lt;/Text&gt;&#10;            &lt;/Box&gt;&#10;            &lt;Box style={{ flex: 1, background: 'rgba(255,255,255,0.10)', border: '1px solid rgba(255,255,255,0.22)', borderRadius: 10, padding: 26, gap: 10 }}&gt;&#10;                &lt;Text style={{ fontSize: 22, fontWeight: 'bold', color: '#FFC107' }}&gt;平滑与调度&lt;/Text&gt;&#10;                &lt;Text style={{ fontSize: 18, color: '#DCE8F7', lineHeight: 1.6 }}&gt;&#10;                    标签平滑防过拟合，AdamW 解耦权重衰减，StepLR 分段降学习率。&#10;                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685800" y="8001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3D7BD9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3419475" y="1228725"/>
            <a:ext cx="28575" cy="142875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3829050" y="1209675"/>
            <a:ext cx="4752975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750" b="1" spc="225">
                <a:solidFill>
                  <a:srgbClr val="FFFFFF"/>
                </a:solidFill>
                <a:latin typeface="Microsoft YaHei"/>
                <a:ea typeface="Microsoft YaHei"/>
              </a:rPr>
              <a:t>损失函数与优化策略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3829050" y="1914525"/>
            <a:ext cx="4752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spc="75">
                <a:solidFill>
                  <a:srgbClr val="8FC0F0"/>
                </a:solidFill>
                <a:latin typeface="Times New Roman"/>
                <a:ea typeface="Times New Roman"/>
              </a:rPr>
              <a:t>Loss Functions and Optimization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3829050" y="2295525"/>
            <a:ext cx="4752975" cy="390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CFE0F7"/>
                </a:solidFill>
                <a:latin typeface="Microsoft YaHei"/>
                <a:ea typeface="Microsoft YaHei"/>
              </a:rPr>
              <a:t>损失函数定义了</a:t>
            </a:r>
            <a:r>
              <a:rPr lang="en-US" sz="1575">
                <a:solidFill>
                  <a:srgbClr val="CFE0F7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CFE0F7"/>
                </a:solidFill>
                <a:latin typeface="Microsoft YaHei"/>
                <a:ea typeface="Microsoft YaHei"/>
              </a:rPr>
              <a:t>什么算错</a:t>
            </a:r>
            <a:r>
              <a:rPr lang="en-US" sz="1575">
                <a:solidFill>
                  <a:srgbClr val="CFE0F7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CFE0F7"/>
                </a:solidFill>
                <a:latin typeface="Microsoft YaHei"/>
                <a:ea typeface="Microsoft YaHei"/>
              </a:rPr>
              <a:t>，优化器决定了</a:t>
            </a:r>
            <a:r>
              <a:rPr lang="en-US" sz="1575">
                <a:solidFill>
                  <a:srgbClr val="CFE0F7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CFE0F7"/>
                </a:solidFill>
                <a:latin typeface="Microsoft YaHei"/>
                <a:ea typeface="Microsoft YaHei"/>
              </a:rPr>
              <a:t>怎么改</a:t>
            </a:r>
            <a:r>
              <a:rPr lang="en-US" sz="1575">
                <a:solidFill>
                  <a:srgbClr val="CFE0F7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CFE0F7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685800" y="4657725"/>
            <a:ext cx="3457575" cy="1514475"/>
          </a:xfrm>
          <a:prstGeom prst="roundRect">
            <a:avLst>
              <a:gd name="adj" fmla="val 62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933450" y="4905375"/>
            <a:ext cx="2962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交叉熵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933450" y="5257800"/>
            <a:ext cx="29622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Softmax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把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 logits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变成概率，交叉熵惩罚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给真实类别的概率不够高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4371975" y="4657725"/>
            <a:ext cx="3448050" cy="1514475"/>
          </a:xfrm>
          <a:prstGeom prst="roundRect">
            <a:avLst>
              <a:gd name="adj" fmla="val 62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4619625" y="4905375"/>
            <a:ext cx="2952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类别加权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4619625" y="5257800"/>
            <a:ext cx="29527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少数类的错误乘上更大权重，直接把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临床偏好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写进损失。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8048625" y="4657725"/>
            <a:ext cx="3457575" cy="1514475"/>
          </a:xfrm>
          <a:prstGeom prst="roundRect">
            <a:avLst>
              <a:gd name="adj" fmla="val 62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8296275" y="4905375"/>
            <a:ext cx="2962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平滑与调度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8296275" y="5257800"/>
            <a:ext cx="29622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标签平滑防过拟合，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AdamW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解耦权重衰减，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StepLR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分段降学习率。</a:t>
            </a:r>
            <a:endParaRPr/>
          </a:p>
        </p:txBody>
      </p:sp>
      <p:pic>
        <p:nvPicPr>
          <p:cNvPr id="393" name="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2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394" name="" descr="&lt;Slide style={{ padding: 0, background: '#FFFFFF', fontFamily: 'Microsoft YaHei' }}&gt;&#13;&#10;    &lt;Box style={{ width: '100%', height: 76, background: '#0E3F8C', flexDirection: 'row', alignItems: 'center', justifyContent: 'space-between', paddingLeft: 40, paddingRight: 40 }}&gt;&#13;&#10;        &lt;Box style={{ flexDirection: 'row', alignItems: 'center', gap: 16 }}&gt;&#13;&#10;            &lt;Box style={{ width: 6, height: 34, background: '#FFC107' }} /&gt;&#13;&#10;            &lt;Text style={{ fontSize: 32, fontWeight: 'bold', color: '#FFFFFF' }}&gt;Softmax 与交叉熵损失&lt;/Text&gt;&#13;&#10;        &lt;/Box&gt;&#13;&#10;        &lt;Text style={{ fontSize: 16, color: '#8FC0F0' }}&gt;05 损失函数与优化策略&lt;/Text&gt;&#13;&#10;    &lt;/Box&gt;&#13;&#10;&#13;&#10;    &lt;Box style={{ height: 604, flexDirection: 'row', gap: 24, paddingTop: 20, paddingLeft: 40, paddingRight: 40, paddingBottom: 20 }}&gt;&#13;&#10;        &lt;Box style={{ width: 470, gap: 14 }}&gt;&#13;&#10;            &lt;Box style={{ flexDirection: 'row', alignItems: 'center', gap: 12, background: '#E8EFF8', borderRadius: 8, paddingLeft: 16, paddingTop: 9, paddingBottom: 9 }}&gt;&#13;&#10;                &lt;FAIcon name='info-circle' style={{ fill: '#1E4FA8', width: 24, height: 24 }} /&gt;&#13;&#10;                &lt;Text style={{ fontSize: 19, fontWeight: 'bold', color: '#0E3F8C' }}&gt;同一个样本，训练前后损失差多少？&lt;/Text&gt;&#13;&#10;            &lt;/Box&gt;&#13;&#10;&#13;&#10;            &lt;Box style={{ flex: 1, background: '#FDECEC', border: '1px solid #F5C6C4', borderRadius: 10, padding: 18, gap: 4 }}&gt;&#13;&#10;                &lt;Text style={{ fontSize: 19, color: '#B03430' }}&gt;训练初期：把恶性判成良性&lt;/Text&gt;&#13;&#10;                &lt;Box style={{ flexDirection: 'row', alignItems: 'baseline', gap: 10 }}&gt;&#13;&#10;                    &lt;Text style={{ fontSize: 92, fontWeight: 'bold', color: '#D9534F', lineHeight: 1 }}&gt;1.94&lt;/Text&gt;&#13;&#10;                    &lt;Text style={{ fontSize: 20, color: '#B03430' }}&gt;nats&lt;/Text&gt;&#13;&#10;                &lt;/Box&gt;&#13;&#10;                &lt;Text style={{ fontSize: 17, color: '#4A5568', lineHeight: 1.55 }}&gt;&#13;&#10;                    模型只给真实的&quot;恶性&quot;类分配了 14.4% 的概率，损失很高，反向传播会产生很大的梯度把它拉回来。&#13;&#10;                &lt;/Text&gt;&#13;&#10;            &lt;/Box&gt;&#13;&#10;&#13;&#10;            &lt;Box style={{ flex: 1, background: '#E8EFF8', border: '1px solid #C7D8F2', borderRadius: 10, padding: 18, gap: 4 }}&gt;&#13;&#10;                &lt;Text style={{ fontSize: 19, color: '#0E3F8C' }}&gt;训练收敛：给出正确答案&lt;/Text&gt;&#13;&#10;                &lt;Box style={{ flexDirection: 'row', alignItems: 'baseline', gap: 10 }}&gt;&#13;&#10;                    &lt;Text style={{ fontSize: 92, fontWeight: 'bold', color: '#1E4FA8', lineHeight: 1 }}&gt;0.33&lt;/Text&gt;&#13;&#10;                    &lt;Text style={{ fontSize: 20, color: '#0E3F8C' }}&gt;nats&lt;/Text&gt;&#13;&#10;                &lt;/Box&gt;&#13;&#10;                &lt;Text style={{ fontSize: 17, color: '#4A5568', lineHeight: 1.55 }}&gt;&#13;&#10;                    给真实类别 72% 的概率时损失降到 0.33。本项目 ResNet-50 在测试集上的平均损失正好是 0.34——说明它对新样本的自信程度与训练集相当。&#13;&#10;                &lt;/Text&gt;&#13;&#10;            &lt;/Box&gt;&#13;&#10;        &lt;/Box&gt;&#13;&#10;&#13;&#10;        &lt;Box style={{ flex: 1, gap: 12 }}&gt;&#13;&#10;            &lt;Box style={{ background: '#F7F9FC', border: '1px solid #D6DCE5', borderRadius: 10, padding: 14, gap: 8 }}&gt;&#13;&#10;                &lt;Box style={{ flexDirection: 'row', alignItems: 'center', justifyContent: 'space-between' }}&gt;&#13;&#10;                    &lt;Text style={{ fontSize: 20, color: '#4A5568' }}&gt;① Softmax 把 logits 压成概率分布&lt;/Text&gt;&#13;&#10;                    &lt;Math latex='p_k=\frac{e^{z_k}}{\sum_{j=1}^{K}e^{z_j}}' width={230} color='#0E3F8C' /&gt;&#13;&#10;                &lt;/Box&gt;&#13;&#10;                &lt;Box style={{ height: 1, background: '#D6DCE5' }} /&gt;&#13;&#10;                &lt;Box style={{ flexDirection: 'row', alignItems: 'center', justifyContent: 'space-between' }}&gt;&#13;&#10;                    &lt;Text style={{ fontSize: 20, color: '#4A5568' }}&gt;② 交叉熵只惩罚真实类别那一项&lt;/Text&gt;&#13;&#10;                    &lt;Math latex='L=-\sum_{k=1}^{K}y_k\log p_k=-\log p_{y}' width={250} color='#D9534F' /&gt;&#13;&#10;                &lt;/Box&gt;&#13;&#10;            &lt;/Box&gt;&#13;&#10;&#13;&#10;            &lt;Box style={{ background: '#FFFFFF', border: '1px solid #D6DCE5', borderRadius: 10, padding: 12, gap: 8 }}&gt;&#13;&#10;                &lt;Text style={{ fontSize: 20, fontWeight: 'bold', color: '#0E3F8C' }}&gt;算一遍：logits = [2.10, 0.40, −0.30]，真实标签 = 恶性&lt;/Text&gt;&#13;&#10;                &lt;Table&#13;&#10;                    style={{ width: '100%', height: 176 }}&#13;&#10;                    defaultTextStyle={{ fontSize: 16, textAlign: 'center', color: '#1A2230' }}&#13;&#10;                    defaultCellStyle={{&#13;&#10;                        border: {&#13;&#10;                            left: { width: 1, color: '#D6DCE5' }, right: { width: 1, color: '#D6DCE5' },&#13;&#10;                            top: { width: 1, color: '#D6DCE5' }, bottom: { width: 1, color: '#D6DCE5' },&#13;&#10;                        },&#13;&#10;                    }}&#13;&#10;                    cells={[&#13;&#10;                        [&#13;&#10;                            { text: '类别', textStyle: { bold: true, color: '#FFFFFF' }, cellStyle: { background: { color: '#0E3F8C' } } },&#13;&#10;                            { text: 'logit z', textStyle: { bold: true, color: '#FFFFFF' }, cellStyle: { background: { color: '#0E3F8C' } } },&#13;&#10;                            { text: 'softmax p', textStyle: { bold: true, color: '#FFFFFF' }, cellStyle: { background: { color: '#0E3F8C' } } },&#13;&#10;                            { text: 'one-hot y', textStyle: { bold: true, color: '#FFFFFF' }, cellStyle: { background: { color: '#0E3F8C' } } },&#13;&#10;                            { text: '−y·log p', textStyle: { bold: true, color: '#FFFFFF' }, cellStyle: { background: { color: '#0E3F8C' } } },&#13;&#10;                        ],&#13;&#10;                        [&#13;&#10;                            '良性 benign', '2.10', '0.785', '0', '0',&#13;&#10;                        ],&#13;&#10;                        [&#13;&#10;                            { text: '恶性 malignant', textStyle: { bold: true }, cellStyle: { background: { color: '#FDECEC' } } },&#13;&#10;                            { text: '0.40', cellStyle: { background: { color: '#FDECEC' } } },&#13;&#10;                            { text: '0.144', cellStyle: { background: { color: '#FDECEC' } } },&#13;&#10;                            { text: '1', cellStyle: { background: { color: '#FDECEC' } } },&#13;&#10;                            { text: '1.94', textStyle: { bold: true, color: '#D9534F' }, cellStyle: { background: { color: '#FDECEC' } } },&#13;&#10;                        ],&#13;&#10;                        [&#13;&#10;                            '正常 normal', '−0.30', '0.071', '0', '0',&#13;&#10;                        ],&#13;&#10;                    ]}&#13;&#10;                /&gt;&#13;&#10;                &lt;Text style={{ fontSize: 16, color: '#8B97A8' }}&gt;&#13;&#10;                    三个 −y·log p 相加 = 1.94，就是这一个样本的交叉熵损失&#13;&#10;                &lt;/Text&gt;&#13;&#10;            &lt;/Box&gt;&#13;&#10;&#13;&#10;            &lt;Box style={{ flex: 1, background: '#FFF8E1', borderLeft: '5px solid #FFC107', borderRadius: 8, padding: 14, justifyContent: 'center' }}&gt;&#13;&#10;                &lt;Text style={{ fontSize: 18, color: '#1A2230', lineHeight: 1.55 }}&gt;&#13;&#10;                    &lt;span style={{ fontWeight: 'bold' }}&gt;判断：&lt;/span&gt;交叉熵只在乎&quot;真实类别的概率是否足够高&quot;，其余两类的概率分配不影响损失值。这带来一个副作用——模型容易被鼓励过度自信，所以下一步要引入标签平滑与类别权重。&#13;&#10;                &lt;/Text&gt;&#13;&#10;            &lt;/Box&gt;&#13;&#10;        &lt;/Box&gt;&#13;&#10;    &lt;/Box&gt;&#13;&#10;&#13;&#10;    &lt;Box style={{ height: 40, flexDirection: 'row', alignItems: 'center', justifyContent: 'space-between', paddingLeft: 40, paddingRight: 40, borderTop: '1px solid #E5E7EB' }}&gt;&#13;&#10;        &lt;Text style={{ fontSize: 14, color: '#8B97A8' }}&gt;BUSI 乳腺超声图像分类 · 乳腺癌智能诊断&lt;/Text&gt;&#13;&#10;        &lt;Text style={{ fontSize: 14, color: '#1E4FA8' }}&gt;24 / 3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6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97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32099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Softmax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与交叉熵损失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10210800" y="26670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 xml:space="preserve">05 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损失函数与优化策略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381000" y="914400"/>
            <a:ext cx="4476750" cy="400050"/>
          </a:xfrm>
          <a:prstGeom prst="roundRect">
            <a:avLst>
              <a:gd name="adj" fmla="val 19048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4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33400" y="1000125"/>
            <a:ext cx="228600" cy="228600"/>
          </a:xfrm>
          <a:prstGeom prst="rect">
            <a:avLst/>
          </a:prstGeom>
          <a:ln/>
        </p:spPr>
      </p:pic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876300" y="1009650"/>
            <a:ext cx="2895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同一个样本，训练前后损失差多少？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381000" y="1447800"/>
            <a:ext cx="4476750" cy="2305050"/>
          </a:xfrm>
          <a:prstGeom prst="roundRect">
            <a:avLst>
              <a:gd name="adj" fmla="val 4132"/>
            </a:avLst>
          </a:prstGeom>
          <a:solidFill>
            <a:srgbClr val="FDECEC"/>
          </a:solidFill>
          <a:ln w="12700">
            <a:solidFill>
              <a:srgbClr val="F5C6C4"/>
            </a:solidFill>
            <a:prstDash val="solid"/>
          </a:ln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552450" y="1619250"/>
            <a:ext cx="4133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B03430"/>
                </a:solidFill>
                <a:latin typeface="Microsoft YaHei"/>
                <a:ea typeface="Microsoft YaHei"/>
              </a:rPr>
              <a:t>训练初期：把恶性判成良性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552450" y="1876425"/>
            <a:ext cx="1876425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D9534F"/>
                </a:solidFill>
                <a:latin typeface="Microsoft YaHei"/>
                <a:ea typeface="Microsoft YaHei"/>
              </a:rPr>
              <a:t>1.94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2524125" y="1876425"/>
            <a:ext cx="390525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B03430"/>
                </a:solidFill>
                <a:latin typeface="Microsoft YaHei"/>
                <a:ea typeface="Microsoft YaHei"/>
              </a:rPr>
              <a:t>nats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552450" y="2971800"/>
            <a:ext cx="41338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模型只给真实的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恶性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类分配了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14.4%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的概率，损失很高，反向传播会产生很大的梯度把它拉回来。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381000" y="3886200"/>
            <a:ext cx="4476750" cy="2600325"/>
          </a:xfrm>
          <a:prstGeom prst="roundRect">
            <a:avLst>
              <a:gd name="adj" fmla="val 3663"/>
            </a:avLst>
          </a:prstGeom>
          <a:solidFill>
            <a:srgbClr val="E8EFF8"/>
          </a:solidFill>
          <a:ln w="12700">
            <a:solidFill>
              <a:srgbClr val="C7D8F2"/>
            </a:solidFill>
            <a:prstDash val="solid"/>
          </a:ln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552450" y="4057650"/>
            <a:ext cx="4133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0E3F8C"/>
                </a:solidFill>
                <a:latin typeface="Microsoft YaHei"/>
                <a:ea typeface="Microsoft YaHei"/>
              </a:rPr>
              <a:t>训练收敛：给出正确答案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552450" y="4314825"/>
            <a:ext cx="1876425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1E4FA8"/>
                </a:solidFill>
                <a:latin typeface="Microsoft YaHei"/>
                <a:ea typeface="Microsoft YaHei"/>
              </a:rPr>
              <a:t>0.33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2524125" y="4314825"/>
            <a:ext cx="390525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0E3F8C"/>
                </a:solidFill>
                <a:latin typeface="Microsoft YaHei"/>
                <a:ea typeface="Microsoft YaHei"/>
              </a:rPr>
              <a:t>nats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552450" y="5410200"/>
            <a:ext cx="413385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给真实类别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72%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的概率时损失降到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0.33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。本项目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ResNet-50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在测试集上的平均损失正好是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0.34——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说明它对新样本的自信程度与训练集相当。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5086350" y="914400"/>
            <a:ext cx="6724650" cy="1352550"/>
          </a:xfrm>
          <a:prstGeom prst="roundRect">
            <a:avLst>
              <a:gd name="adj" fmla="val 704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5219700" y="1285875"/>
            <a:ext cx="3009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① Softmax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把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logits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压成概率分布</a:t>
            </a:r>
            <a:endParaRPr/>
          </a:p>
        </p:txBody>
      </p:sp>
      <p:pic>
        <p:nvPicPr>
          <p:cNvPr id="415" name="" descr="p_k=\frac{e^{z_k}}{\sum_{j=1}^{K}e^{z_j}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486900" y="1047750"/>
            <a:ext cx="2190750" cy="695325"/>
          </a:xfrm>
          <a:prstGeom prst="rect"/>
          <a:ln/>
        </p:spPr>
      </p:pic>
      <p:sp>
        <p:nvSpPr>
          <p:cNvPr id="416" name=""/>
          <p:cNvSpPr/>
          <p:nvPr/>
        </p:nvSpPr>
        <p:spPr>
          <a:xfrm rot="0" flipH="0" flipV="0">
            <a:off x="5219700" y="1819275"/>
            <a:ext cx="645795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5219700" y="1905000"/>
            <a:ext cx="2724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交叉熵只惩罚真实类别那一项</a:t>
            </a:r>
            <a:endParaRPr/>
          </a:p>
        </p:txBody>
      </p:sp>
      <p:pic>
        <p:nvPicPr>
          <p:cNvPr id="418" name="" descr="L=-\sum_{k=1}^{K}y_k\log p_k=-\log p_{y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296400" y="1905000"/>
            <a:ext cx="2381250" cy="228600"/>
          </a:xfrm>
          <a:prstGeom prst="rect"/>
          <a:ln/>
        </p:spPr>
      </p:pic>
      <p:sp>
        <p:nvSpPr>
          <p:cNvPr id="419" name=""/>
          <p:cNvSpPr/>
          <p:nvPr/>
        </p:nvSpPr>
        <p:spPr>
          <a:xfrm rot="0" flipH="0" flipV="0">
            <a:off x="5086350" y="2381250"/>
            <a:ext cx="6724650" cy="24765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5200650" y="2495550"/>
            <a:ext cx="6496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算一遍：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logits = [2.10, 0.40, −0.30]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，真实标签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恶性</a:t>
            </a:r>
            <a:endParaRPr/>
          </a:p>
        </p:txBody>
      </p:sp>
      <p:graphicFrame>
        <p:nvGraphicFramePr>
          <p:cNvPr id="421" name=""/>
          <p:cNvGraphicFramePr/>
          <p:nvPr/>
        </p:nvGraphicFramePr>
        <p:xfrm rot="0" flipH="0" flipV="0">
          <a:off x="5200650" y="2800350"/>
          <a:ext cx="6496050" cy="1676400"/>
        </p:xfrm>
        <a:graphic>
          <a:graphicData uri="http://schemas.openxmlformats.org/drawingml/2006/table">
            <a:tbl>
              <a:tblGrid>
                <a:gridCol w="1860561">
                  <a:extLst>
                    <a:ext uri="{9D8B030D-6E8A-4147-A177-3AD203B41FA5}">
                      <a16:colId val="1"/>
                    </a:ext>
                  </a:extLst>
                </a:gridCol>
                <a:gridCol w="876750">
                  <a:extLst>
                    <a:ext uri="{9D8B030D-6E8A-4147-A177-3AD203B41FA5}">
                      <a16:colId val="2"/>
                    </a:ext>
                  </a:extLst>
                </a:gridCol>
                <a:gridCol w="1325252">
                  <a:extLst>
                    <a:ext uri="{9D8B030D-6E8A-4147-A177-3AD203B41FA5}">
                      <a16:colId val="3"/>
                    </a:ext>
                  </a:extLst>
                </a:gridCol>
                <a:gridCol w="1281849">
                  <a:extLst>
                    <a:ext uri="{9D8B030D-6E8A-4147-A177-3AD203B41FA5}">
                      <a16:colId val="4"/>
                    </a:ext>
                  </a:extLst>
                </a:gridCol>
                <a:gridCol w="1151638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4191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类别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logit z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softmax 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one-hot 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−y·log 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191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良性 benign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2.10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0.785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191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恶性 malignant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0.40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0.144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1.94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191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正常 normal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−0.30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0.071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5200650" y="4552950"/>
            <a:ext cx="6496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三个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−y·log p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相加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= 1.94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，就是这一个样本的交叉熵损失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5133975" y="4972050"/>
            <a:ext cx="6724650" cy="1314450"/>
          </a:xfrm>
          <a:prstGeom prst="roundRect">
            <a:avLst>
              <a:gd name="adj" fmla="val 5797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424" name=""/>
          <p:cNvSpPr/>
          <p:nvPr/>
        </p:nvSpPr>
        <p:spPr>
          <a:xfrm rot="0" flipH="0" flipV="0">
            <a:off x="5133975" y="4972050"/>
            <a:ext cx="6724650" cy="1314450"/>
          </a:xfrm>
          <a:custGeom>
            <a:pathLst>
              <a:path w="706" h="138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35"/>
                </a:lnTo>
                <a:cubicBezTo>
                  <a:pt x="5" y="137"/>
                  <a:pt x="6" y="138"/>
                  <a:pt x="8" y="138"/>
                </a:cubicBezTo>
                <a:cubicBezTo>
                  <a:pt x="3" y="138"/>
                  <a:pt x="0" y="134"/>
                  <a:pt x="0" y="13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5267325" y="5153025"/>
            <a:ext cx="641032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判断：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交叉熵只在乎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真实类别的概率是否足够高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，其余两类的概率分配不影响损失值。这带来一个副作用——模型容易被鼓励过度自信，所以下一步要引入标签平滑与类别权重。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24 / 38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 xmlns:asvg="http://schemas.microsoft.com/office/drawing/2016/SVG/main" xmlns:c="http://schemas.openxmlformats.org/drawingml/2006/chart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429" name="" descr="&lt;Slide style={{ padding: 0, background: '#FFFFFF', fontFamily: 'Microsoft YaHei' }}&gt;&#13;&#10;    &lt;Box style={{ width: '100%', height: 76, background: '#0E3F8C', flexDirection: 'row', alignItems: 'center', justifyContent: 'space-between', paddingLeft: 40, paddingRight: 40 }}&gt;&#13;&#10;        &lt;Box style={{ flexDirection: 'row', alignItems: 'center', gap: 16 }}&gt;&#13;&#10;            &lt;Box style={{ width: 6, height: 34, background: '#FFC107' }} /&gt;&#13;&#10;            &lt;Text style={{ fontSize: 32, fontWeight: 'bold', color: '#FFFFFF' }}&gt;类别不平衡与加权交叉熵&lt;/Text&gt;&#13;&#10;        &lt;/Box&gt;&#13;&#10;        &lt;Text style={{ fontSize: 16, color: '#8FC0F0' }}&gt;05 损失函数与优化策略&lt;/Text&gt;&#13;&#10;    &lt;/Box&gt;&#13;&#10;&#13;&#10;    &lt;Box style={{ height: 604, flexDirection: 'row', gap: 24, paddingTop: 20, paddingLeft: 40, paddingRight: 40, paddingBottom: 20 }}&gt;&#13;&#10;        &lt;Box style={{ width: 690, gap: 12 }}&gt;&#13;&#10;            &lt;Box style={{ flexDirection: 'row', alignItems: 'center', gap: 12, background: '#E8EFF8', borderRadius: 8, paddingLeft: 16, paddingTop: 9, paddingBottom: 9 }}&gt;&#13;&#10;                &lt;FAIcon name='info-circle' style={{ fill: '#1E4FA8', width: 24, height: 24 }} /&gt;&#13;&#10;                &lt;Text style={{ fontSize: 20, fontWeight: 'bold', color: '#0E3F8C' }}&gt;544 张训练图里，正常类只有 93 张——损失该怎么改？&lt;/Text&gt;&#13;&#10;            &lt;/Box&gt;&#13;&#10;&#13;&#10;            &lt;Chart&#13;&#10;                style={{ height: 236 }}&#13;&#10;                chartType='barChart'&#13;&#10;                barDirection='bar'&#13;&#10;                grouping='clustered'&#13;&#10;                title='训练集各类别样本数（分层划分后）'&#13;&#10;                titleColor='#0E3F8C'&#13;&#10;                showLegend={false}&#13;&#10;                showDataLabels={true}&#13;&#10;                axisColor='#8B97A8'&#13;&#10;                dataLabelColor='#1A2230'&#13;&#10;                colors={['#3D7BD9', '#D9534F', '#8B97A8']}&#13;&#10;                background='#FFFFFF'&#13;&#10;                data={[&#13;&#10;                    ['类别', '训练样本数'],&#13;&#10;                    ['良性 benign', 305],&#13;&#10;                    ['恶性 malignant', 146],&#13;&#10;                    ['正常 normal', 93],&#13;&#10;                ]}&#13;&#10;            /&gt;&#13;&#10;&#13;&#10;            &lt;Table&#13;&#10;                style={{ width: '100%', height: 214 }}&#13;&#10;                defaultTextStyle={{ fontSize: 17, textAlign: 'center', color: '#1A2230' }}&#13;&#10;                defaultCellStyle={{&#13;&#10;                    border: {&#13;&#10;                        left: { width: 1, color: '#D6DCE5' }, right: { width: 1, color: '#D6DCE5' },&#13;&#10;                        top: { width: 1, color: '#D6DCE5' }, bottom: { width: 1, color: '#D6DCE5' },&#13;&#10;                    },&#13;&#10;                }}&#13;&#10;                cells={[&#13;&#10;                    [&#13;&#10;                        { text: '类别', textStyle: { bold: true, color: '#FFFFFF' }, cellStyle: { background: { color: '#0E3F8C' } } },&#13;&#10;                        { text: '训练样本数 n', textStyle: { bold: true, color: '#FFFFFF' }, cellStyle: { background: { color: '#0E3F8C' } } },&#13;&#10;                        { text: '1 / n（未归一）', textStyle: { bold: true, color: '#FFFFFF' }, cellStyle: { background: { color: '#0E3F8C' } } },&#13;&#10;                        { text: '类别权重 w', textStyle: { bold: true, color: '#FFFFFF' }, cellStyle: { background: { color: '#0E3F8C' } } },&#13;&#10;                        { text: '相对良性的倍数', textStyle: { bold: true, color: '#FFFFFF' }, cellStyle: { background: { color: '#0E3F8C' } } },&#13;&#10;                    ],&#13;&#10;                    [&#13;&#10;                        { text: '良性 benign', textStyle: { bold: true }, cellStyle: { background: { color: '#F0F5FC' } } },&#13;&#10;                        { text: '305', cellStyle: { background: { color: '#F0F5FC' } } },&#13;&#10;                        { text: '0.00328', cellStyle: { background: { color: '#F0F5FC' } } },&#13;&#10;                        { text: '0.471', cellStyle: { background: { color: '#F0F5FC' } } },&#13;&#10;                        { text: '1.00 ×', cellStyle: { background: { color: '#F0F5FC' } } },&#13;&#10;                    ],&#13;&#10;                    [&#13;&#10;                        { text: '恶性 malignant', textStyle: { bold: true, color: '#B03430' }, cellStyle: { background: { color: '#FDECEC' } } },&#13;&#10;                        { text: '146', cellStyle: { background: { color: '#FDECEC' } } },&#13;&#10;                        { text: '0.00685', cellStyle: { background: { color: '#FDECEC' } } },&#13;&#10;                        { text: '0.984', textStyle: { bold: true, color: '#D9534F' }, cellStyle: { background: { color: '#FDECEC' } } },&#13;&#10;                        { text: '2.09 ×', cellStyle: { background: { color: '#FDECEC' } } },&#13;&#10;                    ],&#13;&#10;                    [&#13;&#10;                        { text: '正常 normal', textStyle: { bold: true }, cellStyle: { background: { color: '#FFF8E1' } } },&#13;&#10;                        { text: '93', cellStyle: { background: { color: '#FFF8E1' } } },&#13;&#10;                        { text: '0.01075', cellStyle: { background: { color: '#FFF8E1' } } },&#13;&#10;                        { text: '1.545', textStyle: { bold: true, color: '#0E3F8C' }, cellStyle: { background: { color: '#FFF8E1' } } },&#13;&#10;                        { text: '3.28 ×', cellStyle: { background: { color: '#FFF8E1' } } },&#13;&#10;                    ],&#13;&#10;                ]}&#13;&#10;            /&gt;&#13;&#10;        &lt;/Box&gt;&#13;&#10;&#13;&#10;        &lt;Box style={{ flex: 1, gap: 12 }}&gt;&#13;&#10;            &lt;Box style={{ background: '#0E3F8C', borderRadius: 10, padding: 14, alignItems: 'center', gap: 6 }}&gt;&#13;&#10;                &lt;Text style={{ fontSize: 18, color: '#8FC0F0' }}&gt;加权交叉熵&lt;/Text&gt;&#13;&#10;                &lt;Math latex='L = -\,w_{y}\,\log p_{y},\qquad w_k \propto \frac{1}{n_k}' width={330} color='#FFFFFF' /&gt;&#13;&#10;                &lt;Text style={{ fontSize: 15, color: '#CFE0F7', textAlign: 'center', lineHeight: 1.5 }}&gt;&#13;&#10;                    归一化后再乘类别数，使权重均值为 1&#13;&#10;                &lt;/Text&gt;&#13;&#10;            &lt;/Box&gt;&#13;&#10;&#13;&#10;            &lt;Box style={{ flex: 1, background: '#FFFFFF', border: '1px solid #D6DCE5', borderLeft: '5px solid #D9534F', borderRadius: 8, padding: 14, gap: 6 }}&gt;&#13;&#10;                &lt;Text style={{ fontSize: 21, fontWeight: 'bold', color: '#0E3F8C' }}&gt;不加权重会发生什么&lt;/Text&gt;&#13;&#10;                &lt;Text style={{ fontSize: 16, color: '#4A5568', lineHeight: 1.55 }}&gt;&#13;&#10;                    良性贡献了 56% 的梯度，模型会发现&quot;多猜良性&quot;最省事，恶性召回率被压低——筛查场景最不能接受的结果。&#13;&#10;                &lt;/Text&gt;&#13;&#10;            &lt;/Box&gt;&#13;&#10;&#13;&#10;            &lt;Box style={{ flex: 1, background: '#FFFFFF', border: '1px solid #D6DCE5', borderLeft: '5px solid #1E4FA8', borderRadius: 8, padding: 14, gap: 6 }}&gt;&#13;&#10;                &lt;Text style={{ fontSize: 21, fontWeight: 'bold', color: '#0E3F8C' }}&gt;加权后的实测效果&lt;/Text&gt;&#13;&#10;                &lt;Text style={{ fontSize: 16, color: '#4A5568', lineHeight: 1.55 }}&gt;&#13;&#10;                    ResNet-50 对恶性类的召回率达 87.5%、特异度 96.5%，与样本最多的良性类（召回 92.4%）差距明显缩小。&#13;&#10;                &lt;/Text&gt;&#13;&#10;            &lt;/Box&gt;&#13;&#10;&#13;&#10;            &lt;Box style={{ flex: 1, background: '#FFF8E1', border: '1px solid #FFC107', borderLeft: '5px solid #FFC107', borderRadius: 8, padding: 14, gap: 6 }}&gt;&#13;&#10;                &lt;Text style={{ fontSize: 21, fontWeight: 'bold', color: '#0E3F8C' }}&gt;一个容易踩的坑&lt;/Text&gt;&#13;&#10;                &lt;Text style={{ fontSize: 16, color: '#4A5568', lineHeight: 1.55 }}&gt;&#13;&#10;                    开启类别权重时，标签平滑会被覆盖（PyTorch 两条分支互斥）。想同时用需自定义损失。&#13;&#10;                &lt;/Text&gt;&#13;&#10;            &lt;/Box&gt;&#13;&#10;        &lt;/Box&gt;&#13;&#10;    &lt;/Box&gt;&#13;&#10;&#13;&#10;    &lt;Box style={{ height: 40, flexDirection: 'row', alignItems: 'center', justifyContent: 'space-between', paddingLeft: 40, paddingRight: 40, borderTop: '1px solid #E5E7EB' }}&gt;&#13;&#10;        &lt;Text style={{ fontSize: 14, color: '#8B97A8' }}&gt;BUSI 乳腺超声图像分类 · 乳腺癌智能诊断&lt;/Text&gt;&#13;&#10;        &lt;Text style={{ fontSize: 14, color: '#1E4FA8' }}&gt;25 / 3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1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32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335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类别不平衡与加权交叉熵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10210800" y="26670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 xml:space="preserve">05 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损失函数与优化策略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381000" y="914400"/>
            <a:ext cx="6572250" cy="400050"/>
          </a:xfrm>
          <a:prstGeom prst="roundRect">
            <a:avLst>
              <a:gd name="adj" fmla="val 19048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4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33400" y="1000125"/>
            <a:ext cx="228600" cy="228600"/>
          </a:xfrm>
          <a:prstGeom prst="rect">
            <a:avLst/>
          </a:prstGeom>
          <a:ln/>
        </p:spPr>
      </p:pic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876300" y="1000125"/>
            <a:ext cx="4791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544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张训练图里，正常类只有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93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张——损失该怎么改？</a:t>
            </a:r>
            <a:endParaRPr/>
          </a:p>
        </p:txBody>
      </p:sp>
      <p:graphicFrame>
        <p:nvGraphicFramePr>
          <p:cNvPr id="438" name="438"/>
          <p:cNvGraphicFramePr/>
          <p:nvPr/>
        </p:nvGraphicFramePr>
        <p:xfrm rot="0" flipH="0" flipV="0">
          <a:off x="381000" y="1428750"/>
          <a:ext cx="6572250" cy="2247900"/>
        </p:xfrm>
        <a:graphic>
          <a:graphicData uri="http://schemas.openxmlformats.org/drawingml/2006/chart">
            <c:chart r:id="rId0"/>
          </a:graphicData>
        </a:graphic>
      </p:graphicFrame>
      <p:graphicFrame>
        <p:nvGraphicFramePr>
          <p:cNvPr id="439" name=""/>
          <p:cNvGraphicFramePr/>
          <p:nvPr/>
        </p:nvGraphicFramePr>
        <p:xfrm rot="0" flipH="0" flipV="0">
          <a:off x="381000" y="3790950"/>
          <a:ext cx="6572250" cy="2038350"/>
        </p:xfrm>
        <a:graphic>
          <a:graphicData uri="http://schemas.openxmlformats.org/drawingml/2006/table">
            <a:tbl>
              <a:tblGrid>
                <a:gridCol w="1465785">
                  <a:extLst>
                    <a:ext uri="{9D8B030D-6E8A-4147-A177-3AD203B41FA5}">
                      <a16:colId val="1"/>
                    </a:ext>
                  </a:extLst>
                </a:gridCol>
                <a:gridCol w="1206354">
                  <a:extLst>
                    <a:ext uri="{9D8B030D-6E8A-4147-A177-3AD203B41FA5}">
                      <a16:colId val="2"/>
                    </a:ext>
                  </a:extLst>
                </a:gridCol>
                <a:gridCol w="1454975">
                  <a:extLst>
                    <a:ext uri="{9D8B030D-6E8A-4147-A177-3AD203B41FA5}">
                      <a16:colId val="3"/>
                    </a:ext>
                  </a:extLst>
                </a:gridCol>
                <a:gridCol w="1055019">
                  <a:extLst>
                    <a:ext uri="{9D8B030D-6E8A-4147-A177-3AD203B41FA5}">
                      <a16:colId val="4"/>
                    </a:ext>
                  </a:extLst>
                </a:gridCol>
                <a:gridCol w="1390117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5095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类别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训练样本数 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1 / n（未归一）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类别权重 w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相对良性的倍数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095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良性 benign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305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0.00328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0.471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1.00 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095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B03430"/>
                          </a:solidFill>
                          <a:latin typeface="Microsoft YaHei"/>
                          <a:ea typeface="Microsoft YaHei"/>
                        </a:rPr>
                        <a:t>恶性 malignant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146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0.00685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0.984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2.09 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095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正常 normal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93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0.01075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1.545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3.28 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440" name=""/>
          <p:cNvSpPr/>
          <p:nvPr/>
        </p:nvSpPr>
        <p:spPr>
          <a:xfrm rot="0" flipH="0" flipV="0">
            <a:off x="7181850" y="914400"/>
            <a:ext cx="4629150" cy="1171575"/>
          </a:xfrm>
          <a:prstGeom prst="roundRect">
            <a:avLst>
              <a:gd name="adj" fmla="val 813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9067800" y="10477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C0F0"/>
                </a:solidFill>
                <a:latin typeface="Microsoft YaHei"/>
                <a:ea typeface="Microsoft YaHei"/>
              </a:rPr>
              <a:t>加权交叉熵</a:t>
            </a:r>
            <a:endParaRPr/>
          </a:p>
        </p:txBody>
      </p:sp>
      <p:pic>
        <p:nvPicPr>
          <p:cNvPr id="442" name="" descr="L = -\,w_{y}\,\log p_{y},\qquad w_k \propto \frac{1}{n_k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924800" y="1314450"/>
            <a:ext cx="3143250" cy="323850"/>
          </a:xfrm>
          <a:prstGeom prst="rect"/>
          <a:ln/>
        </p:spPr>
      </p:pic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8286750" y="1695450"/>
            <a:ext cx="241935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125">
                <a:solidFill>
                  <a:srgbClr val="CFE0F7"/>
                </a:solidFill>
                <a:latin typeface="Microsoft YaHei"/>
                <a:ea typeface="Microsoft YaHei"/>
              </a:rPr>
              <a:t>归一化后再乘类别数，使权重均值为</a:t>
            </a:r>
            <a:r>
              <a:rPr lang="en-US" sz="1125">
                <a:solidFill>
                  <a:srgbClr val="CFE0F7"/>
                </a:solidFill>
                <a:latin typeface="Microsoft YaHei"/>
                <a:ea typeface="Microsoft YaHei"/>
              </a:rPr>
              <a:t xml:space="preserve"> 1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7229475" y="2200275"/>
            <a:ext cx="4629150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5" name=""/>
          <p:cNvSpPr/>
          <p:nvPr/>
        </p:nvSpPr>
        <p:spPr>
          <a:xfrm rot="0" flipH="0" flipV="0">
            <a:off x="7229475" y="2200275"/>
            <a:ext cx="4629150" cy="1285875"/>
          </a:xfrm>
          <a:custGeom>
            <a:pathLst>
              <a:path w="486" h="135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32"/>
                </a:lnTo>
                <a:cubicBezTo>
                  <a:pt x="5" y="134"/>
                  <a:pt x="6" y="135"/>
                  <a:pt x="8" y="135"/>
                </a:cubicBezTo>
                <a:cubicBezTo>
                  <a:pt x="3" y="135"/>
                  <a:pt x="0" y="131"/>
                  <a:pt x="0" y="12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7362825" y="2333625"/>
            <a:ext cx="4314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不加权重会发生什么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7362825" y="2638425"/>
            <a:ext cx="43148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良性贡献了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56%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的梯度，模型会发现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多猜良性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最省事，恶性召回率被压低——筛查场景最不能接受的结果。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7229475" y="3600450"/>
            <a:ext cx="4629150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9" name=""/>
          <p:cNvSpPr/>
          <p:nvPr/>
        </p:nvSpPr>
        <p:spPr>
          <a:xfrm rot="0" flipH="0" flipV="0">
            <a:off x="7229475" y="3600450"/>
            <a:ext cx="4629150" cy="1285875"/>
          </a:xfrm>
          <a:custGeom>
            <a:pathLst>
              <a:path w="486" h="135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32"/>
                </a:lnTo>
                <a:cubicBezTo>
                  <a:pt x="5" y="134"/>
                  <a:pt x="6" y="135"/>
                  <a:pt x="8" y="135"/>
                </a:cubicBezTo>
                <a:cubicBezTo>
                  <a:pt x="3" y="135"/>
                  <a:pt x="0" y="131"/>
                  <a:pt x="0" y="12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7362825" y="3733800"/>
            <a:ext cx="4314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加权后的实测效果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7362825" y="4038600"/>
            <a:ext cx="43148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ResNet-50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对恶性类的召回率达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87.5%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、特异度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96.5%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，与样本最多的良性类（召回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92.4%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）差距明显缩小。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7229475" y="5000625"/>
            <a:ext cx="4629150" cy="1285875"/>
          </a:xfrm>
          <a:prstGeom prst="roundRect">
            <a:avLst>
              <a:gd name="adj" fmla="val 5926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453" name=""/>
          <p:cNvSpPr/>
          <p:nvPr/>
        </p:nvSpPr>
        <p:spPr>
          <a:xfrm rot="0" flipH="0" flipV="0">
            <a:off x="7229475" y="5000625"/>
            <a:ext cx="4629150" cy="1285875"/>
          </a:xfrm>
          <a:custGeom>
            <a:pathLst>
              <a:path w="486" h="135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32"/>
                </a:lnTo>
                <a:cubicBezTo>
                  <a:pt x="5" y="134"/>
                  <a:pt x="6" y="135"/>
                  <a:pt x="8" y="135"/>
                </a:cubicBezTo>
                <a:cubicBezTo>
                  <a:pt x="3" y="135"/>
                  <a:pt x="0" y="131"/>
                  <a:pt x="0" y="12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7362825" y="5133975"/>
            <a:ext cx="4314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一个容易踩的坑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7362825" y="5438775"/>
            <a:ext cx="43148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开启类别权重时，标签平滑会被覆盖（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PyTorch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两条分支互斥）。想同时用需自定义损失。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25 / 38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459" name="" descr="&lt;Slide style={{ padding: 0, background: '#FFFFFF', fontFamily: 'Microsoft YaHei' }}&gt;&#10;    &lt;Box style={{ width: '100%', height: 76, background: '#0E3F8C', flexDirection: 'row', alignItems: 'center', justifyContent: 'space-between', paddingLeft: 40, paddingRight: 40 }}&gt;&#10;        &lt;Box style={{ flexDirection: 'row', alignItems: 'center', gap: 16 }}&gt;&#10;            &lt;Box style={{ width: 6, height: 34, background: '#FFC107' }} /&gt;&#10;            &lt;Text style={{ fontSize: 32, fontWeight: 'bold', color: '#FFFFFF' }}&gt;标签平滑与优化调度&lt;/Text&gt;&#10;        &lt;/Box&gt;&#10;        &lt;Text style={{ fontSize: 16, color: '#8FC0F0' }}&gt;05 损失函数与优化策略&lt;/Text&gt;&#10;    &lt;/Box&gt;&#10;&#10;    &lt;Box style={{ flex: 1, flexDirection: 'row', gap: 24, paddingTop: 20, paddingLeft: 40, paddingRight: 40, paddingBottom: 20 }}&gt;&#10;        &lt;Box style={{ width: 372, gap: 12 }}&gt;&#10;            &lt;Box style={{ background: '#0E3F8C', borderRadius: 10, padding: 18, gap: 8 }}&gt;&#10;                &lt;Text style={{ fontSize: 24, fontWeight: 'bold', color: '#FFFFFF' }}&gt;标签平滑 ε = 0.1&lt;/Text&gt;&#10;                &lt;Math latex='y_k^{\prime}=(1-\varepsilon)\,y_k+\frac{\varepsilon}{K}' width={300} color='#FFFFFF' /&gt;&#10;                &lt;Text style={{ fontSize: 17, color: '#CFE0F7', lineHeight: 1.6 }}&gt;&#10;                    硬标签 [0, 1, 0] 变成软标签 [0.033, 0.933, 0.033]。&#10;                &lt;/Text&gt;&#10;            &lt;/Box&gt;&#10;&#10;            &lt;Box style={{ flex: 1, background: '#F0F5FC', border: '1px solid #D6DCE5', borderRadius: 10, padding: 16, gap: 8 }}&gt;&#10;                &lt;Text style={{ fontSize: 21, fontWeight: 'bold', color: '#0E3F8C' }}&gt;为什么不要&quot;非黑即白&quot;&lt;/Text&gt;&#10;                &lt;Text style={{ fontSize: 17, color: '#4A5568', lineHeight: 1.6 }}&gt;&#10;                    硬标签逼着模型把真实类的概率推到 1，而交叉熵在 p→1 时梯度极陡，容易记住训练样本的细节噪声。&#10;                &lt;/Text&gt;&#10;                &lt;Text style={{ fontSize: 17, color: '#4A5568', lineHeight: 1.6 }}&gt;&#10;                    留出 10% 的&quot;不确定性&quot;给其他类，等价于给输出分布加了个下界，模型的校准性更好。&#10;                &lt;/Text&gt;&#10;                &lt;Box style={{ background: '#FFF8E1', borderRadius: 6, padding: 10, marginTop: 'auto' }}&gt;&#10;                    &lt;Text style={{ fontSize: 16, color: '#1A2230', lineHeight: 1.5 }}&gt;&#10;                        &lt;span style={{ fontWeight: 'bold' }}&gt;提醒：&lt;/span&gt;ε 不宜过大，0.05～0.1 是常用区间。&#10;                    &lt;/Text&gt;&#10;                &lt;/Box&gt;&#10;            &lt;/Box&gt;&#10;        &lt;/Box&gt;&#10;&#10;        &lt;Box style={{ flex: 1, gap: 12 }}&gt;&#10;            &lt;Box style={{ flexDirection: 'row', alignItems: 'center', gap: 12, background: '#E8EFF8', borderRadius: 8, paddingLeft: 16, paddingTop: 9, paddingBottom: 9 }}&gt;&#10;                &lt;FAIcon name='info-circle' style={{ fill: '#1E4FA8', width: 24, height: 24 }} /&gt;&#10;                &lt;Text style={{ fontSize: 20, fontWeight: 'bold', color: '#0E3F8C' }}&gt;优化器决定了&quot;怎么改&quot;，调度器决定了&quot;改多快&quot;&lt;/Text&gt;&#10;            &lt;/Box&gt;&#10;&#10;            &lt;Table&#10;                style={{ width: '100%', height: 300 }}&#10;                defaultTextStyle={{ fontSize: 17, textAlign: 'left', color: '#1A2230' }}&#10;                defaultCellStyle={{&#10;                    paddingLeft: 16,&#10;                    border: {&#10;                        left: { width: 1, color: '#D6DCE5' }, right: { width: 1, color: '#D6DCE5' },&#10;                        top: { width: 1, color: '#D6DCE5' }, bottom: { width: 1, color: '#D6DCE5' },&#10;                    },&#10;                }}&#10;                cells={[&#10;                    [&#10;                        { text: '组件', textStyle: { bold: true, color: '#FFFFFF', fontSize: 18 }, cellStyle: { background: { color: '#0E3F8C' } } },&#10;                        { text: '本项目取值', textStyle: { bold: true, color: '#FFFFFF', fontSize: 18 }, cellStyle: { background: { color: '#0E3F8C' } } },&#10;                        { text: '它在解决什么问题', textStyle: { bold: true, color: '#FFFFFF', fontSize: 18 }, cellStyle: { background: { color: '#0E3F8C' } } },&#10;                    ],&#10;                    [&#10;                        { text: '优化器', textStyle: { bold: true }, cellStyle: { background: { color: '#F0F5FC' } } },&#10;                        { text: 'AdamW（β₁=0.9, β₂=0.999）', cellStyle: { background: { color: '#F0F5FC' } } },&#10;                        { text: '自适应步长；把权重衰减从梯度里解耦，泛化优于 Adam', cellStyle: { background: { color: '#F0F5FC' } } },&#10;                    ],&#10;                    [&#10;                        '初始学习率', 'ResNet 3e-4 / 预训练 ViT 1e-4', 'ViT 用 3e-4 会训练震荡，必须调小',&#10;                    ],&#10;                    [&#10;                        { text: '调度器', textStyle: { bold: true }, cellStyle: { background: { color: '#F0F5FC' } } },&#10;                        { text: 'StepLR（step=15, γ=0.1）', cellStyle: { background: { color: '#F0F5FC' } } },&#10;                        { text: '3e-4 → 3e-5 → 3e-6 → 3e-7，先粗调后精修', cellStyle: { background: { color: '#F0F5FC' } } },&#10;                    ],&#10;                    [&#10;                        '权重衰减', '1e-4', '对大参数施加惩罚，抑制过拟合',&#10;                    ],&#10;                    [&#10;                        { text: '早停', textStyle: { bold: true }, cellStyle: { background: { color: '#F0F5FC' } } },&#10;                        { text: 'patience = 15，判据 macro-F1', cellStyle: { background: { color: '#F0F5FC' } } },&#10;                        { text: '验证集连续 15 轮不涨就停，回滚最优权重', cellStyle: { background: { color: '#F0F5FC' } } },&#10;                    ],&#10;                    [&#10;                        'Dropout', 'ViT 中 0.1', '随机失活一部分连接，防止共适应',&#10;                    ],&#10;                ]}&#10;            /&gt;&#10;&#10;            &lt;Box style={{ flex: 1, background: '#FFF8E1', borderLeft: '5px solid #FFC107', borderRadius: 8, padding: 14, justifyContent: 'center' }}&gt;&#10;                &lt;Text style={{ fontSize: 18, color: '#1A2230', lineHeight: 1.55 }}&gt;&#10;                    &lt;span style={{ fontWeight: 'bold' }}&gt;判断：&lt;/span&gt;这些技巧单独看都不起眼，但叠加起来构成了小样本训练的&quot;安全带&quot;。本实验里最能救命的一条是&lt;span style={{ fontWeight: 'bold', color: '#D9534F' }}&gt;早停&lt;/span&gt;——6 个模型没有一个跑满 50 轮却仍未收敛，说明它们都在中途就撞上了过拟合。&#10;                &lt;/Text&gt;&#10;            &lt;/Box&gt;&#10;        &lt;/Box&gt;&#10;    &lt;/Box&gt;&#10;&#10;    &lt;Box style={{ height: 40, flexDirection: 'row', alignItems: 'center', justifyContent: 'space-between', paddingLeft: 40, paddingRight: 40, borderTop: '1px solid #E5E7EB' }}&gt;&#10;        &lt;Text style={{ fontSize: 14, color: '#8B97A8' }}&gt;BUSI 乳腺超声图像分类 · 乳腺癌智能诊断&lt;/Text&gt;&#10;        &lt;Text style={{ fontSize: 14, color: '#1E4FA8' }}&gt;26 / 3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1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62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2743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标签平滑与优化调度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10210800" y="26670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 xml:space="preserve">05 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损失函数与优化策略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381000" y="914400"/>
            <a:ext cx="3543300" cy="1771650"/>
          </a:xfrm>
          <a:prstGeom prst="roundRect">
            <a:avLst>
              <a:gd name="adj" fmla="val 537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552450" y="1085850"/>
            <a:ext cx="3200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标签平滑</a:t>
            </a: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ε = 0.1</a:t>
            </a:r>
            <a:endParaRPr/>
          </a:p>
        </p:txBody>
      </p:sp>
      <p:pic>
        <p:nvPicPr>
          <p:cNvPr id="467" name="" descr="y_k^{\prime}=(1-\varepsilon)\,y_k+\frac{\varepsilon}{K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52450" y="1438275"/>
            <a:ext cx="2857500" cy="371475"/>
          </a:xfrm>
          <a:prstGeom prst="rect"/>
          <a:ln/>
        </p:spPr>
      </p:pic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552450" y="1885950"/>
            <a:ext cx="32004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CFE0F7"/>
                </a:solidFill>
                <a:latin typeface="Microsoft YaHei"/>
                <a:ea typeface="Microsoft YaHei"/>
              </a:rPr>
              <a:t>硬标签</a:t>
            </a:r>
            <a:r>
              <a:rPr lang="en-US" sz="1275">
                <a:solidFill>
                  <a:srgbClr val="CFE0F7"/>
                </a:solidFill>
                <a:latin typeface="Microsoft YaHei"/>
                <a:ea typeface="Microsoft YaHei"/>
              </a:rPr>
              <a:t xml:space="preserve"> [0, 1, 0] </a:t>
            </a:r>
            <a:r>
              <a:rPr lang="zh-CN" sz="1275">
                <a:solidFill>
                  <a:srgbClr val="CFE0F7"/>
                </a:solidFill>
                <a:latin typeface="Microsoft YaHei"/>
                <a:ea typeface="Microsoft YaHei"/>
              </a:rPr>
              <a:t>变成软标签</a:t>
            </a:r>
            <a:r>
              <a:rPr lang="en-US" sz="1275">
                <a:solidFill>
                  <a:srgbClr val="CFE0F7"/>
                </a:solidFill>
                <a:latin typeface="Microsoft YaHei"/>
                <a:ea typeface="Microsoft YaHei"/>
              </a:rPr>
              <a:t xml:space="preserve"> [0.033, 0.933, 0.033]</a:t>
            </a:r>
            <a:r>
              <a:rPr lang="zh-CN" sz="1275">
                <a:solidFill>
                  <a:srgbClr val="CFE0F7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381000" y="2800350"/>
            <a:ext cx="3543300" cy="3486150"/>
          </a:xfrm>
          <a:prstGeom prst="roundRect">
            <a:avLst>
              <a:gd name="adj" fmla="val 2732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533400" y="2952750"/>
            <a:ext cx="3238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为什么不要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非黑即白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533400" y="3276600"/>
            <a:ext cx="32385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硬标签逼着模型把真实类的概率推到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，而交叉熵在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p→1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时梯度极陡，容易记住训练样本的细节噪声。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533400" y="4286250"/>
            <a:ext cx="3238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留出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10%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的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不确定性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给其他类，等价于给输出分布加了个下界，模型的校准性更好。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533400" y="5667375"/>
            <a:ext cx="3238500" cy="466725"/>
          </a:xfrm>
          <a:prstGeom prst="roundRect">
            <a:avLst>
              <a:gd name="adj" fmla="val 12245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628650" y="5762625"/>
            <a:ext cx="3048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提醒：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ε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不宜过大，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0.05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～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0.1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是常用区间。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4152900" y="914400"/>
            <a:ext cx="7658100" cy="400050"/>
          </a:xfrm>
          <a:prstGeom prst="roundRect">
            <a:avLst>
              <a:gd name="adj" fmla="val 19048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4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305300" y="1000125"/>
            <a:ext cx="228600" cy="228600"/>
          </a:xfrm>
          <a:prstGeom prst="rect">
            <a:avLst/>
          </a:prstGeom>
          <a:ln/>
        </p:spPr>
      </p:pic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4648200" y="1000125"/>
            <a:ext cx="4019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优化器决定了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怎么改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，调度器决定了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改多快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graphicFrame>
        <p:nvGraphicFramePr>
          <p:cNvPr id="478" name=""/>
          <p:cNvGraphicFramePr/>
          <p:nvPr/>
        </p:nvGraphicFramePr>
        <p:xfrm rot="0" flipH="0" flipV="0">
          <a:off x="4152900" y="1428750"/>
          <a:ext cx="7658100" cy="2857500"/>
        </p:xfrm>
        <a:graphic>
          <a:graphicData uri="http://schemas.openxmlformats.org/drawingml/2006/table">
            <a:tbl>
              <a:tblGrid>
                <a:gridCol w="919594">
                  <a:extLst>
                    <a:ext uri="{9D8B030D-6E8A-4147-A177-3AD203B41FA5}">
                      <a16:colId val="1"/>
                    </a:ext>
                  </a:extLst>
                </a:gridCol>
                <a:gridCol w="2484654">
                  <a:extLst>
                    <a:ext uri="{9D8B030D-6E8A-4147-A177-3AD203B41FA5}">
                      <a16:colId val="2"/>
                    </a:ext>
                  </a:extLst>
                </a:gridCol>
                <a:gridCol w="425385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1828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组件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本项目取值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它在解决什么问题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065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优化器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AdamW（β₁=0.9, β₂=0.999）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自适应步长；把权重衰减从梯度里解耦，泛化优于 Adam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065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初始学习率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ResNet 3e-4 / 预训练 ViT 1e-4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ViT 用 3e-4 会训练震荡，必须调小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065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调度器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StepLR（step=15, γ=0.1）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3e-4 → 3e-5 → 3e-6 → 3e-7，先粗调后精修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065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权重衰减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1e-4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对大参数施加惩罚，抑制过拟合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065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早停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patience = 15，判据 macro-F1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验证集连续 15 轮不涨就停，回滚最优权重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065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Dropout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ViT 中 0.1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随机失活一部分连接，防止共适应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479" name=""/>
          <p:cNvSpPr/>
          <p:nvPr/>
        </p:nvSpPr>
        <p:spPr>
          <a:xfrm rot="0" flipH="0" flipV="0">
            <a:off x="4200525" y="4400550"/>
            <a:ext cx="7658100" cy="1885950"/>
          </a:xfrm>
          <a:prstGeom prst="roundRect">
            <a:avLst>
              <a:gd name="adj" fmla="val 4040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480" name=""/>
          <p:cNvSpPr/>
          <p:nvPr/>
        </p:nvSpPr>
        <p:spPr>
          <a:xfrm rot="0" flipH="0" flipV="0">
            <a:off x="4200525" y="4400550"/>
            <a:ext cx="7658100" cy="1885950"/>
          </a:xfrm>
          <a:custGeom>
            <a:pathLst>
              <a:path w="804" h="198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95"/>
                </a:lnTo>
                <a:cubicBezTo>
                  <a:pt x="5" y="197"/>
                  <a:pt x="6" y="198"/>
                  <a:pt x="8" y="198"/>
                </a:cubicBezTo>
                <a:cubicBezTo>
                  <a:pt x="3" y="198"/>
                  <a:pt x="0" y="194"/>
                  <a:pt x="0" y="19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4333875" y="5029200"/>
            <a:ext cx="734377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判断：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这些技巧单独看都不起眼，但叠加起来构成了小样本训练的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安全带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。本实验里最能救命的一条是</a:t>
            </a:r>
            <a:r>
              <a:rPr lang="zh-CN" sz="1350" b="1">
                <a:solidFill>
                  <a:srgbClr val="D9534F"/>
                </a:solidFill>
                <a:latin typeface="Microsoft YaHei"/>
                <a:ea typeface="Microsoft YaHei"/>
              </a:rPr>
              <a:t>早停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——6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个模型没有一个跑满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50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轮却仍未收敛，说明它们都在中途就撞上了过拟合。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26 / 38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85" name="" descr="&lt;Slide style={{ padding: 0, background: '#0E3F8C', fontFamily: 'Microsoft YaHei' }}&gt;&#10;    &lt;svg width={1280} height={720} viewBox='0 0 1280 720' style={{ position: 'absolute', top: 0, left: 0, opacity: 0.18 }}&gt;&#10;        &lt;path d='M780 520 C 880 500 900 380 1000 360 S 1150 330 1260 300' fill='none' stroke='#8FC0F0' strokeWidth='3' /&gt;&#10;        &lt;path d='M780 560 C 900 555 920 520 1020 505 S 1160 490 1260 478' fill='none' stroke='#FFC107' strokeWidth='3' strokeDasharray='10 8' /&gt;&#10;        &lt;path d='M780 200 H 1260 M780 620 H 1260' stroke='#8FC0F0' strokeWidth='2' /&gt;&#10;        &lt;circle cx='1000' cy='360' r='8' fill='#8FC0F0' /&gt;&#10;        &lt;circle cx='1020' cy='505' r='8' fill='#FFC107' /&gt;&#10;    &lt;/svg&gt;&#10;    &lt;Box style={{ width: '100%', height: '100%', paddingTop: 84, paddingLeft: 72, paddingRight: 72, paddingBottom: 72, justifyContent: 'space-between' }}&gt;&#10;        &lt;Box style={{ flexDirection: 'row', alignItems: 'center', gap: 40 }}&gt;&#10;            &lt;Text style={{ fontSize: 200, fontWeight: 'bold', color: '#3D7BD9', lineHeight: 1 }}&gt;&#10;                06&#10;            &lt;/Text&gt;&#10;            &lt;Box style={{ width: 3, height: 150, background: 'rgba(255,255,255,0.35)' }} /&gt;&#10;            &lt;Box style={{ gap: 14 }}&gt;&#10;                &lt;Text style={{ fontSize: 50, fontWeight: 'bold', color: '#FFFFFF', letterSpacing: 3 }}&gt;&#10;                    实验结果与分析&#10;                &lt;/Text&gt;&#10;                &lt;Text style={{ fontFamily: 'Times New Roman', fontSize: 21, color: '#8FC0F0', letterSpacing: 1 }}&gt;&#10;                    Experimental Results and Analysis&#10;                &lt;/Text&gt;&#10;                &lt;Text style={{ fontSize: 21, color: '#CFE0F7', lineHeight: 1.6 }}&gt;&#10;                    六个模型、同一份划分、同一套超参，答案由数据给出。&#10;                &lt;/Text&gt;&#10;            &lt;/Box&gt;&#10;        &lt;/Box&gt;&#10;&#10;        &lt;Box style={{ flexDirection: 'row', gap: 24 }}&gt;&#10;            &lt;Box style={{ flex: 1, background: 'rgba(255,255,255,0.10)', border: '1px solid rgba(255,255,255,0.22)', borderRadius: 10, padding: 26, gap: 10 }}&gt;&#10;                &lt;Text style={{ fontSize: 22, fontWeight: 'bold', color: '#FFC107' }}&gt;公平对比&lt;/Text&gt;&#10;                &lt;Text style={{ fontSize: 18, color: '#DCE8F7', lineHeight: 1.6 }}&gt;&#10;                    相同划分、相同增强、相同优化器，唯一变量是网络架构。&#10;                &lt;/Text&gt;&#10;            &lt;/Box&gt;&#10;            &lt;Box style={{ flex: 1, background: 'rgba(255,255,255,0.10)', border: '1px solid rgba(255,255,255,0.22)', borderRadius: 10, padding: 26, gap: 10 }}&gt;&#10;                &lt;Text style={{ fontSize: 22, fontWeight: 'bold', color: '#FFC107' }}&gt;结果反转&lt;/Text&gt;&#10;                &lt;Text style={{ fontSize: 18, color: '#DCE8F7', lineHeight: 1.6 }}&gt;&#10;                    参数最多的 ViT-B/16 垫底，参数中等的 ResNet50 拿下最优成绩。&#10;                &lt;/Text&gt;&#10;            &lt;/Box&gt;&#10;            &lt;Box style={{ flex: 1, background: 'rgba(255,255,255,0.10)', border: '1px solid rgba(255,255,255,0.22)', borderRadius: 10, padding: 26, gap: 10 }}&gt;&#10;                &lt;Text style={{ fontSize: 22, fontWeight: 'bold', color: '#FFC107' }}&gt;归因分析&lt;/Text&gt;&#10;                &lt;Text style={{ fontSize: 18, color: '#DCE8F7', lineHeight: 1.6 }}&gt;&#10;                    不是 ViT 不好，而是 546 张训练图撑不起注意力的自由度。&#10;                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685800" y="8001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3D7BD9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3419475" y="1228725"/>
            <a:ext cx="28575" cy="142875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3829050" y="1209675"/>
            <a:ext cx="5000625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750" b="1" spc="225">
                <a:solidFill>
                  <a:srgbClr val="FFFFFF"/>
                </a:solidFill>
                <a:latin typeface="Microsoft YaHei"/>
                <a:ea typeface="Microsoft YaHei"/>
              </a:rPr>
              <a:t>实验结果与分析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3829050" y="1914525"/>
            <a:ext cx="50006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spc="75">
                <a:solidFill>
                  <a:srgbClr val="8FC0F0"/>
                </a:solidFill>
                <a:latin typeface="Times New Roman"/>
                <a:ea typeface="Times New Roman"/>
              </a:rPr>
              <a:t>Experimental Results and Analysis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3829050" y="2295525"/>
            <a:ext cx="5000625" cy="390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CFE0F7"/>
                </a:solidFill>
                <a:latin typeface="Microsoft YaHei"/>
                <a:ea typeface="Microsoft YaHei"/>
              </a:rPr>
              <a:t>六个模型、同一份划分、同一套超参，答案由数据给出。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685800" y="4657725"/>
            <a:ext cx="3457575" cy="1514475"/>
          </a:xfrm>
          <a:prstGeom prst="roundRect">
            <a:avLst>
              <a:gd name="adj" fmla="val 62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933450" y="4905375"/>
            <a:ext cx="2962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公平对比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933450" y="5257800"/>
            <a:ext cx="29622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相同划分、相同增强、相同优化器，唯一变量是网络架构。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4371975" y="4657725"/>
            <a:ext cx="3448050" cy="1514475"/>
          </a:xfrm>
          <a:prstGeom prst="roundRect">
            <a:avLst>
              <a:gd name="adj" fmla="val 62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4619625" y="4905375"/>
            <a:ext cx="2952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结果反转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4619625" y="5257800"/>
            <a:ext cx="29527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参数最多的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 ViT-B/16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垫底，参数中等的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 ResNet50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拿下最优成绩。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8048625" y="4657725"/>
            <a:ext cx="3457575" cy="1514475"/>
          </a:xfrm>
          <a:prstGeom prst="roundRect">
            <a:avLst>
              <a:gd name="adj" fmla="val 62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8296275" y="4905375"/>
            <a:ext cx="2962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归因分析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8296275" y="5257800"/>
            <a:ext cx="29622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不是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 ViT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不好，而是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 546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张训练图撑不起注意力的自由度。</a:t>
            </a:r>
            <a:endParaRPr/>
          </a:p>
        </p:txBody>
      </p:sp>
      <p:pic>
        <p:nvPicPr>
          <p:cNvPr id="501" name="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2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502" name="" descr="&lt;Slide style={{ padding: 0, background: '#FFFFFF', fontFamily: 'Microsoft YaHei' }}&gt;&#10;    &lt;Box style={{ width: '100%', height: 76, background: '#0E3F8C', flexDirection: 'row', alignItems: 'center', justifyContent: 'space-between', paddingLeft: 40, paddingRight: 40 }}&gt;&#10;        &lt;Box style={{ flexDirection: 'row', alignItems: 'center', gap: 16 }}&gt;&#10;            &lt;Box style={{ width: 6, height: 34, background: '#FFC107' }} /&gt;&#10;            &lt;Text style={{ fontSize: 32, fontWeight: 'bold', color: '#FFFFFF' }}&gt;实验设置：先保证可比，再谈优劣&lt;/Text&gt;&#10;        &lt;/Box&gt;&#10;        &lt;Text style={{ fontSize: 16, color: '#8FC0F0' }}&gt;06 实验结果与分析&lt;/Text&gt;&#10;    &lt;/Box&gt;&#10;&#10;    &lt;Box style={{ flex: 1, flexDirection: 'row', gap: 24, paddingTop: 20, paddingLeft: 40, paddingRight: 40, paddingBottom: 20 }}&gt;&#10;        &lt;Box style={{ width: 350, gap: 12 }}&gt;&#10;            &lt;Box style={{ background: '#0E3F8C', borderRadius: 10, padding: 18, gap: 6 }}&gt;&#10;                &lt;Text style={{ fontSize: 23, fontWeight: 'bold', color: '#FFFFFF' }}&gt;一份数据，三次划分&lt;/Text&gt;&#10;                &lt;Text style={{ fontSize: 17, color: '#CFE0F7', lineHeight: 1.6 }}&gt;&#10;                    按类别分层抽样，随机种子固定为 42。&#10;                &lt;/Text&gt;&#10;            &lt;/Box&gt;&#10;            &lt;Box style={{ flex: 1, background: '#F7F9FC', border: '1px solid #D6DCE5', borderRadius: 10, padding: 16, gap: 10 }}&gt;&#10;                &lt;Box style={{ flexDirection: 'row', alignItems: 'baseline', justifyContent: 'space-between' }}&gt;&#10;                    &lt;Text style={{ fontSize: 18, color: '#4A5568' }}&gt;训练集&lt;/Text&gt;&#10;                    &lt;Text style={{ fontSize: 30, fontWeight: 'bold', color: '#1E4FA8' }}&gt;544 张&lt;/Text&gt;&#10;                &lt;/Box&gt;&#10;                &lt;Box style={{ height: 1, background: '#D6DCE5' }} /&gt;&#10;                &lt;Box style={{ flexDirection: 'row', alignItems: 'baseline', justifyContent: 'space-between' }}&gt;&#10;                    &lt;Text style={{ fontSize: 18, color: '#4A5568' }}&gt;验证集&lt;/Text&gt;&#10;                    &lt;Text style={{ fontSize: 30, fontWeight: 'bold', color: '#1E4FA8' }}&gt;118 张&lt;/Text&gt;&#10;                &lt;/Box&gt;&#10;                &lt;Box style={{ height: 1, background: '#D6DCE5' }} /&gt;&#10;                &lt;Box style={{ flexDirection: 'row', alignItems: 'baseline', justifyContent: 'space-between' }}&gt;&#10;                    &lt;Text style={{ fontSize: 18, color: '#4A5568' }}&gt;测试集&lt;/Text&gt;&#10;                    &lt;Text style={{ fontSize: 30, fontWeight: 'bold', color: '#1E4FA8' }}&gt;118 张&lt;/Text&gt;&#10;                &lt;/Box&gt;&#10;                &lt;Box style={{ height: 1, background: '#D6DCE5' }} /&gt;&#10;                &lt;Text style={{ fontSize: 17, color: '#4A5568', lineHeight: 1.6 }}&gt;&#10;                    验证集用于选最优权重与早停；测试集全程不参与任何调参，只在训练结束后评估一次。&#10;                &lt;/Text&gt;&#10;                &lt;Box style={{ background: '#FFF8E1', borderRadius: 6, padding: 10, marginTop: 'auto' }}&gt;&#10;                    &lt;Text style={{ fontSize: 16, color: '#1A2230', lineHeight: 1.5 }}&gt;&#10;                        三个类别在各子集中的比例与全集保持一致。&#10;                    &lt;/Text&gt;&#10;                &lt;/Box&gt;&#10;            &lt;/Box&gt;&#10;        &lt;/Box&gt;&#10;&#10;        &lt;Box style={{ flex: 1, gap: 12 }}&gt;&#10;            &lt;Box style={{ flexDirection: 'row', alignItems: 'center', gap: 12, background: '#E8EFF8', borderRadius: 8, paddingLeft: 16, paddingTop: 9, paddingBottom: 9 }}&gt;&#10;                &lt;FAIcon name='info-circle' style={{ fill: '#1E4FA8', width: 24, height: 24 }} /&gt;&#10;                &lt;Text style={{ fontSize: 20, fontWeight: 'bold', color: '#0E3F8C' }}&gt;对照实验的设计原则：一次只改一个变量&lt;/Text&gt;&#10;            &lt;/Box&gt;&#10;&#10;            &lt;Table&#10;                style={{ width: '100%', height: 366 }}&#10;                defaultTextStyle={{ fontSize: 17, textAlign: 'left', color: '#1A2230' }}&#10;                defaultCellStyle={{&#10;                    paddingLeft: 16,&#10;                    border: {&#10;                        left: { width: 1, color: '#D6DCE5' }, right: { width: 1, color: '#D6DCE5' },&#10;                        top: { width: 1, color: '#D6DCE5' }, bottom: { width: 1, color: '#D6DCE5' },&#10;                    },&#10;                }}&#10;                cells={[&#10;                    [&#10;                        { text: '实验要素', textStyle: { bold: true, color: '#FFFFFF', fontSize: 18 }, cellStyle: { background: { color: '#0E3F8C' } } },&#10;                        { text: '设置', textStyle: { bold: true, color: '#FFFFFF', fontSize: 18 }, cellStyle: { background: { color: '#0E3F8C' } } },&#10;                        { text: '两模型是否一致', textStyle: { bold: true, color: '#FFFFFF', fontSize: 18 }, cellStyle: { background: { color: '#0E3F8C' } } },&#10;                    ],&#10;                    [&#10;                        { text: '数据划分', textStyle: { bold: true }, cellStyle: { background: { color: '#F0F5FC' } } },&#10;                        { text: '分层抽样 70 / 15 / 15，seed = 42', cellStyle: { background: { color: '#F0F5FC' } } },&#10;                        { text: '✔ 完全一致', cellStyle: { background: { color: '#F0F5FC' } } },&#10;                    ],&#10;                    [&#10;                        '数据增强', '随机裁剪 + 翻转 + 旋转 + 色彩抖动', '✔ 完全一致',&#10;                    ],&#10;                    [&#10;                        { text: '输入分辨率', textStyle: { bold: true }, cellStyle: { background: { color: '#F0F5FC' } } },&#10;                        { text: '224 × 224，ImageNet 归一化', cellStyle: { background: { color: '#F0F5FC' } } },&#10;                        { text: '✔ 完全一致', cellStyle: { background: { color: '#F0F5FC' } } },&#10;                    ],&#10;                    [&#10;                        '批量与轮数', 'batch 32，最多 50 epoch，早停 15', '✔ 完全一致',&#10;                    ],&#10;                    [&#10;                        { text: '损失函数', textStyle: { bold: true }, cellStyle: { background: { color: '#F0F5FC' } } },&#10;                        { text: '类别加权交叉熵（同一份权重）', cellStyle: { background: { color: '#F0F5FC' } } },&#10;                        { text: '✔ 完全一致', cellStyle: { background: { color: '#F0F5FC' } } },&#10;                    ],&#10;                    [&#10;                        '优化与调度', 'AdamW + StepLR(15, 0.1)', '✔ 完全一致',&#10;                    ],&#10;                    [&#10;                        { text: '初始化', textStyle: { bold: true }, cellStyle: { background: { color: '#F0F5FC' } } },&#10;                        { text: '均加载 ImageNet-1K 预训练权重', cellStyle: { background: { color: '#F0F5FC' } } },&#10;                        { text: '✔ 完全一致', cellStyle: { background: { color: '#F0F5FC' } } },&#10;                    ],&#10;                    [&#10;                        { text: '唯一变量', textStyle: { bold: true, color: '#D9534F' }, cellStyle: { background: { color: '#FFF8E1' } } },&#10;                        { text: '网络结构：ResNet-18/34/50/101 与 ViT-B/16、轻量 ViT', cellStyle: { background: { color: '#FFF8E1' } } },&#10;                        { text: '✘ 这是要比较的对象', textStyle: { bold: true, color: '#D9534F' }, cellStyle: { background: { color: '#FFF8E1' } } },&#10;                    ],&#10;                ]}&#10;            /&gt;&#10;&#10;            &lt;Box style={{ flex: 1, background: '#FFF8E1', borderLeft: '5px solid #FFC107', borderRadius: 8, padding: 14, justifyContent: 'center' }}&gt;&#10;                &lt;Text style={{ fontSize: 18, color: '#1A2230', lineHeight: 1.55 }}&gt;&#10;                    &lt;span style={{ fontWeight: 'bold' }}&gt;判断：&lt;/span&gt;六个模型跑在同一套流程上，成绩差异可以直接归因于架构。另外要注意：测试集只有 118 张，单个百分点的波动可能来自 1～2 张图，因此看趋势比看绝对值更重要。&#10;                &lt;/Text&gt;&#10;            &lt;/Box&gt;&#10;        &lt;/Box&gt;&#10;    &lt;/Box&gt;&#10;&#10;    &lt;Box style={{ height: 40, flexDirection: 'row', alignItems: 'center', justifyContent: 'space-between', paddingLeft: 40, paddingRight: 40, borderTop: '1px solid #E5E7EB' }}&gt;&#10;        &lt;Text style={{ fontSize: 14, color: '#8B97A8' }}&gt;BUSI 乳腺超声图像分类 · 乳腺癌智能诊断&lt;/Text&gt;&#10;        &lt;Text style={{ fontSize: 14, color: '#1E4FA8' }}&gt;28 / 3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4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05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4572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实验设置：先保证可比，再谈优劣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10515600" y="26670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 xml:space="preserve">06 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实验结果与分析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381000" y="914400"/>
            <a:ext cx="3333750" cy="981075"/>
          </a:xfrm>
          <a:prstGeom prst="roundRect">
            <a:avLst>
              <a:gd name="adj" fmla="val 9709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552450" y="1085850"/>
            <a:ext cx="29908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</a:rPr>
              <a:t>一份数据，三次划分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552450" y="1409700"/>
            <a:ext cx="29908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CFE0F7"/>
                </a:solidFill>
                <a:latin typeface="Microsoft YaHei"/>
                <a:ea typeface="Microsoft YaHei"/>
              </a:rPr>
              <a:t>按类别分层抽样，随机种子固定为</a:t>
            </a:r>
            <a:r>
              <a:rPr lang="en-US" sz="1275">
                <a:solidFill>
                  <a:srgbClr val="CFE0F7"/>
                </a:solidFill>
                <a:latin typeface="Microsoft YaHei"/>
                <a:ea typeface="Microsoft YaHei"/>
              </a:rPr>
              <a:t xml:space="preserve"> 42</a:t>
            </a:r>
            <a:r>
              <a:rPr lang="zh-CN" sz="1275">
                <a:solidFill>
                  <a:srgbClr val="CFE0F7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381000" y="2009775"/>
            <a:ext cx="3333750" cy="4276725"/>
          </a:xfrm>
          <a:prstGeom prst="roundRect">
            <a:avLst>
              <a:gd name="adj" fmla="val 285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533400" y="2162175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训练集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2657475" y="2162175"/>
            <a:ext cx="9048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544 </a:t>
            </a:r>
            <a:r>
              <a:rPr lang="zh-CN" sz="2250" b="1">
                <a:solidFill>
                  <a:srgbClr val="1E4FA8"/>
                </a:soli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533400" y="2600325"/>
            <a:ext cx="302895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533400" y="2705100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验证集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2657475" y="2705100"/>
            <a:ext cx="9048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118 </a:t>
            </a:r>
            <a:r>
              <a:rPr lang="zh-CN" sz="2250" b="1">
                <a:solidFill>
                  <a:srgbClr val="1E4FA8"/>
                </a:soli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533400" y="3143250"/>
            <a:ext cx="302895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533400" y="3248025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测试集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2657475" y="3248025"/>
            <a:ext cx="9048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118 </a:t>
            </a:r>
            <a:r>
              <a:rPr lang="zh-CN" sz="2250" b="1">
                <a:solidFill>
                  <a:srgbClr val="1E4FA8"/>
                </a:soli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533400" y="3686175"/>
            <a:ext cx="302895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533400" y="3790950"/>
            <a:ext cx="30289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验证集用于选最优权重与早停；测试集全程不参与任何调参，只在训练结束后评估一次。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533400" y="5391150"/>
            <a:ext cx="3028950" cy="742950"/>
          </a:xfrm>
          <a:prstGeom prst="roundRect">
            <a:avLst>
              <a:gd name="adj" fmla="val 7692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628650" y="5486400"/>
            <a:ext cx="28384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三个类别在各子集中的比例与全集保持一致。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3943350" y="914400"/>
            <a:ext cx="7867650" cy="400050"/>
          </a:xfrm>
          <a:prstGeom prst="roundRect">
            <a:avLst>
              <a:gd name="adj" fmla="val 19048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5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95750" y="1000125"/>
            <a:ext cx="228600" cy="228600"/>
          </a:xfrm>
          <a:prstGeom prst="rect">
            <a:avLst/>
          </a:prstGeom>
          <a:ln/>
        </p:spPr>
      </p:pic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4438650" y="1000125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对照实验的设计原则：一次只改一个变量</a:t>
            </a:r>
            <a:endParaRPr/>
          </a:p>
        </p:txBody>
      </p:sp>
      <p:graphicFrame>
        <p:nvGraphicFramePr>
          <p:cNvPr id="527" name=""/>
          <p:cNvGraphicFramePr/>
          <p:nvPr/>
        </p:nvGraphicFramePr>
        <p:xfrm rot="0" flipH="0" flipV="0">
          <a:off x="3943350" y="1428750"/>
          <a:ext cx="7867650" cy="3486150"/>
        </p:xfrm>
        <a:graphic>
          <a:graphicData uri="http://schemas.openxmlformats.org/drawingml/2006/table">
            <a:tbl>
              <a:tblGrid>
                <a:gridCol w="1042701">
                  <a:extLst>
                    <a:ext uri="{9D8B030D-6E8A-4147-A177-3AD203B41FA5}">
                      <a16:colId val="1"/>
                    </a:ext>
                  </a:extLst>
                </a:gridCol>
                <a:gridCol w="4966606">
                  <a:extLst>
                    <a:ext uri="{9D8B030D-6E8A-4147-A177-3AD203B41FA5}">
                      <a16:colId val="2"/>
                    </a:ext>
                  </a:extLst>
                </a:gridCol>
                <a:gridCol w="1858344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39726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实验要素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设置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两模型是否一致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8611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数据划分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分层抽样 70 / 15 / 15，seed = 42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✔ 完全一致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8611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数据增强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随机裁剪 + 翻转 + 旋转 + 色彩抖动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✔ 完全一致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8611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输入分辨率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224 × 224，ImageNet 归一化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✔ 完全一致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8611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批量与轮数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batch 32，最多 50 epoch，早停 15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✔ 完全一致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8611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损失函数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类别加权交叉熵（同一份权重）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✔ 完全一致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8611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优化与调度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AdamW + StepLR(15, 0.1)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✔ 完全一致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8611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初始化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均加载 ImageNet-1K 预训练权重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✔ 完全一致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38611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唯一变量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网络结构：ResNet-18/34/50/101 与 ViT-B/16、轻量 ViT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✘ 这是要比较的对象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  <p:sp>
        <p:nvSpPr>
          <p:cNvPr id="528" name=""/>
          <p:cNvSpPr/>
          <p:nvPr/>
        </p:nvSpPr>
        <p:spPr>
          <a:xfrm rot="0" flipH="0" flipV="0">
            <a:off x="3990975" y="5029200"/>
            <a:ext cx="7867650" cy="1257300"/>
          </a:xfrm>
          <a:prstGeom prst="roundRect">
            <a:avLst>
              <a:gd name="adj" fmla="val 6061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529" name=""/>
          <p:cNvSpPr/>
          <p:nvPr/>
        </p:nvSpPr>
        <p:spPr>
          <a:xfrm rot="0" flipH="0" flipV="0">
            <a:off x="3990975" y="5029200"/>
            <a:ext cx="7867650" cy="1257300"/>
          </a:xfrm>
          <a:custGeom>
            <a:pathLst>
              <a:path w="826" h="132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29"/>
                </a:lnTo>
                <a:cubicBezTo>
                  <a:pt x="5" y="131"/>
                  <a:pt x="6" y="132"/>
                  <a:pt x="8" y="132"/>
                </a:cubicBezTo>
                <a:cubicBezTo>
                  <a:pt x="3" y="132"/>
                  <a:pt x="0" y="128"/>
                  <a:pt x="0" y="12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4124325" y="5343525"/>
            <a:ext cx="75533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判断：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六个模型跑在同一套流程上，成绩差异可以直接归因于架构。另外要注意：测试集只有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118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张，单个百分点的波动可能来自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～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2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张图，因此看趋势比看绝对值更重要。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28 / 38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534" name="" descr="&lt;Slide style={{ padding: 0, background: '#FFFFFF', fontFamily: 'Microsoft YaHei' }}&gt;&#13;&#10;    &lt;Box style={{ width: '100%', height: 76, background: '#0E3F8C', flexDirection: 'row', alignItems: 'center', justifyContent: 'space-between', paddingLeft: 40, paddingRight: 40 }}&gt;&#13;&#10;        &lt;Box style={{ flexDirection: 'row', alignItems: 'center', gap: 16 }}&gt;&#13;&#10;            &lt;Box style={{ width: 6, height: 34, background: '#FFC107' }} /&gt;&#13;&#10;            &lt;Text style={{ fontSize: 32, fontWeight: 'bold', color: '#FFFFFF' }}&gt;六个模型的测试集成绩单&lt;/Text&gt;&#13;&#10;        &lt;/Box&gt;&#13;&#10;        &lt;Text style={{ fontSize: 16, color: '#8FC0F0' }}&gt;06 实验结果与分析&lt;/Text&gt;&#13;&#10;    &lt;/Box&gt;&#13;&#10;&#13;&#10;    &lt;Box style={{ height: 604, gap: 14, paddingTop: 20, paddingLeft: 40, paddingRight: 40, paddingBottom: 18 }}&gt;&#13;&#10;        &lt;Box style={{ height: 138, background: '#0E3F8C', borderRadius: 10, flexDirection: 'row', alignItems: 'center', paddingLeft: 32, paddingRight: 32, gap: 28 }}&gt;&#13;&#10;            &lt;Box style={{ gap: 4 }}&gt;&#13;&#10;                &lt;Text style={{ fontSize: 19, color: '#8FC0F0' }}&gt;最优模型 ResNet-50&lt;/Text&gt;&#13;&#10;                &lt;Text style={{ fontSize: 17, color: '#CFE0F7' }}&gt;测试集 · 118 张超声图&lt;/Text&gt;&#13;&#10;            &lt;/Box&gt;&#13;&#10;            &lt;Box style={{ width: 2, height: 90, background: 'rgba(255,255,255,0.3)' }} /&gt;&#13;&#10;            &lt;Box style={{ flexDirection: 'row', alignItems: 'baseline', gap: 8 }}&gt;&#13;&#10;                &lt;Text style={{ fontSize: 116, fontWeight: 'bold', color: '#FFC107', lineHeight: 1 }}&gt;89.8&lt;/Text&gt;&#13;&#10;                &lt;Text style={{ fontSize: 40, fontWeight: 'bold', color: '#FFC107' }}&gt;%&lt;/Text&gt;&#13;&#10;            &lt;/Box&gt;&#13;&#10;            &lt;Box style={{ gap: 4 }}&gt;&#13;&#10;                &lt;Text style={{ fontSize: 20, color: '#FFFFFF', fontWeight: 'bold' }}&gt;准确率&lt;/Text&gt;&#13;&#10;                &lt;Text style={{ fontSize: 17, color: '#CFE0F7' }}&gt;macro-F1 = 0.890&lt;/Text&gt;&#13;&#10;            &lt;/Box&gt;&#13;&#10;            &lt;Box style={{ flex: 1 }} /&gt;&#13;&#10;            &lt;Box style={{ alignItems: 'flex-end', gap: 4 }}&gt;&#13;&#10;                &lt;Text style={{ fontSize: 18, color: '#CFE0F7' }}&gt;参数量最大的 ViT-B/16&lt;/Text&gt;&#13;&#10;                &lt;Box style={{ flexDirection: 'row', alignItems: 'baseline', gap: 8 }}&gt;&#13;&#10;                    &lt;Text style={{ fontSize: 46, fontWeight: 'bold', color: '#FFFFFF' }}&gt;53.4%&lt;/Text&gt;&#13;&#10;                    &lt;Text style={{ fontSize: 17, color: '#8FC0F0' }}&gt;85.8 M 参数&lt;/Text&gt;&#13;&#10;                &lt;/Box&gt;&#13;&#10;            &lt;/Box&gt;&#13;&#10;        &lt;/Box&gt;&#13;&#10;&#13;&#10;        &lt;Table&#13;&#10;            style={{ width: '100%', height: 350 }}&#13;&#10;            defaultTextStyle={{ fontSize: 17, textAlign: 'center', color: '#1A2230' }}&#13;&#10;            defaultCellStyle={{&#13;&#10;                border: {&#13;&#10;                    left: { width: 1, color: '#D6DCE5' }, right: { width: 1, color: '#D6DCE5' },&#13;&#10;                    top: { width: 1, color: '#D6DCE5' }, bottom: { width: 1, color: '#D6DCE5' },&#13;&#10;                },&#13;&#10;            }}&#13;&#10;            cells={[&#13;&#10;                [&#13;&#10;                    { text: '模型', textStyle: { bold: true, color: '#FFFFFF', fontSize: 18 }, cellStyle: { background: { color: '#0E3F8C' } } },&#13;&#10;                    { text: '参数量', textStyle: { bold: true, color: '#FFFFFF', fontSize: 18 }, cellStyle: { background: { color: '#0E3F8C' } } },&#13;&#10;                    { text: 'Accuracy', textStyle: { bold: true, color: '#FFFFFF', fontSize: 18 }, cellStyle: { background: { color: '#0E3F8C' } } },&#13;&#10;                    { text: 'macro-P', textStyle: { bold: true, color: '#FFFFFF', fontSize: 18 }, cellStyle: { background: { color: '#0E3F8C' } } },&#13;&#10;                    { text: 'macro-R', textStyle: { bold: true, color: '#FFFFFF', fontSize: 18 }, cellStyle: { background: { color: '#0E3F8C' } } },&#13;&#10;                    { text: 'macro-F1', textStyle: { bold: true, color: '#FFFFFF', fontSize: 18 }, cellStyle: { background: { color: '#0E3F8C' } } },&#13;&#10;                    { text: '最佳轮次', textStyle: { bold: true, color: '#FFFFFF', fontSize: 18 }, cellStyle: { background: { color: '#0E3F8C' } } },&#13;&#10;                ],&#13;&#10;                [&#13;&#10;                    { text: 'ResNet-50', textStyle: { bold: true, color: '#0E3F8C' }, cellStyle: { background: { color: '#FFF8E1' } } },&#13;&#10;                    { text: '23.5 M', cellStyle: { background: { color: '#FFF8E1' } } },&#13;&#10;                    { text: '89.8%', textStyle: { bold: true, color: '#0E3F8C', fontSize: 19 }, cellStyle: { background: { color: '#FFF8E1' } } },&#13;&#10;                    { text: '0.898', cellStyle: { background: { color: '#FFF8E1' } } },&#13;&#10;                    { text: '0.883', cellStyle: { background: { color: '#FFF8E1' } } },&#13;&#10;                    { text: '0.890', textStyle: { bold: true, color: '#0E3F8C' }, cellStyle: { background: { color: '#FFF8E1' } } },&#13;&#10;                    { text: '34', cellStyle: { background: { color: '#FFF8E1' } } },&#13;&#10;                ],&#13;&#10;                [&#13;&#10;                    'ResNet-101', '42.5 M', '88.1%', '0.878', '0.869', '0.872', '45',&#13;&#10;                ],&#13;&#10;                [&#13;&#10;                    { text: 'ResNet-18', textStyle: { bold: true }, cellStyle: { background: { color: '#F0F5FC' } } },&#13;&#10;                    { text: '11.2 M', cellStyle: { background: { color: '#F0F5FC' } } },&#13;&#10;                    { text: '87.3%', cellStyle: { background: { color: '#F0F5FC' } } },&#13;&#10;                    { text: '0.851', cellStyle: { background: { color: '#F0F5FC' } } },&#13;&#10;                    { text: '0.891', cellStyle: { background: { color: '#F0F5FC' } } },&#13;&#10;                    { text: '0.867', cellStyle: { background: { color: '#F0F5FC' } } },&#13;&#10;                    { text: '29', cellStyle: { background: { color: '#F0F5FC' } } },&#13;&#10;                ],&#13;&#10;                [&#13;&#10;                    'ResNet-34', '21.3 M', '82.2%', '0.814', '0.833', '0.823', '21',&#13;&#10;                ],&#13;&#10;                [&#13;&#10;                    { text: 'ViT-B/16（预训练）', textStyle: { bold: true, color: '#B03430' }, cellStyle: { background: { color: '#FDECEC' } } },&#13;&#10;                    { text: '85.8 M', cellStyle: { background: { color: '#FDECEC' } } },&#13;&#10;                    { text: '53.4%', textStyle: { bold: true, color: '#D9534F' }, cellStyle: { background: { color: '#FDECEC' } } },&#13;&#10;                    { text: '0.461', cellStyle: { background: { color: '#FDECEC' } } },&#13;&#10;                    { text: '0.444', cellStyle: { background: { color: '#FDECEC' } } },&#13;&#10;                    { text: '0.439', cellStyle: { background: { color: '#FDECEC' } } },&#13;&#10;                    { text: '17', cellStyle: { background: { color: '#FDECEC' } } },&#13;&#10;                ],&#13;&#10;                [&#13;&#10;                    { text: 'ViT 轻量版（从零）', textStyle: { bold: true, color: '#B03430' }, cellStyle: { background: { color: '#FDECEC' } } },&#13;&#10;                    { text: '3.4 M', cellStyle: { background: { color: '#FDECEC' } } },&#13;&#10;                    { text: '53.4%', textStyle: { bold: true, color: '#D9534F' }, cellStyle: { background: { color: '#FDECEC' } } },&#13;&#10;                    { text: '0.441', cellStyle: { background: { color: '#FDECEC' } } },&#13;&#10;                    { text: '0.402', cellStyle: { background: { color: '#FDECEC' } } },&#13;&#10;                    { text: '0.401', cellStyle: { background: { color: '#FDECEC' } } },&#13;&#10;                    { text: '20', cellStyle: { background: { color: '#FDECEC' } } },&#13;&#10;                ],&#13;&#10;            ]}&#13;&#10;        /&gt;&#13;&#10;&#13;&#10;        &lt;Box style={{ height: 62, background: '#FFF8E1', borderLeft: '5px solid #FFC107', borderRadius: 6, paddingLeft: 16, paddingRight: 14, justifyContent: 'center' }}&gt;&#13;&#10;            &lt;Text style={{ fontSize: 18, color: '#1A2230', lineHeight: 1.5 }}&gt;&#13;&#10;                &lt;span style={{ fontWeight: 'bold' }}&gt;数据判断：&lt;/span&gt;排名与参数量完全不相关——85.8 M 的 ViT-B/16 与 3.4 M 的轻量 ViT 同为 53.4%，而 23.5 M 的 ResNet-50 领先第二名 1.7 个百分点。在小样本医学影像上，&lt;span style={{ fontWeight: 'bold', color: '#D9534F' }}&gt;架构的归纳偏置比参数规模更能决定结果&lt;/span&gt;。&#13;&#10;            &lt;/Text&gt;&#13;&#10;        &lt;/Box&gt;&#13;&#10;    &lt;/Box&gt;&#13;&#10;&#13;&#10;    &lt;Box style={{ height: 40, flexDirection: 'row', alignItems: 'center', justifyContent: 'space-between', paddingLeft: 40, paddingRight: 40, borderTop: '1px solid #E5E7EB' }}&gt;&#13;&#10;        &lt;Text style={{ fontSize: 14, color: '#8B97A8' }}&gt;BUSI 乳腺超声图像分类 · 乳腺癌智能诊断&lt;/Text&gt;&#13;&#10;        &lt;Text style={{ fontSize: 14, color: '#1E4FA8' }}&gt;29 / 3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6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37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335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六个模型的测试集成绩单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10515600" y="26670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 xml:space="preserve">06 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实验结果与分析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381000" y="914400"/>
            <a:ext cx="11430000" cy="1314450"/>
          </a:xfrm>
          <a:prstGeom prst="roundRect">
            <a:avLst>
              <a:gd name="adj" fmla="val 724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685800" y="1343025"/>
            <a:ext cx="1676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FC0F0"/>
                </a:solidFill>
                <a:latin typeface="Microsoft YaHei"/>
                <a:ea typeface="Microsoft YaHei"/>
              </a:rPr>
              <a:t>最优模型</a:t>
            </a:r>
            <a:r>
              <a:rPr lang="en-US" sz="1425">
                <a:solidFill>
                  <a:srgbClr val="8FC0F0"/>
                </a:solidFill>
                <a:latin typeface="Microsoft YaHei"/>
                <a:ea typeface="Microsoft YaHei"/>
              </a:rPr>
              <a:t xml:space="preserve"> ResNet-50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685800" y="1600200"/>
            <a:ext cx="1676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FE0F7"/>
                </a:solidFill>
                <a:latin typeface="Microsoft YaHei"/>
                <a:ea typeface="Microsoft YaHei"/>
              </a:rPr>
              <a:t>测试集</a:t>
            </a:r>
            <a:r>
              <a:rPr lang="en-US" sz="1275">
                <a:solidFill>
                  <a:srgbClr val="CFE0F7"/>
                </a:solidFill>
                <a:latin typeface="Microsoft YaHei"/>
                <a:ea typeface="Microsoft YaHei"/>
              </a:rPr>
              <a:t xml:space="preserve"> · 118 </a:t>
            </a:r>
            <a:r>
              <a:rPr lang="zh-CN" sz="1275">
                <a:solidFill>
                  <a:srgbClr val="CFE0F7"/>
                </a:solidFill>
                <a:latin typeface="Microsoft YaHei"/>
                <a:ea typeface="Microsoft YaHei"/>
              </a:rPr>
              <a:t>张超声图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2628900" y="1143000"/>
            <a:ext cx="19050" cy="85725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2914650" y="904875"/>
            <a:ext cx="2362200" cy="1333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700" b="1">
                <a:solidFill>
                  <a:srgbClr val="FFC107"/>
                </a:solidFill>
                <a:latin typeface="Microsoft YaHei"/>
                <a:ea typeface="Microsoft YaHei"/>
              </a:rPr>
              <a:t>89.8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5353050" y="904875"/>
            <a:ext cx="361950" cy="1333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C107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5981700" y="1343025"/>
            <a:ext cx="1371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准确率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5981700" y="1609725"/>
            <a:ext cx="1371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FE0F7"/>
                </a:solidFill>
                <a:latin typeface="Microsoft YaHei"/>
                <a:ea typeface="Microsoft YaHei"/>
              </a:rPr>
              <a:t>macro-F1 = 0.890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9705975" y="1181100"/>
            <a:ext cx="1800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FE0F7"/>
                </a:solidFill>
                <a:latin typeface="Microsoft YaHei"/>
                <a:ea typeface="Microsoft YaHei"/>
              </a:rPr>
              <a:t>参数量最大的</a:t>
            </a:r>
            <a:r>
              <a:rPr lang="en-US" sz="1350">
                <a:solidFill>
                  <a:srgbClr val="CFE0F7"/>
                </a:solidFill>
                <a:latin typeface="Microsoft YaHei"/>
                <a:ea typeface="Microsoft YaHei"/>
              </a:rPr>
              <a:t xml:space="preserve"> ViT-B/16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9172575" y="1428750"/>
            <a:ext cx="13525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53.4%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10601325" y="1428750"/>
            <a:ext cx="9048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8FC0F0"/>
                </a:solidFill>
                <a:latin typeface="Microsoft YaHei"/>
                <a:ea typeface="Microsoft YaHei"/>
              </a:rPr>
              <a:t xml:space="preserve">85.8 M </a:t>
            </a:r>
            <a:r>
              <a:rPr lang="zh-CN" sz="1275">
                <a:solidFill>
                  <a:srgbClr val="8FC0F0"/>
                </a:solidFill>
                <a:latin typeface="Microsoft YaHei"/>
                <a:ea typeface="Microsoft YaHei"/>
              </a:rPr>
              <a:t>参数</a:t>
            </a:r>
            <a:endParaRPr/>
          </a:p>
        </p:txBody>
      </p:sp>
      <p:graphicFrame>
        <p:nvGraphicFramePr>
          <p:cNvPr id="551" name=""/>
          <p:cNvGraphicFramePr/>
          <p:nvPr/>
        </p:nvGraphicFramePr>
        <p:xfrm rot="0" flipH="0" flipV="0">
          <a:off x="381000" y="2362200"/>
          <a:ext cx="11430000" cy="3333750"/>
        </p:xfrm>
        <a:graphic>
          <a:graphicData uri="http://schemas.openxmlformats.org/drawingml/2006/table">
            <a:tbl>
              <a:tblGrid>
                <a:gridCol w="2870963">
                  <a:extLst>
                    <a:ext uri="{9D8B030D-6E8A-4147-A177-3AD203B41FA5}">
                      <a16:colId val="1"/>
                    </a:ext>
                  </a:extLst>
                </a:gridCol>
                <a:gridCol w="1103958">
                  <a:extLst>
                    <a:ext uri="{9D8B030D-6E8A-4147-A177-3AD203B41FA5}">
                      <a16:colId val="2"/>
                    </a:ext>
                  </a:extLst>
                </a:gridCol>
                <a:gridCol w="1541502">
                  <a:extLst>
                    <a:ext uri="{9D8B030D-6E8A-4147-A177-3AD203B41FA5}">
                      <a16:colId val="3"/>
                    </a:ext>
                  </a:extLst>
                </a:gridCol>
                <a:gridCol w="1457359">
                  <a:extLst>
                    <a:ext uri="{9D8B030D-6E8A-4147-A177-3AD203B41FA5}">
                      <a16:colId val="4"/>
                    </a:ext>
                  </a:extLst>
                </a:gridCol>
                <a:gridCol w="1474187">
                  <a:extLst>
                    <a:ext uri="{9D8B030D-6E8A-4147-A177-3AD203B41FA5}">
                      <a16:colId val="5"/>
                    </a:ext>
                  </a:extLst>
                </a:gridCol>
                <a:gridCol w="1608816">
                  <a:extLst>
                    <a:ext uri="{9D8B030D-6E8A-4147-A177-3AD203B41FA5}">
                      <a16:colId val="6"/>
                    </a:ext>
                  </a:extLst>
                </a:gridCol>
                <a:gridCol w="1373216">
                  <a:extLst>
                    <a:ext uri="{9D8B030D-6E8A-4147-A177-3AD203B41FA5}">
                      <a16:colId val="7"/>
                    </a:ext>
                  </a:extLst>
                </a:gridCol>
              </a:tblGrid>
              <a:tr h="48205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参数量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Accuracy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macro-P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macro-R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macro-F1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最佳轮次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0913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ResNet-50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23.5 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89.8%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0.898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0.883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0.890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6851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ResNet-101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42.5 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88.1%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0.878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0.869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0.872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6851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ResNet-18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11.2 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87.3%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0.851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0.891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0.867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6851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ResNet-34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21.3 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82.2%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0.814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0.833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0.823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6851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B03430"/>
                          </a:solidFill>
                          <a:latin typeface="Microsoft YaHei"/>
                          <a:ea typeface="Microsoft YaHei"/>
                        </a:rPr>
                        <a:t>ViT-B/16（预训练）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85.8 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53.4%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0.461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0.444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0.439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6851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B03430"/>
                          </a:solidFill>
                          <a:latin typeface="Microsoft YaHei"/>
                          <a:ea typeface="Microsoft YaHei"/>
                        </a:rPr>
                        <a:t>ViT 轻量版（从零）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3.4 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53.4%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0.441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0.402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0.401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552" name=""/>
          <p:cNvSpPr/>
          <p:nvPr/>
        </p:nvSpPr>
        <p:spPr>
          <a:xfrm rot="0" flipH="0" flipV="0">
            <a:off x="428625" y="5829300"/>
            <a:ext cx="11430000" cy="590550"/>
          </a:xfrm>
          <a:prstGeom prst="roundRect">
            <a:avLst>
              <a:gd name="adj" fmla="val 9677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553" name=""/>
          <p:cNvSpPr/>
          <p:nvPr/>
        </p:nvSpPr>
        <p:spPr>
          <a:xfrm rot="0" flipH="0" flipV="0">
            <a:off x="428625" y="5829300"/>
            <a:ext cx="11430000" cy="590550"/>
          </a:xfrm>
          <a:custGeom>
            <a:pathLst>
              <a:path w="1200" h="62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61"/>
                </a:lnTo>
                <a:cubicBezTo>
                  <a:pt x="5" y="62"/>
                  <a:pt x="5" y="62"/>
                  <a:pt x="6" y="62"/>
                </a:cubicBezTo>
                <a:cubicBezTo>
                  <a:pt x="3" y="62"/>
                  <a:pt x="0" y="59"/>
                  <a:pt x="0" y="5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581025" y="5819775"/>
            <a:ext cx="110966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数据判断：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排名与参数量完全不相关——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85.8 M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的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ViT-B/16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与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3.4 M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的轻量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ViT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同为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53.4%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，而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23.5 M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的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ResNet-50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领先第二名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1.7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个百分点。在小样本医学影像上，</a:t>
            </a:r>
            <a:r>
              <a:rPr lang="zh-CN" sz="1350" b="1">
                <a:solidFill>
                  <a:srgbClr val="D9534F"/>
                </a:solidFill>
                <a:latin typeface="Microsoft YaHei"/>
                <a:ea typeface="Microsoft YaHei"/>
              </a:rPr>
              <a:t>架构的归纳偏置比参数规模更能决定结果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55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29 / 38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575" name="" descr="&lt;Slide style={{ padding: 0, background: '#FFFFFF', fontFamily: 'Microsoft YaHei' }}&gt;&#13;&#10;    &lt;Box style={{ width: '100%', height: 76, background: '#0E3F8C', flexDirection: 'row', alignItems: 'center', justifyContent: 'space-between', paddingLeft: 40, paddingRight: 40 }}&gt;&#13;&#10;        &lt;Box style={{ flexDirection: 'row', alignItems: 'center', gap: 16 }}&gt;&#13;&#10;            &lt;Box style={{ width: 6, height: 34, background: '#FFC107' }} /&gt;&#13;&#10;            &lt;Text style={{ fontSize: 32, fontWeight: 'bold', color: '#FFFFFF' }}&gt;最优模型 ResNet-50 的逐类表现&lt;/Text&gt;&#13;&#10;        &lt;/Box&gt;&#13;&#10;        &lt;Text style={{ fontSize: 16, color: '#8FC0F0' }}&gt;06 实验结果与分析&lt;/Text&gt;&#13;&#10;    &lt;/Box&gt;&#13;&#10;&#13;&#10;    &lt;Box style={{ height: 604, flexDirection: 'row', gap: 24, paddingTop: 20, paddingLeft: 40, paddingRight: 40, paddingBottom: 20 }}&gt;&#13;&#10;        &lt;Box style={{ width: 530, gap: 10 }}&gt;&#13;&#10;            &lt;Image src=&quot;assets/cm_resnet50.png&quot; style={{ width: 511, height: 470, borderRadius: 10, border: '1px solid #D6DCE5' }} /&gt;&#13;&#10;            &lt;Text style={{ fontSize: 15, color: '#8B97A8' }}&gt;&#13;&#10;                图：ResNet-50 在 118 张测试图上的混淆矩阵（行 = 真实类别，列 = 预测类别）&#13;&#10;            &lt;/Text&gt;&#13;&#10;        &lt;/Box&gt;&#13;&#10;&#13;&#10;        &lt;Box style={{ flex: 1, gap: 12 }}&gt;&#13;&#10;            &lt;Box style={{ flexDirection: 'row', alignItems: 'center', gap: 12, background: '#E8EFF8', borderRadius: 8, paddingLeft: 16, paddingTop: 9, paddingBottom: 9 }}&gt;&#13;&#10;                &lt;FAIcon name='info-circle' style={{ fill: '#1E4FA8', width: 24, height: 24 }} /&gt;&#13;&#10;                &lt;Text style={{ fontSize: 20, fontWeight: 'bold', color: '#0E3F8C' }}&gt;整体 89.8% 很亮眼，但临床更关心那 4 个漏诊&lt;/Text&gt;&#13;&#10;            &lt;/Box&gt;&#13;&#10;&#13;&#10;            &lt;Table&#13;&#10;                style={{ width: '100%', height: 248 }}&#13;&#10;                defaultTextStyle={{ fontSize: 17, textAlign: 'center', color: '#1A2230' }}&#13;&#10;                defaultCellStyle={{&#13;&#10;                    border: {&#13;&#10;                        left: { width: 1, color: '#D6DCE5' }, right: { width: 1, color: '#D6DCE5' },&#13;&#10;                        top: { width: 1, color: '#D6DCE5' }, bottom: { width: 1, color: '#D6DCE5' },&#13;&#10;                    },&#13;&#10;                }}&#13;&#10;                cells={[&#13;&#10;                    [&#13;&#10;                        { text: '类别', textStyle: { bold: true, color: '#FFFFFF', fontSize: 18 }, cellStyle: { background: { color: '#0E3F8C' } } },&#13;&#10;                        { text: '样本数', textStyle: { bold: true, color: '#FFFFFF', fontSize: 18 }, cellStyle: { background: { color: '#0E3F8C' } } },&#13;&#10;                        { text: 'Precision', textStyle: { bold: true, color: '#FFFFFF', fontSize: 18 }, cellStyle: { background: { color: '#0E3F8C' } } },&#13;&#10;                        { text: 'Recall', textStyle: { bold: true, color: '#FFFFFF', fontSize: 18 }, cellStyle: { background: { color: '#0E3F8C' } } },&#13;&#10;                        { text: 'F1', textStyle: { bold: true, color: '#FFFFFF', fontSize: 18 }, cellStyle: { background: { color: '#0E3F8C' } } },&#13;&#10;                        { text: '特异度', textStyle: { bold: true, color: '#FFFFFF', fontSize: 18 }, cellStyle: { background: { color: '#0E3F8C' } } },&#13;&#10;                    ],&#13;&#10;                    [&#13;&#10;                        { text: '良性', textStyle: { bold: true }, cellStyle: { background: { color: '#F0F5FC' } } },&#13;&#10;                        { text: '66', cellStyle: { background: { color: '#F0F5FC' } } },&#13;&#10;                        { text: '0.897', cellStyle: { background: { color: '#F0F5FC' } } },&#13;&#10;                        { text: '0.924', cellStyle: { background: { color: '#F0F5FC' } } },&#13;&#10;                        { text: '0.910', cellStyle: { background: { color: '#F0F5FC' } } },&#13;&#10;                        { text: '0.865', cellStyle: { background: { color: '#F0F5FC' } } },&#13;&#10;                    ],&#13;&#10;                    [&#13;&#10;                        { text: '恶性', textStyle: { bold: true, color: '#B03430' }, cellStyle: { background: { color: '#FDECEC' } } },&#13;&#10;                        { text: '32', cellStyle: { background: { color: '#FDECEC' } } },&#13;&#10;                        { text: '0.903', cellStyle: { background: { color: '#FDECEC' } } },&#13;&#10;                        { text: '0.875', textStyle: { bold: true, color: '#D9534F' }, cellStyle: { background: { color: '#FDECEC' } } },&#13;&#10;                        { text: '0.889', cellStyle: { background: { color: '#FDECEC' } } },&#13;&#10;                        { text: '0.965', cellStyle: { background: { color: '#FDECEC' } } },&#13;&#10;                    ],&#13;&#10;                    [&#13;&#10;                        { text: '正常', textStyle: { bold: true }, cellStyle: { background: { color: '#F0F5FC' } } },&#13;&#10;                        { text: '20', cellStyle: { background: { color: '#F0F5FC' } } },&#13;&#10;                        { text: '0.895', cellStyle: { background: { color: '#F0F5FC' } } },&#13;&#10;                        { text: '0.850', cellStyle: { background: { color: '#F0F5FC' } } },&#13;&#10;                        { text: '0.872', cellStyle: { background: { color: '#F0F5FC' } } },&#13;&#10;                        { text: '0.980', cellStyle: { background: { color: '#F0F5FC' } } },&#13;&#10;                    ],&#13;&#10;                ]}&#13;&#10;            /&gt;&#13;&#10;&#13;&#10;            &lt;Box style={{ flex: 1, background: '#FFFFFF', border: '1px solid #D6DCE5', borderLeft: '5px solid #D9534F', borderRadius: 8, padding: 14, gap: 6 }}&gt;&#13;&#10;                &lt;Text style={{ fontSize: 21, fontWeight: 'bold', color: '#0E3F8C' }}&gt;把矩阵读成临床语言&lt;/Text&gt;&#13;&#10;                &lt;Text style={{ fontSize: 17, color: '#4A5568', lineHeight: 1.6 }}&gt;&#13;&#10;                    32 例恶性里 28 例被正确检出，&lt;span style={{ fontWeight: 'bold', color: '#D9534F' }}&gt;4 例被判成良性（漏诊）&lt;/span&gt;；86 例非恶性中只有 3 例被误报为恶性。模型&quot;宁可多报、不可漏报&quot;的倾向，正是类别权重带来的效果。&#13;&#10;                &lt;/Text&gt;&#13;&#10;            &lt;/Box&gt;&#13;&#10;&#13;&#10;            &lt;Box style={{ flex: 1, background: '#FFF8E1', border: '1px solid #FFC107', borderLeft: '5px solid #FFC107', borderRadius: 8, padding: 14, gap: 6 }}&gt;&#13;&#10;                &lt;Text style={{ fontSize: 21, fontWeight: 'bold', color: '#0E3F8C' }}&gt;仍有 12 例判错，说明什么&lt;/Text&gt;&#13;&#10;                &lt;Text style={{ fontSize: 17, color: '#4A5568', lineHeight: 1.6 }}&gt;&#13;&#10;                    错例集中在良性与正常之间（良性 3 例判为正常、正常 3 例判为良性）——这两类在灰阶上本就高度相似。它提醒我们：&lt;span style={{ fontWeight: 'bold' }}&gt;89.8% 是辅助水平，不是替代水平&lt;/span&gt;。&#13;&#10;                &lt;/Text&gt;&#13;&#10;            &lt;/Box&gt;&#13;&#10;        &lt;/Box&gt;&#13;&#10;    &lt;/Box&gt;&#13;&#10;&#13;&#10;    &lt;Box style={{ height: 40, flexDirection: 'row', alignItems: 'center', justifyContent: 'space-between', paddingLeft: 40, paddingRight: 40, borderTop: '1px solid #E5E7EB' }}&gt;&#13;&#10;        &lt;Text style={{ fontSize: 14, color: '#8B97A8' }}&gt;BUSI 乳腺超声图像分类 · 乳腺癌智能诊断&lt;/Text&gt;&#13;&#10;        &lt;Text style={{ fontSize: 14, color: '#1E4FA8' }}&gt;30 / 3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7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78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45148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最优模型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ResNet-50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的逐类表现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10515600" y="26670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 xml:space="preserve">06 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实验结果与分析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381000" y="914400"/>
            <a:ext cx="4867275" cy="44767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582" name=""/>
          <p:cNvPicPr>
            <a:picLocks noChangeAspect="1"/>
          </p:cNvPicPr>
          <p:nvPr/>
        </p:nvPicPr>
        <p:blipFill>
          <a:blip r:embed="rId1"/>
          <a:srcRect l="0" t="21" r="0" b="21"/>
          <a:stretch>
            <a:fillRect/>
          </a:stretch>
        </p:blipFill>
        <p:spPr>
          <a:xfrm rot="0" flipH="0" flipV="0">
            <a:off x="381000" y="914400"/>
            <a:ext cx="4867275" cy="4476750"/>
          </a:xfrm>
          <a:prstGeom prst="roundRect">
            <a:avLst>
              <a:gd name="adj" fmla="val 2128"/>
            </a:avLst>
          </a:prstGeom>
          <a:ln/>
        </p:spPr>
      </p:pic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381000" y="5486400"/>
            <a:ext cx="504825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图：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ResNet-50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在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118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张测试图上的混淆矩阵（行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真实类别，列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预测类别）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5657850" y="914400"/>
            <a:ext cx="6153150" cy="400050"/>
          </a:xfrm>
          <a:prstGeom prst="roundRect">
            <a:avLst>
              <a:gd name="adj" fmla="val 19048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5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810250" y="1000125"/>
            <a:ext cx="228600" cy="228600"/>
          </a:xfrm>
          <a:prstGeom prst="rect">
            <a:avLst/>
          </a:prstGeom>
          <a:ln/>
        </p:spPr>
      </p:pic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6153150" y="1000125"/>
            <a:ext cx="3981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整体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89.8%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很亮眼，但临床更关心那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个漏诊</a:t>
            </a:r>
            <a:endParaRPr/>
          </a:p>
        </p:txBody>
      </p:sp>
      <p:graphicFrame>
        <p:nvGraphicFramePr>
          <p:cNvPr id="587" name=""/>
          <p:cNvGraphicFramePr/>
          <p:nvPr/>
        </p:nvGraphicFramePr>
        <p:xfrm rot="0" flipH="0" flipV="0">
          <a:off x="5657850" y="1428750"/>
          <a:ext cx="6153150" cy="2362200"/>
        </p:xfrm>
        <a:graphic>
          <a:graphicData uri="http://schemas.openxmlformats.org/drawingml/2006/table">
            <a:tbl>
              <a:tblGrid>
                <a:gridCol w="735282">
                  <a:extLst>
                    <a:ext uri="{9D8B030D-6E8A-4147-A177-3AD203B41FA5}">
                      <a16:colId val="1"/>
                    </a:ext>
                  </a:extLst>
                </a:gridCol>
                <a:gridCol w="1025525">
                  <a:extLst>
                    <a:ext uri="{9D8B030D-6E8A-4147-A177-3AD203B41FA5}">
                      <a16:colId val="2"/>
                    </a:ext>
                  </a:extLst>
                </a:gridCol>
                <a:gridCol w="1493139">
                  <a:extLst>
                    <a:ext uri="{9D8B030D-6E8A-4147-A177-3AD203B41FA5}">
                      <a16:colId val="3"/>
                    </a:ext>
                  </a:extLst>
                </a:gridCol>
                <a:gridCol w="1009400">
                  <a:extLst>
                    <a:ext uri="{9D8B030D-6E8A-4147-A177-3AD203B41FA5}">
                      <a16:colId val="4"/>
                    </a:ext>
                  </a:extLst>
                </a:gridCol>
                <a:gridCol w="864279">
                  <a:extLst>
                    <a:ext uri="{9D8B030D-6E8A-4147-A177-3AD203B41FA5}">
                      <a16:colId val="5"/>
                    </a:ext>
                  </a:extLst>
                </a:gridCol>
                <a:gridCol w="1025525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60325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类别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样本数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Precision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Recall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F1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特异度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863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良性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66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0.897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0.924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0.865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863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B03430"/>
                          </a:solidFill>
                          <a:latin typeface="Microsoft YaHei"/>
                          <a:ea typeface="Microsoft YaHei"/>
                        </a:rPr>
                        <a:t>恶性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0.903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0.875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0.889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0.965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863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正常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0.895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0.850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0.872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0.980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588" name=""/>
          <p:cNvSpPr/>
          <p:nvPr/>
        </p:nvSpPr>
        <p:spPr>
          <a:xfrm rot="0" flipH="0" flipV="0">
            <a:off x="5705475" y="3905250"/>
            <a:ext cx="61531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9" name=""/>
          <p:cNvSpPr/>
          <p:nvPr/>
        </p:nvSpPr>
        <p:spPr>
          <a:xfrm rot="0" flipH="0" flipV="0">
            <a:off x="5705475" y="3905250"/>
            <a:ext cx="6153150" cy="1200150"/>
          </a:xfrm>
          <a:custGeom>
            <a:pathLst>
              <a:path w="646" h="126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23"/>
                </a:lnTo>
                <a:cubicBezTo>
                  <a:pt x="5" y="125"/>
                  <a:pt x="6" y="126"/>
                  <a:pt x="8" y="126"/>
                </a:cubicBezTo>
                <a:cubicBezTo>
                  <a:pt x="3" y="126"/>
                  <a:pt x="0" y="122"/>
                  <a:pt x="0" y="11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5838825" y="4038600"/>
            <a:ext cx="5838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把矩阵读成临床语言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5838825" y="4343400"/>
            <a:ext cx="58388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32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例恶性里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例被正确检出，</a:t>
            </a:r>
            <a:r>
              <a:rPr lang="en-US" sz="1275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275" b="1">
                <a:solidFill>
                  <a:srgbClr val="D9534F"/>
                </a:solidFill>
                <a:latin typeface="Microsoft YaHei"/>
                <a:ea typeface="Microsoft YaHei"/>
              </a:rPr>
              <a:t>例被判成良性（漏诊）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；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86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例非恶性中只有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例被误报为恶性。模型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宁可多报、不可漏报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的倾向，正是类别权重带来的效果。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5705475" y="5219700"/>
            <a:ext cx="6153150" cy="1200150"/>
          </a:xfrm>
          <a:prstGeom prst="roundRect">
            <a:avLst>
              <a:gd name="adj" fmla="val 6349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593" name=""/>
          <p:cNvSpPr/>
          <p:nvPr/>
        </p:nvSpPr>
        <p:spPr>
          <a:xfrm rot="0" flipH="0" flipV="0">
            <a:off x="5705475" y="5219700"/>
            <a:ext cx="6153150" cy="1200150"/>
          </a:xfrm>
          <a:custGeom>
            <a:pathLst>
              <a:path w="646" h="126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23"/>
                </a:lnTo>
                <a:cubicBezTo>
                  <a:pt x="5" y="125"/>
                  <a:pt x="6" y="126"/>
                  <a:pt x="8" y="126"/>
                </a:cubicBezTo>
                <a:cubicBezTo>
                  <a:pt x="3" y="126"/>
                  <a:pt x="0" y="122"/>
                  <a:pt x="0" y="11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5838825" y="5353050"/>
            <a:ext cx="5838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仍有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例判错，说明什么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5838825" y="5657850"/>
            <a:ext cx="58388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错例集中在良性与正常之间（良性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例判为正常、正常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例判为良性）——这两类在灰阶上本就高度相似。它提醒我们：</a:t>
            </a:r>
            <a:r>
              <a:rPr lang="en-US" sz="1275" b="1">
                <a:solidFill>
                  <a:srgbClr val="4A5568"/>
                </a:solidFill>
                <a:latin typeface="Microsoft YaHei"/>
                <a:ea typeface="Microsoft YaHei"/>
              </a:rPr>
              <a:t xml:space="preserve">89.8% </a:t>
            </a:r>
            <a:r>
              <a:rPr lang="zh-CN" sz="1275" b="1">
                <a:solidFill>
                  <a:srgbClr val="4A5568"/>
                </a:solidFill>
                <a:latin typeface="Microsoft YaHei"/>
                <a:ea typeface="Microsoft YaHei"/>
              </a:rPr>
              <a:t>是辅助水平，不是替代水平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30 / 38</a:t>
            </a:r>
            <a:endParaRPr/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599" name="" descr="&lt;Slide style={{ padding: 0, background: '#FFFFFF', fontFamily: 'Microsoft YaHei' }}&gt;&#13;&#10;    &lt;Box style={{ width: '100%', height: 76, background: '#0E3F8C', flexDirection: 'row', alignItems: 'center', justifyContent: 'space-between', paddingLeft: 40, paddingRight: 40 }}&gt;&#13;&#10;        &lt;Box style={{ flexDirection: 'row', alignItems: 'center', gap: 16 }}&gt;&#13;&#10;            &lt;Box style={{ width: 6, height: 34, background: '#FFC107' }} /&gt;&#13;&#10;            &lt;Text style={{ fontSize: 32, fontWeight: 'bold', color: '#FFFFFF' }}&gt;训练曲线对比：一条收敛，一条挣扎&lt;/Text&gt;&#13;&#10;        &lt;/Box&gt;&#13;&#10;        &lt;Text style={{ fontSize: 16, color: '#8FC0F0' }}&gt;06 实验结果与分析&lt;/Text&gt;&#13;&#10;    &lt;/Box&gt;&#13;&#10;&#13;&#10;    &lt;Box style={{ height: 604, flexDirection: 'row', gap: 22, paddingTop: 18, paddingLeft: 40, paddingRight: 40, paddingBottom: 18 }}&gt;&#13;&#10;        &lt;Box style={{ width: 660, gap: 8 }}&gt;&#13;&#10;            &lt;Box style={{ flexDirection: 'row', alignItems: 'center', gap: 10, background: '#E8EFF8', borderRadius: 8, paddingLeft: 16, paddingTop: 8, paddingBottom: 8 }}&gt;&#13;&#10;                &lt;Box style={{ width: 10, height: 10, background: '#1E4FA8', borderRadius: 5 }} /&gt;&#13;&#10;                &lt;Text style={{ fontSize: 20, fontWeight: 'bold', color: '#0E3F8C' }}&gt;ResNet-50：训练损失与验证损失同步下降&lt;/Text&gt;&#13;&#10;            &lt;/Box&gt;&#13;&#10;            &lt;Image src=&quot;assets/curves_resnet50.png&quot; style={{ width: 606, height: 338, borderRadius: 8, border: '1px solid #D6DCE5' }} /&gt;&#13;&#10;            &lt;Text style={{ fontSize: 15, color: '#8B97A8' }}&gt;&#13;&#10;                图：ResNet-50 的 loss / Accuracy / Precision / Recall / F1 训练曲线&#13;&#10;            &lt;/Text&gt;&#13;&#10;            &lt;Box style={{ flexDirection: 'row', gap: 12 }}&gt;&#13;&#10;                &lt;Box style={{ flex: 1, background: '#F0F5FC', border: '1px solid #D6DCE5', borderRadius: 8, padding: 12, alignItems: 'center', gap: 2 }}&gt;&#13;&#10;                    &lt;Text style={{ fontSize: 34, fontWeight: 'bold', color: '#1E4FA8' }}&gt;34&lt;/Text&gt;&#13;&#10;                    &lt;Text style={{ fontSize: 15, color: '#4A5568' }}&gt;最佳轮次&lt;/Text&gt;&#13;&#10;                &lt;/Box&gt;&#13;&#10;                &lt;Box style={{ flex: 1, background: '#F0F5FC', border: '1px solid #D6DCE5', borderRadius: 8, padding: 12, alignItems: 'center', gap: 2 }}&gt;&#13;&#10;                    &lt;Text style={{ fontSize: 34, fontWeight: 'bold', color: '#1E4FA8' }}&gt;0.911&lt;/Text&gt;&#13;&#10;                    &lt;Text style={{ fontSize: 15, color: '#4A5568' }}&gt;验证集 macro-F1&lt;/Text&gt;&#13;&#10;                &lt;/Box&gt;&#13;&#10;                &lt;Box style={{ flex: 1, background: '#F0F5FC', border: '1px solid #D6DCE5', borderRadius: 8, padding: 12, alignItems: 'center', gap: 2 }}&gt;&#13;&#10;                    &lt;Text style={{ fontSize: 34, fontWeight: 'bold', color: '#1E4FA8' }}&gt;0.34&lt;/Text&gt;&#13;&#10;                    &lt;Text style={{ fontSize: 15, color: '#4A5568' }}&gt;测试集平均损失&lt;/Text&gt;&#13;&#10;                &lt;/Box&gt;&#13;&#10;                &lt;Box style={{ flex: 1, background: '#FFF8E1', border: '1px solid #FFC107', borderRadius: 8, padding: 12, alignItems: 'center', gap: 2 }}&gt;&#13;&#10;                    &lt;Text style={{ fontSize: 34, fontWeight: 'bold', color: '#0E3F8C' }}&gt;49&lt;/Text&gt;&#13;&#10;                    &lt;Text style={{ fontSize: 15, color: '#4A5568' }}&gt;触发早停轮次&lt;/Text&gt;&#13;&#10;                &lt;/Box&gt;&#13;&#10;            &lt;/Box&gt;&#13;&#10;        &lt;/Box&gt;&#13;&#10;&#13;&#10;        &lt;Box style={{ flex: 1, gap: 8 }}&gt;&#13;&#10;            &lt;Box style={{ flexDirection: 'row', alignItems: 'center', gap: 10, background: '#FDECEC', borderRadius: 8, paddingLeft: 16, paddingTop: 8, paddingBottom: 8 }}&gt;&#13;&#10;                &lt;Box style={{ width: 10, height: 10, background: '#D9534F', borderRadius: 5 }} /&gt;&#13;&#10;                &lt;Text style={{ fontSize: 20, fontWeight: 'bold', color: '#B03430' }}&gt;ViT-B/16：验证损失始终高于训练损失&lt;/Text&gt;&#13;&#10;            &lt;/Box&gt;&#13;&#10;            &lt;Image src=&quot;assets/curves_vit_b16.png&quot; style={{ width: 410, height: 229, borderRadius: 8, border: '1px solid #F5C6C4' }} /&gt;&#13;&#10;            &lt;Text style={{ fontSize: 15, color: '#8B97A8' }}&gt;&#13;&#10;                图：ViT-B/16 的训练曲线，第 32 轮触发早停&#13;&#10;            &lt;/Text&gt;&#13;&#10;            &lt;Box style={{ flex: 1, background: '#FFFFFF', border: '1px solid #D6DCE5', borderLeft: '5px solid #D9534F', borderRadius: 8, padding: 14, gap: 8 }}&gt;&#13;&#10;                &lt;Text style={{ fontSize: 20, fontWeight: 'bold', color: '#0E3F8C' }}&gt;怎么读这两张图&lt;/Text&gt;&#13;&#10;                &lt;Text style={{ fontSize: 16, color: '#4A5568', lineHeight: 1.55 }}&gt;&#13;&#10;                    ResNet-50 的训练与验证曲线贴合，学到的规律能迁移到未见样本；ViT-B/16 训练损失一路下降，验证损失却在高位徘徊——典型的&lt;span style={{ fontWeight: 'bold', color: '#D9534F' }}&gt;泛化鸿沟&lt;/span&gt;。&#13;&#10;                &lt;/Text&gt;&#13;&#10;                &lt;Text style={{ fontSize: 16, color: '#4A5568', lineHeight: 1.55 }}&gt;&#13;&#10;                    更早触发早停（第 32 轮）也从侧面印证：验证指标很早就停止改善。&#13;&#10;                &lt;/Text&gt;&#13;&#10;                &lt;Box style={{ background: '#FFF8E1', borderRadius: 6, padding: 10, marginTop: 'auto' }}&gt;&#13;&#10;                    &lt;Text style={{ fontSize: 16, color: '#1A2230', lineHeight: 1.5 }}&gt;&#13;&#10;                        &lt;span style={{ fontWeight: 'bold' }}&gt;判断：&lt;/span&gt;曲线形状比最终数字更早暴露问题。&#13;&#10;                    &lt;/Text&gt;&#13;&#10;                &lt;/Box&gt;&#13;&#10;            &lt;/Box&gt;&#13;&#10;        &lt;/Box&gt;&#13;&#10;    &lt;/Box&gt;&#13;&#10;&#13;&#10;    &lt;Box style={{ height: 40, flexDirection: 'row', alignItems: 'center', justifyContent: 'space-between', paddingLeft: 40, paddingRight: 40, borderTop: '1px solid #E5E7EB' }}&gt;&#13;&#10;        &lt;Text style={{ fontSize: 14, color: '#8B97A8' }}&gt;BUSI 乳腺超声图像分类 · 乳腺癌智能诊断&lt;/Text&gt;&#13;&#10;        &lt;Text style={{ fontSize: 14, color: '#1E4FA8' }}&gt;31 / 3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1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02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4876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训练曲线对比：一条收敛，一条挣扎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10515600" y="26670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 xml:space="preserve">06 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实验结果与分析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381000" y="895350"/>
            <a:ext cx="6286500" cy="381000"/>
          </a:xfrm>
          <a:prstGeom prst="roundRect">
            <a:avLst>
              <a:gd name="adj" fmla="val 2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06" name=""/>
          <p:cNvSpPr/>
          <p:nvPr/>
        </p:nvSpPr>
        <p:spPr>
          <a:xfrm rot="0" flipH="0" flipV="0">
            <a:off x="533400" y="10382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723900" y="971550"/>
            <a:ext cx="3667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ResNet-50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：训练损失与验证损失同步下降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381000" y="1352550"/>
            <a:ext cx="5772150" cy="32194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609" name=""/>
          <p:cNvPicPr>
            <a:picLocks noChangeAspect="1"/>
          </p:cNvPicPr>
          <p:nvPr/>
        </p:nvPicPr>
        <p:blipFill>
          <a:blip r:embed="rId1"/>
          <a:srcRect l="9" t="0" r="9" b="0"/>
          <a:stretch>
            <a:fillRect/>
          </a:stretch>
        </p:blipFill>
        <p:spPr>
          <a:xfrm rot="0" flipH="0" flipV="0">
            <a:off x="381000" y="1352550"/>
            <a:ext cx="5772150" cy="3219450"/>
          </a:xfrm>
          <a:prstGeom prst="roundRect">
            <a:avLst>
              <a:gd name="adj" fmla="val 2367"/>
            </a:avLst>
          </a:prstGeom>
          <a:ln/>
        </p:spPr>
      </p:pic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381000" y="46482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图：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ResNet-50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的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loss / Accuracy / Precision / Recall / F1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训练曲线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381000" y="4895850"/>
            <a:ext cx="1485900" cy="809625"/>
          </a:xfrm>
          <a:prstGeom prst="roundRect">
            <a:avLst>
              <a:gd name="adj" fmla="val 9412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923925" y="5010150"/>
            <a:ext cx="40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34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838200" y="54197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最佳轮次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1981200" y="4895850"/>
            <a:ext cx="1485900" cy="809625"/>
          </a:xfrm>
          <a:prstGeom prst="roundRect">
            <a:avLst>
              <a:gd name="adj" fmla="val 9412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2276475" y="5010150"/>
            <a:ext cx="895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0.911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2162175" y="5419725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验证集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macro-F1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3581400" y="4895850"/>
            <a:ext cx="1485900" cy="809625"/>
          </a:xfrm>
          <a:prstGeom prst="roundRect">
            <a:avLst>
              <a:gd name="adj" fmla="val 9412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3981450" y="5010150"/>
            <a:ext cx="6953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0.34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3829050" y="541972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测试集平均损失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5181600" y="4895850"/>
            <a:ext cx="1485900" cy="809625"/>
          </a:xfrm>
          <a:prstGeom prst="roundRect">
            <a:avLst>
              <a:gd name="adj" fmla="val 9412"/>
            </a:avLst>
          </a:prstGeom>
          <a:solidFill>
            <a:srgbClr val="FFF8E1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5724525" y="5010150"/>
            <a:ext cx="40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49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5495925" y="54197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触发早停轮次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6877050" y="895350"/>
            <a:ext cx="4933950" cy="381000"/>
          </a:xfrm>
          <a:prstGeom prst="roundRect">
            <a:avLst>
              <a:gd name="adj" fmla="val 20000"/>
            </a:avLst>
          </a:prstGeom>
          <a:solidFill>
            <a:srgbClr val="FDECEC"/>
          </a:solidFill>
          <a:ln/>
        </p:spPr>
        <p:txBody>
          <a:bodyPr/>
          <a:p/>
        </p:txBody>
      </p:sp>
      <p:sp>
        <p:nvSpPr>
          <p:cNvPr id="624" name=""/>
          <p:cNvSpPr/>
          <p:nvPr/>
        </p:nvSpPr>
        <p:spPr>
          <a:xfrm rot="0" flipH="0" flipV="0">
            <a:off x="7029450" y="10382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7219950" y="971550"/>
            <a:ext cx="3333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B03430"/>
                </a:solidFill>
                <a:latin typeface="Microsoft YaHei"/>
                <a:ea typeface="Microsoft YaHei"/>
              </a:rPr>
              <a:t>ViT-B/16</a:t>
            </a:r>
            <a:r>
              <a:rPr lang="zh-CN" sz="1500" b="1">
                <a:solidFill>
                  <a:srgbClr val="B03430"/>
                </a:solidFill>
                <a:latin typeface="Microsoft YaHei"/>
                <a:ea typeface="Microsoft YaHei"/>
              </a:rPr>
              <a:t>：验证损失始终高于训练损失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6877050" y="1352550"/>
            <a:ext cx="3905250" cy="2181225"/>
          </a:xfrm>
          <a:prstGeom prst="rect">
            <a:avLst/>
          </a:prstGeom>
          <a:ln w="12700">
            <a:solidFill>
              <a:srgbClr val="F5C6C4"/>
            </a:solidFill>
            <a:prstDash val="solid"/>
          </a:ln>
        </p:spPr>
        <p:txBody>
          <a:bodyPr/>
          <a:p/>
        </p:txBody>
      </p:sp>
      <p:pic>
        <p:nvPicPr>
          <p:cNvPr id="627" name=""/>
          <p:cNvPicPr>
            <a:picLocks noChangeAspect="1"/>
          </p:cNvPicPr>
          <p:nvPr/>
        </p:nvPicPr>
        <p:blipFill>
          <a:blip r:embed="rId2"/>
          <a:srcRect l="58" t="0" r="58" b="0"/>
          <a:stretch>
            <a:fillRect/>
          </a:stretch>
        </p:blipFill>
        <p:spPr>
          <a:xfrm rot="0" flipH="0" flipV="0">
            <a:off x="6877050" y="1352550"/>
            <a:ext cx="3905250" cy="2181225"/>
          </a:xfrm>
          <a:prstGeom prst="roundRect">
            <a:avLst>
              <a:gd name="adj" fmla="val 3493"/>
            </a:avLst>
          </a:prstGeom>
          <a:ln/>
        </p:spPr>
      </p:pic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6877050" y="3609975"/>
            <a:ext cx="493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图：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ViT-B/16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的训练曲线，第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32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轮触发早停</a:t>
            </a:r>
            <a:endParaRPr/>
          </a:p>
        </p:txBody>
      </p:sp>
      <p:sp>
        <p:nvSpPr>
          <p:cNvPr id="629" name=""/>
          <p:cNvSpPr/>
          <p:nvPr/>
        </p:nvSpPr>
        <p:spPr>
          <a:xfrm rot="0" flipH="0" flipV="0">
            <a:off x="6924675" y="3857625"/>
            <a:ext cx="4933950" cy="2619375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0" name=""/>
          <p:cNvSpPr/>
          <p:nvPr/>
        </p:nvSpPr>
        <p:spPr>
          <a:xfrm rot="0" flipH="0" flipV="0">
            <a:off x="6924675" y="3857625"/>
            <a:ext cx="4933950" cy="2619375"/>
          </a:xfrm>
          <a:custGeom>
            <a:pathLst>
              <a:path w="518" h="275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272"/>
                </a:lnTo>
                <a:cubicBezTo>
                  <a:pt x="5" y="274"/>
                  <a:pt x="6" y="275"/>
                  <a:pt x="8" y="275"/>
                </a:cubicBezTo>
                <a:cubicBezTo>
                  <a:pt x="3" y="275"/>
                  <a:pt x="0" y="271"/>
                  <a:pt x="0" y="26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7058025" y="3990975"/>
            <a:ext cx="4619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怎么读这两张图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7058025" y="4295775"/>
            <a:ext cx="461962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ResNet-50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的训练与验证曲线贴合，学到的规律能迁移到未见样本；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ViT-B/16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训练损失一路下降，验证损失却在高位徘徊——典型的</a:t>
            </a:r>
            <a:r>
              <a:rPr lang="zh-CN" sz="1200" b="1">
                <a:solidFill>
                  <a:srgbClr val="D9534F"/>
                </a:solidFill>
                <a:latin typeface="Microsoft YaHei"/>
                <a:ea typeface="Microsoft YaHei"/>
              </a:rPr>
              <a:t>泛化鸿沟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7058025" y="5229225"/>
            <a:ext cx="46196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更早触发早停（第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32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轮）也从侧面印证：验证指标很早就停止改善。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7058025" y="5876925"/>
            <a:ext cx="4619625" cy="466725"/>
          </a:xfrm>
          <a:prstGeom prst="roundRect">
            <a:avLst>
              <a:gd name="adj" fmla="val 12245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7153275" y="5972175"/>
            <a:ext cx="44291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判断：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曲线形状比最终数字更早暴露问题。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31 / 38</a:t>
            </a:r>
            <a:endParaRPr/>
          </a:p>
        </p:txBody>
      </p:sp>
    </p:spTree>
  </p:cSld>
</p:sld>
</file>

<file path=ppt/slides/slide3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39" name="" descr="&lt;Slide style={{ padding: 0, background: '#FFFFFF', fontFamily: 'Microsoft YaHei' }}&gt;&#13;&#10;    &lt;Box style={{ width: '100%', height: 76, background: '#0E3F8C', flexDirection: 'row', alignItems: 'center', justifyContent: 'space-between', paddingLeft: 40, paddingRight: 40 }}&gt;&#13;&#10;        &lt;Box style={{ flexDirection: 'row', alignItems: 'center', gap: 16 }}&gt;&#13;&#10;            &lt;Box style={{ width: 6, height: 34, background: '#FFC107' }} /&gt;&#13;&#10;            &lt;Text style={{ fontSize: 32, fontWeight: 'bold', color: '#FFFFFF' }}&gt;为什么 ViT 会在小数据上失利&lt;/Text&gt;&#13;&#10;        &lt;/Box&gt;&#13;&#10;        &lt;Text style={{ fontSize: 16, color: '#8FC0F0' }}&gt;06 实验结果与分析&lt;/Text&gt;&#13;&#10;    &lt;/Box&gt;&#13;&#10;&#13;&#10;    &lt;Box style={{ height: 604, flexDirection: 'row', gap: 24, paddingTop: 20, paddingLeft: 40, paddingRight: 40, paddingBottom: 20 }}&gt;&#13;&#10;        &lt;Box style={{ width: 700, background: '#F7F9FC', border: '1px solid #D6DCE5', borderRadius: 10, padding: 8, alignItems: 'center', justifyContent: 'center' }}&gt;&#13;&#10;            &lt;svg width={670} height={470} viewBox='0 0 670 470'&gt;&#13;&#10;                &lt;text x='335' y='24' fill='#0E3F8C' font-size='19' font-weight='bold' text-anchor='middle' font-family='Microsoft YaHei'&gt;性能随训练数据规模的变化（示意图，基于 ViT 原文的结论）&lt;/text&gt;&#13;&#10;&#13;&#10;                &lt;path d='M80 70 V 400 H 630' stroke='#8B97A8' strokeWidth='2' fill='none' /&gt;&#13;&#10;                &lt;text x='355' y='432' fill='#8B97A8' font-size='16' text-anchor='middle' font-family='Microsoft YaHei'&gt;训练数据规模 →（对数刻度）&lt;/text&gt;&#13;&#10;                &lt;text x='56' y='84' fill='#8B97A8' font-size='16' text-anchor='end' font-family='Microsoft YaHei'&gt;性能&lt;/text&gt;&#13;&#10;&#13;&#10;                &lt;path d='M110 380 C 190 300 240 190 330 150 S 520 128 620 122' fill='none' stroke='#1E4FA8' strokeWidth='4' /&gt;&#13;&#10;                &lt;path d='M110 386 C 200 372 260 340 340 250 S 520 150 620 100' fill='none' stroke='#D9534F' strokeWidth='4' strokeDasharray='10 6' /&gt;&#13;&#10;&#13;&#10;                &lt;path d='M232 70 V 400' stroke='#FFC107' strokeWidth='3' strokeDasharray='7 5' /&gt;&#13;&#10;                &lt;circle cx='232' cy='352' r='8' fill='#1E4FA8' /&gt;&#13;&#10;                &lt;circle cx='232' cy='376' r='8' fill='#D9534F' /&gt;&#13;&#10;                &lt;rect x='150' y='54' width='164' height='42' rx='6' fill='#FFF8E1' stroke='#FFC107' strokeWidth='2' /&gt;&#13;&#10;                &lt;text x='232' y='81' fill='#0E3F8C' font-size='15' font-weight='bold' text-anchor='middle' font-family='Microsoft YaHei'&gt;本实验：544 张&lt;/text&gt;&#13;&#10;&#13;&#10;                &lt;rect x='470' y='66' width='180' height='60' rx='6' fill='#FFFFFF' stroke='#D6DCE5' strokeWidth='1' /&gt;&#13;&#10;                &lt;path d='M484 88 H 512' stroke='#1E4FA8' strokeWidth='4' /&gt;&#13;&#10;                &lt;text x='522' y='94' fill='#1A2230' font-size='15' font-family='Microsoft YaHei'&gt;CNN（ResNet）&lt;/text&gt;&#13;&#10;                &lt;path d='M484 110 H 512' stroke='#D9534F' strokeWidth='4' strokeDasharray='10 6' /&gt;&#13;&#10;                &lt;text x='522' y='116' fill='#1A2230' font-size='15' font-family='Microsoft YaHei'&gt;ViT&lt;/text&gt;&#13;&#10;&#13;&#10;                &lt;text x='600' y='146' fill='#D9534F' font-size='16' font-weight='bold' text-anchor='middle' font-family='Microsoft YaHei'&gt;大数据区反超&lt;/text&gt;&#13;&#10;                &lt;text x='600' y='166' fill='#8B97A8' font-size='14' text-anchor='middle' font-family='Microsoft YaHei'&gt;（JFT-300M 预训练）&lt;/text&gt;&#13;&#10;                &lt;text x='400' y='212' fill='#1E4FA8' font-size='16' font-weight='bold' text-anchor='middle' font-family='Microsoft YaHei'&gt;小数据区 CNN 明显领先&lt;/text&gt;&#13;&#10;&#13;&#10;                &lt;rect x='80' y='446' width='550' height='0' fill='none' /&gt;&#13;&#10;            &lt;/svg&gt;&#13;&#10;        &lt;/Box&gt;&#13;&#10;&#13;&#10;        &lt;Box style={{ flex: 1, gap: 12 }}&gt;&#13;&#10;            &lt;Box style={{ flexDirection: 'row', alignItems: 'center', gap: 12, background: '#E8EFF8', borderRadius: 8, paddingLeft: 16, paddingTop: 9, paddingBottom: 9 }}&gt;&#13;&#10;                &lt;FAIcon name='info-circle' style={{ fill: '#1E4FA8', width: 24, height: 24 }} /&gt;&#13;&#10;                &lt;Text style={{ fontSize: 19, fontWeight: 'bold', color: '#0E3F8C' }}&gt;这不是&quot;ViT 不行&quot;，而是&quot;数据不够&quot;&lt;/Text&gt;&#13;&#10;            &lt;/Box&gt;&#13;&#10;&#13;&#10;            &lt;Box style={{ flex: 1, background: '#FFFFFF', border: '1px solid #D6DCE5', borderLeft: '5px solid #1E4FA8', borderRadius: 8, padding: 14, gap: 6 }}&gt;&#13;&#10;                &lt;Text style={{ fontSize: 21, fontWeight: 'bold', color: '#0E3F8C' }}&gt;卷积白送的三条先验&lt;/Text&gt;&#13;&#10;                &lt;Text style={{ fontSize: 17, color: '#4A5568', lineHeight: 1.6 }}&gt;&#13;&#10;                    局部性、平移等变、权重共享。它们让 CNN 即使只看过几百张图，也能合理地把&quot;边缘、纹理、形状&quot;组合起来——相当于把人类积累的视觉知识编译进了结构。&#13;&#10;                &lt;/Text&gt;&#13;&#10;            &lt;/Box&gt;&#13;&#10;&#13;&#10;            &lt;Box style={{ flex: 1, background: '#FFFFFF', border: '1px solid #D6DCE5', borderLeft: '5px solid #D9534F', borderRadius: 8, padding: 14, gap: 6 }}&gt;&#13;&#10;                &lt;Text style={{ fontSize: 21, fontWeight: 'bold', color: '#0E3F8C' }}&gt;ViT 要从零学这些&lt;/Text&gt;&#13;&#10;                &lt;Text style={{ fontSize: 17, color: '#4A5568', lineHeight: 1.6 }}&gt;&#13;&#10;                    85.8 M 参数、197×197 的注意力矩阵，自由度极高。ViT 原文明确指出：在 ImageNet-1K（130 万张）上从零训练时，ViT 略逊于同规模 ResNet；只有在 JFT-300M（3 亿张）预训练后才反超。&#13;&#10;                &lt;/Text&gt;&#13;&#10;            &lt;/Box&gt;&#13;&#10;&#13;&#10;            &lt;Box style={{ flex: 1, background: '#FFF8E1', border: '1px solid #FFC107', borderLeft: '5px solid #FFC107', borderRadius: 8, padding: 14, gap: 6 }}&gt;&#13;&#10;                &lt;Text style={{ fontSize: 21, fontWeight: 'bold', color: '#0E3F8C' }}&gt;本实验正好落在左侧区间&lt;/Text&gt;&#13;&#10;                &lt;Text style={{ fontSize: 17, color: '#4A5568', lineHeight: 1.6 }}&gt;&#13;&#10;                    544 张训练图比 ViT 的需求低了三到六个数量级。即便加载了 ImageNet 预训练权重，注意力头仍需要足够数据才能适配超声图像的域差异——结果是恶性召回仅 53%。&#13;&#10;                &lt;/Text&gt;&#13;&#10;            &lt;/Box&gt;&#13;&#10;        &lt;/Box&gt;&#13;&#10;    &lt;/Box&gt;&#13;&#10;&#13;&#10;    &lt;Box style={{ height: 40, flexDirection: 'row', alignItems: 'center', justifyContent: 'space-between', paddingLeft: 40, paddingRight: 40, borderTop: '1px solid #E5E7EB' }}&gt;&#13;&#10;        &lt;Text style={{ fontSize: 14, color: '#8B97A8' }}&gt;BUSI 乳腺超声图像分类 · 乳腺癌智能诊断&lt;/Text&gt;&#13;&#10;        &lt;Text style={{ fontSize: 14, color: '#1E4FA8' }}&gt;32 / 3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1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42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40386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为什么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ViT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会在小数据上失利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10515600" y="26670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 xml:space="preserve">06 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实验结果与分析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381000" y="914400"/>
            <a:ext cx="6667500" cy="5372100"/>
          </a:xfrm>
          <a:prstGeom prst="roundRect">
            <a:avLst>
              <a:gd name="adj" fmla="val 177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6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23875" y="1362075"/>
            <a:ext cx="6381750" cy="4476750"/>
          </a:xfrm>
          <a:prstGeom prst="rect">
            <a:avLst/>
          </a:prstGeom>
          <a:ln/>
        </p:spPr>
      </p:pic>
      <p:sp>
        <p:nvSpPr>
          <p:cNvPr id="647" name=""/>
          <p:cNvSpPr/>
          <p:nvPr/>
        </p:nvSpPr>
        <p:spPr>
          <a:xfrm rot="0" flipH="0" flipV="0">
            <a:off x="7277100" y="914400"/>
            <a:ext cx="4533900" cy="400050"/>
          </a:xfrm>
          <a:prstGeom prst="roundRect">
            <a:avLst>
              <a:gd name="adj" fmla="val 19048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6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429500" y="1000125"/>
            <a:ext cx="228600" cy="228600"/>
          </a:xfrm>
          <a:prstGeom prst="rect">
            <a:avLst/>
          </a:prstGeom>
          <a:ln/>
        </p:spPr>
      </p:pic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7772400" y="1009650"/>
            <a:ext cx="2905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这不是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"ViT 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不行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，而是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数据不够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7324725" y="1428750"/>
            <a:ext cx="453390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1" name=""/>
          <p:cNvSpPr/>
          <p:nvPr/>
        </p:nvSpPr>
        <p:spPr>
          <a:xfrm rot="0" flipH="0" flipV="0">
            <a:off x="7324725" y="1428750"/>
            <a:ext cx="4533900" cy="1504950"/>
          </a:xfrm>
          <a:custGeom>
            <a:pathLst>
              <a:path w="476" h="158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55"/>
                </a:lnTo>
                <a:cubicBezTo>
                  <a:pt x="5" y="157"/>
                  <a:pt x="6" y="158"/>
                  <a:pt x="8" y="158"/>
                </a:cubicBezTo>
                <a:cubicBezTo>
                  <a:pt x="3" y="158"/>
                  <a:pt x="0" y="154"/>
                  <a:pt x="0" y="15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7458075" y="1562100"/>
            <a:ext cx="4219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卷积白送的三条先验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7458075" y="1866900"/>
            <a:ext cx="42195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局部性、平移等变、权重共享。它们让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CNN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即使只看过几百张图，也能合理地把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边缘、纹理、形状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组合起来——相当于把人类积累的视觉知识编译进了结构。</a:t>
            </a:r>
            <a:endParaRPr/>
          </a:p>
        </p:txBody>
      </p:sp>
      <p:sp>
        <p:nvSpPr>
          <p:cNvPr id="654" name=""/>
          <p:cNvSpPr/>
          <p:nvPr/>
        </p:nvSpPr>
        <p:spPr>
          <a:xfrm rot="0" flipH="0" flipV="0">
            <a:off x="7324725" y="3048000"/>
            <a:ext cx="4533900" cy="1819275"/>
          </a:xfrm>
          <a:prstGeom prst="roundRect">
            <a:avLst>
              <a:gd name="adj" fmla="val 418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5" name=""/>
          <p:cNvSpPr/>
          <p:nvPr/>
        </p:nvSpPr>
        <p:spPr>
          <a:xfrm rot="0" flipH="0" flipV="0">
            <a:off x="7324725" y="3048000"/>
            <a:ext cx="4533900" cy="1819275"/>
          </a:xfrm>
          <a:custGeom>
            <a:pathLst>
              <a:path w="476" h="191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88"/>
                </a:lnTo>
                <a:cubicBezTo>
                  <a:pt x="5" y="190"/>
                  <a:pt x="6" y="191"/>
                  <a:pt x="8" y="191"/>
                </a:cubicBezTo>
                <a:cubicBezTo>
                  <a:pt x="3" y="191"/>
                  <a:pt x="0" y="187"/>
                  <a:pt x="0" y="18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7458075" y="3181350"/>
            <a:ext cx="4219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ViT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要从零学这些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7458075" y="3486150"/>
            <a:ext cx="4219575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85.8 M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参数、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197×197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的注意力矩阵，自由度极高。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ViT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原文明确指出：在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ImageNet-1K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130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万张）上从零训练时，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ViT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略逊于同规模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ResNet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；只有在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JFT-300M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亿张）预训练后才反超。</a:t>
            </a:r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7324725" y="4981575"/>
            <a:ext cx="4533900" cy="1504950"/>
          </a:xfrm>
          <a:prstGeom prst="roundRect">
            <a:avLst>
              <a:gd name="adj" fmla="val 5063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659" name=""/>
          <p:cNvSpPr/>
          <p:nvPr/>
        </p:nvSpPr>
        <p:spPr>
          <a:xfrm rot="0" flipH="0" flipV="0">
            <a:off x="7324725" y="4981575"/>
            <a:ext cx="4533900" cy="1504950"/>
          </a:xfrm>
          <a:custGeom>
            <a:pathLst>
              <a:path w="476" h="158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55"/>
                </a:lnTo>
                <a:cubicBezTo>
                  <a:pt x="5" y="157"/>
                  <a:pt x="6" y="158"/>
                  <a:pt x="8" y="158"/>
                </a:cubicBezTo>
                <a:cubicBezTo>
                  <a:pt x="3" y="158"/>
                  <a:pt x="0" y="154"/>
                  <a:pt x="0" y="15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7458075" y="5114925"/>
            <a:ext cx="4219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本实验正好落在左侧区间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7458075" y="5419725"/>
            <a:ext cx="42195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544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张训练图比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ViT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的需求低了三到六个数量级。即便加载了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ImageNet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预训练权重，注意力头仍需要足够数据才能适配超声图像的域差异——结果是恶性召回仅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53%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32 / 38</a:t>
            </a:r>
            <a:endParaRPr/>
          </a:p>
        </p:txBody>
      </p:sp>
    </p:spTree>
  </p:cSld>
</p:sld>
</file>

<file path=ppt/slides/slide3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665" name="" descr="&lt;Slide style={{ padding: 0, background: '#FFFFFF', fontFamily: 'Microsoft YaHei' }}&gt;&#13;&#10;    &lt;Box style={{ width: '100%', height: 76, background: '#0E3F8C', flexDirection: 'row', alignItems: 'center', justifyContent: 'space-between', paddingLeft: 40, paddingRight: 40 }}&gt;&#13;&#10;        &lt;Box style={{ flexDirection: 'row', alignItems: 'center', gap: 16 }}&gt;&#13;&#10;            &lt;Box style={{ width: 6, height: 34, background: '#FFC107' }} /&gt;&#13;&#10;            &lt;Text style={{ fontSize: 32, fontWeight: 'bold', color: '#FFFFFF' }}&gt;结论与改进方向&lt;/Text&gt;&#13;&#10;        &lt;/Box&gt;&#13;&#10;        &lt;Text style={{ fontSize: 16, color: '#8FC0F0' }}&gt;06 实验结果与分析&lt;/Text&gt;&#13;&#10;    &lt;/Box&gt;&#13;&#10;&#13;&#10;    &lt;Box style={{ height: 604, flexDirection: 'row', gap: 24, paddingTop: 20, paddingLeft: 40, paddingRight: 40, paddingBottom: 20 }}&gt;&#13;&#10;        &lt;Box style={{ width: 372, gap: 10 }}&gt;&#13;&#10;            &lt;Box style={{ background: '#0E3F8C', borderRadius: 10, padding: 12, gap: 6 }}&gt;&#13;&#10;                &lt;Text style={{ fontSize: 24, fontWeight: 'bold', color: '#FFFFFF' }}&gt;三条可带走的结论&lt;/Text&gt;&#13;&#10;                &lt;Text style={{ fontSize: 17, color: '#CFE0F7', lineHeight: 1.6 }}&gt;&#13;&#10;                    从本次 6 个模型的对照实验中得到&#13;&#10;                &lt;/Text&gt;&#13;&#10;            &lt;/Box&gt;&#13;&#10;&#13;&#10;            &lt;Box style={{ flex: 1, background: '#F0F5FC', border: '1px solid #D6DCE5', borderRadius: 10, padding: 12, gap: 6 }}&gt;&#13;&#10;                &lt;Box style={{ flexDirection: 'row', gap: 10, alignItems: 'flex-start' }}&gt;&#13;&#10;                    &lt;Box style={{ width: 30, height: 30, background: '#1E4FA8', borderRadius: 15, justifyContent: 'center', alignItems: 'center' }}&gt;&#13;&#10;                        &lt;Text style={{ fontSize: 18, fontWeight: 'bold', color: '#FFFFFF' }}&gt;1&lt;/Text&gt;&#13;&#10;                    &lt;/Box&gt;&#13;&#10;                    &lt;Text style={{ flex: 1, fontSize: 18, fontWeight: 'bold', color: '#0E3F8C', lineHeight: 1.5 }}&gt;&#13;&#10;                        小样本医学影像，优先选带归纳偏置的 CNN&#13;&#10;                    &lt;/Text&gt;&#13;&#10;                &lt;/Box&gt;&#13;&#10;                &lt;Text style={{ fontSize: 15, color: '#4A5568', lineHeight: 1.5 }}&gt;&#13;&#10;                    ResNet-50 以 23.5 M 参数拿到 89.8%；参数量 3.6 倍于它的 ViT-B/16 只有 53.4%。&#13;&#10;                &lt;/Text&gt;&#13;&#10;            &lt;/Box&gt;&#13;&#10;&#13;&#10;            &lt;Box style={{ flex: 1, background: '#F0F5FC', border: '1px solid #D6DCE5', borderRadius: 10, padding: 12, gap: 6 }}&gt;&#13;&#10;                &lt;Box style={{ flexDirection: 'row', gap: 10, alignItems: 'flex-start' }}&gt;&#13;&#10;                    &lt;Box style={{ width: 30, height: 30, background: '#1E4FA8', borderRadius: 15, justifyContent: 'center', alignItems: 'center' }}&gt;&#13;&#10;                        &lt;Text style={{ fontSize: 18, fontWeight: 'bold', color: '#FFFFFF' }}&gt;2&lt;/Text&gt;&#13;&#10;                    &lt;/Box&gt;&#13;&#10;                    &lt;Text style={{ flex: 1, fontSize: 18, fontWeight: 'bold', color: '#0E3F8C', lineHeight: 1.5 }}&gt;&#13;&#10;                        深度不是越深越好，要与数据量匹配&#13;&#10;                    &lt;/Text&gt;&#13;&#10;                &lt;/Box&gt;&#13;&#10;                &lt;Text style={{ fontSize: 15, color: '#4A5568', lineHeight: 1.5 }}&gt;&#13;&#10;                    ResNet-101（42.5 M）反而不如 ResNet-50，更早的 ResNet-18 也接近 90%——容量过剩只会加速过拟合。&#13;&#10;                &lt;/Text&gt;&#13;&#10;            &lt;/Box&gt;&#13;&#10;&#13;&#10;            &lt;Box style={{ flex: 1, background: '#F0F5FC', border: '1px solid #D6DCE5', borderRadius: 10, padding: 12, gap: 6 }}&gt;&#13;&#10;                &lt;Box style={{ flexDirection: 'row', gap: 10, alignItems: 'flex-start' }}&gt;&#13;&#10;                    &lt;Box style={{ width: 30, height: 30, background: '#1E4FA8', borderRadius: 15, justifyContent: 'center', alignItems: 'center' }}&gt;&#13;&#10;                        &lt;Text style={{ fontSize: 18, fontWeight: 'bold', color: '#FFFFFF' }}&gt;3&lt;/Text&gt;&#13;&#10;                    &lt;/Box&gt;&#13;&#10;                    &lt;Text style={{ flex: 1, fontSize: 18, fontWeight: 'bold', color: '#0E3F8C', lineHeight: 1.5 }}&gt;&#13;&#10;                        指标的选择就是临床立场的选择&#13;&#10;                    &lt;/Text&gt;&#13;&#10;                &lt;/Box&gt;&#13;&#10;                &lt;Text style={{ fontSize: 15, color: '#4A5568', lineHeight: 1.5 }}&gt;&#13;&#10;                    以 macro-F1 选模 + 类别加权，换来了恶性召回 87.5%、特异度 96.5%，这正是筛查场景想要的形状。&#13;&#10;                &lt;/Text&gt;&#13;&#10;            &lt;/Box&gt;&#13;&#10;        &lt;/Box&gt;&#13;&#10;&#13;&#10;        &lt;Box style={{ flex: 1, gap: 12 }}&gt;&#13;&#10;            &lt;Box style={{ flexDirection: 'row', alignItems: 'center', gap: 12, background: '#E8EFF8', borderRadius: 8, paddingLeft: 16, paddingTop: 9, paddingBottom: 9 }}&gt;&#13;&#10;                &lt;FAIcon name='info-circle' style={{ fill: '#1E4FA8', width: 24, height: 24 }} /&gt;&#13;&#10;                &lt;Text style={{ fontSize: 20, fontWeight: 'bold', color: '#0E3F8C' }}&gt;下一步怎么做：四条改进路径&lt;/Text&gt;&#13;&#10;            &lt;/Box&gt;&#13;&#10;&#13;&#10;            &lt;Table&#13;&#10;                style={{ width: '100%', height: 292 }}&#13;&#10;                defaultTextStyle={{ fontSize: 16, textAlign: 'left', color: '#1A2230' }}&#13;&#10;                defaultCellStyle={{&#13;&#10;                    paddingLeft: 14,&#13;&#10;                    border: {&#13;&#10;                        left: { width: 1, color: '#D6DCE5' }, right: { width: 1, color: '#D6DCE5' },&#13;&#10;                        top: { width: 1, color: '#D6DCE5' }, bottom: { width: 1, color: '#D6DCE5' },&#13;&#10;                    },&#13;&#10;                }}&#13;&#10;                cells={[&#13;&#10;                    [&#13;&#10;                        { text: '路径', textStyle: { bold: true, color: '#FFFFFF', fontSize: 17 }, cellStyle: { background: { color: '#0E3F8C' } } },&#13;&#10;                        { text: '具体做法', textStyle: { bold: true, color: '#FFFFFF', fontSize: 17 }, cellStyle: { background: { color: '#0E3F8C' } } },&#13;&#10;                        { text: '预期收益', textStyle: { bold: true, color: '#FFFFFF', fontSize: 17 }, cellStyle: { background: { color: '#0E3F8C' } } },&#13;&#10;                    ],&#13;&#10;                    [&#13;&#10;                        { text: '数据侧', textStyle: { bold: true }, cellStyle: { background: { color: '#F0F5FC' } } },&#13;&#10;                        { text: '五折交叉验证；合并其他公开乳腺超声数据集；规范化的采集协议', cellStyle: { background: { color: '#F0F5FC' } } },&#13;&#10;                        { text: '降低 118 张测试集带来的方差，结论更稳', cellStyle: { background: { color: '#F0F5FC' } } },&#13;&#10;                    ],&#13;&#10;                    [&#13;&#10;                        '训练侧', '更强增强（RandAugment / MixUp）；冻结骨干做两阶段微调；更大 batch 与更长预热', '在不增加数据的前提下继续压低过拟合',&#13;&#10;                    ],&#13;&#10;                    [&#13;&#10;                        { text: '模型侧', textStyle: { bold: true }, cellStyle: { background: { color: '#F0F5FC' } } },&#13;&#10;                        { text: '混合架构（Swin / ConvNeXt / DeiT）；ResNet 与 ViT 集成投票', cellStyle: { background: { color: '#F0F5FC' } } },&#13;&#10;                        { text: '兼顾局部先验与全局建模，取两者之长', cellStyle: { background: { color: '#F0F5FC' } } },&#13;&#10;                    ],&#13;&#10;                    [&#13;&#10;                        '临床侧', '用 Grad-CAM 生成热力图；按临床需求调决策阈值，把恶性召回进一步推高', '让医生看得见依据，也让模型适配筛查流程',&#13;&#10;                    ],&#13;&#10;                ]}&#13;&#10;            /&gt;&#13;&#10;&#13;&#10;            &lt;Box style={{ flex: 1, background: '#FFF8E1', borderLeft: '5px solid #FFC107', borderRadius: 8, padding: 14, justifyContent: 'center' }}&gt;&#13;&#10;                &lt;Text style={{ fontSize: 18, color: '#1A2230', lineHeight: 1.55 }}&gt;&#13;&#10;                    &lt;span style={{ fontWeight: 'bold' }}&gt;最后一句提醒：&lt;/span&gt;本项目是教学与科研用途的对照实验，&lt;span style={{ fontWeight: 'bold', color: '#D9534F' }}&gt;不能作为真实临床诊断依据&lt;/span&gt;。任何走向临床的模型都需要多中心数据、前瞻性验证与医疗器械审批。&#13;&#10;                &lt;/Text&gt;&#13;&#10;            &lt;/Box&gt;&#13;&#10;        &lt;/Box&gt;&#13;&#10;    &lt;/Box&gt;&#13;&#10;&#13;&#10;    &lt;Box style={{ height: 40, flexDirection: 'row', alignItems: 'center', justifyContent: 'space-between', paddingLeft: 40, paddingRight: 40, borderTop: '1px solid #E5E7EB' }}&gt;&#13;&#10;        &lt;Text style={{ fontSize: 14, color: '#8B97A8' }}&gt;BUSI 乳腺超声图像分类 · 乳腺癌智能诊断&lt;/Text&gt;&#13;&#10;        &lt;Text style={{ fontSize: 14, color: '#1E4FA8' }}&gt;33 / 3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7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68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21336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结论与改进方向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10515600" y="26670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 xml:space="preserve">06 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实验结果与分析</a:t>
            </a:r>
            <a:endParaRPr/>
          </a:p>
        </p:txBody>
      </p:sp>
      <p:sp>
        <p:nvSpPr>
          <p:cNvPr id="671" name=""/>
          <p:cNvSpPr/>
          <p:nvPr/>
        </p:nvSpPr>
        <p:spPr>
          <a:xfrm rot="0" flipH="0" flipV="0">
            <a:off x="381000" y="914400"/>
            <a:ext cx="3543300" cy="876300"/>
          </a:xfrm>
          <a:prstGeom prst="roundRect">
            <a:avLst>
              <a:gd name="adj" fmla="val 1087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495300" y="1028700"/>
            <a:ext cx="3314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三条可带走的结论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495300" y="1362075"/>
            <a:ext cx="33147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CFE0F7"/>
                </a:solidFill>
                <a:latin typeface="Microsoft YaHei"/>
                <a:ea typeface="Microsoft YaHei"/>
              </a:rPr>
              <a:t>从本次</a:t>
            </a:r>
            <a:r>
              <a:rPr lang="en-US" sz="1275">
                <a:solidFill>
                  <a:srgbClr val="CFE0F7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275">
                <a:solidFill>
                  <a:srgbClr val="CFE0F7"/>
                </a:solidFill>
                <a:latin typeface="Microsoft YaHei"/>
                <a:ea typeface="Microsoft YaHei"/>
              </a:rPr>
              <a:t>个模型的对照实验中得到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381000" y="1885950"/>
            <a:ext cx="3543300" cy="1438275"/>
          </a:xfrm>
          <a:prstGeom prst="roundRect">
            <a:avLst>
              <a:gd name="adj" fmla="val 662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75" name=""/>
          <p:cNvSpPr/>
          <p:nvPr/>
        </p:nvSpPr>
        <p:spPr>
          <a:xfrm rot="0" flipH="0" flipV="0">
            <a:off x="495300" y="20002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581025" y="20383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876300" y="2000250"/>
            <a:ext cx="29337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小样本医学影像，优先选带归纳偏置的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CNN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495300" y="2676525"/>
            <a:ext cx="3314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ResNet-50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23.5 M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参数拿到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89.8%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；参数量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3.6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倍于它的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ViT-B/16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只有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53.4%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381000" y="3419475"/>
            <a:ext cx="3543300" cy="1381125"/>
          </a:xfrm>
          <a:prstGeom prst="roundRect">
            <a:avLst>
              <a:gd name="adj" fmla="val 6897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80" name=""/>
          <p:cNvSpPr/>
          <p:nvPr/>
        </p:nvSpPr>
        <p:spPr>
          <a:xfrm rot="0" flipH="0" flipV="0">
            <a:off x="495300" y="35337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581025" y="35718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876300" y="3533775"/>
            <a:ext cx="2933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深度不是越深越好，要与数据量匹配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495300" y="3905250"/>
            <a:ext cx="33147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ResNet-101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42.5 M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）反而不如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ResNet-50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，更早的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ResNet-18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也接近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90%——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容量过剩只会加速过拟合。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381000" y="4895850"/>
            <a:ext cx="3543300" cy="1390650"/>
          </a:xfrm>
          <a:prstGeom prst="roundRect">
            <a:avLst>
              <a:gd name="adj" fmla="val 684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85" name=""/>
          <p:cNvSpPr/>
          <p:nvPr/>
        </p:nvSpPr>
        <p:spPr>
          <a:xfrm rot="0" flipH="0" flipV="0">
            <a:off x="495300" y="50101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581025" y="50482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876300" y="5010150"/>
            <a:ext cx="2933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指标的选择就是临床立场的选择</a:t>
            </a:r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495300" y="5381625"/>
            <a:ext cx="33147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macro-F1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选模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类别加权，换来了恶性召回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87.5%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、特异度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96.5%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，这正是筛查场景想要的形状。</a:t>
            </a:r>
            <a:endParaRPr/>
          </a:p>
        </p:txBody>
      </p:sp>
      <p:sp>
        <p:nvSpPr>
          <p:cNvPr id="689" name=""/>
          <p:cNvSpPr/>
          <p:nvPr/>
        </p:nvSpPr>
        <p:spPr>
          <a:xfrm rot="0" flipH="0" flipV="0">
            <a:off x="4152900" y="914400"/>
            <a:ext cx="7658100" cy="400050"/>
          </a:xfrm>
          <a:prstGeom prst="roundRect">
            <a:avLst>
              <a:gd name="adj" fmla="val 19048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6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305300" y="1000125"/>
            <a:ext cx="228600" cy="228600"/>
          </a:xfrm>
          <a:prstGeom prst="rect">
            <a:avLst/>
          </a:prstGeom>
          <a:ln/>
        </p:spPr>
      </p:pic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4648200" y="1000125"/>
            <a:ext cx="247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下一步怎么做：四条改进路径</a:t>
            </a:r>
            <a:endParaRPr/>
          </a:p>
        </p:txBody>
      </p:sp>
      <p:graphicFrame>
        <p:nvGraphicFramePr>
          <p:cNvPr id="692" name=""/>
          <p:cNvGraphicFramePr/>
          <p:nvPr/>
        </p:nvGraphicFramePr>
        <p:xfrm rot="0" flipH="0" flipV="0">
          <a:off x="4152900" y="1428750"/>
          <a:ext cx="7658100" cy="2781300"/>
        </p:xfrm>
        <a:graphic>
          <a:graphicData uri="http://schemas.openxmlformats.org/drawingml/2006/table">
            <a:tbl>
              <a:tblGrid>
                <a:gridCol w="436394">
                  <a:extLst>
                    <a:ext uri="{9D8B030D-6E8A-4147-A177-3AD203B41FA5}">
                      <a16:colId val="1"/>
                    </a:ext>
                  </a:extLst>
                </a:gridCol>
                <a:gridCol w="4845786">
                  <a:extLst>
                    <a:ext uri="{9D8B030D-6E8A-4147-A177-3AD203B41FA5}">
                      <a16:colId val="2"/>
                    </a:ext>
                  </a:extLst>
                </a:gridCol>
                <a:gridCol w="2375920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3687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路径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具体做法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预期收益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0314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数据侧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五折交叉验证；合并其他公开乳腺超声数据集；规范化的采集协议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降低 118 张测试集带来的方差，结论更稳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0314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训练侧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更强增强（RandAugment / MixUp）；冻结骨干做两阶段微调；更大 batch 与更长预热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在不增加数据的前提下继续压低过拟合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0314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模型侧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混合架构（Swin / ConvNeXt / DeiT）；ResNet 与 ViT 集成投票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兼顾局部先验与全局建模，取两者之长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0314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临床侧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用 Grad-CAM 生成热力图；按临床需求调决策阈值，把恶性召回进一步推高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让医生看得见依据，也让模型适配筛查流程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693" name=""/>
          <p:cNvSpPr/>
          <p:nvPr/>
        </p:nvSpPr>
        <p:spPr>
          <a:xfrm rot="0" flipH="0" flipV="0">
            <a:off x="4200525" y="4324350"/>
            <a:ext cx="7658100" cy="1962150"/>
          </a:xfrm>
          <a:prstGeom prst="roundRect">
            <a:avLst>
              <a:gd name="adj" fmla="val 3883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694" name=""/>
          <p:cNvSpPr/>
          <p:nvPr/>
        </p:nvSpPr>
        <p:spPr>
          <a:xfrm rot="0" flipH="0" flipV="0">
            <a:off x="4200525" y="4324350"/>
            <a:ext cx="7658100" cy="1962150"/>
          </a:xfrm>
          <a:custGeom>
            <a:pathLst>
              <a:path w="804" h="206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203"/>
                </a:lnTo>
                <a:cubicBezTo>
                  <a:pt x="5" y="205"/>
                  <a:pt x="6" y="206"/>
                  <a:pt x="8" y="206"/>
                </a:cubicBezTo>
                <a:cubicBezTo>
                  <a:pt x="3" y="206"/>
                  <a:pt x="0" y="202"/>
                  <a:pt x="0" y="19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4333875" y="4991100"/>
            <a:ext cx="734377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最后一句提醒：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本项目是教学与科研用途的对照实验，</a:t>
            </a:r>
            <a:r>
              <a:rPr lang="zh-CN" sz="1350" b="1">
                <a:solidFill>
                  <a:srgbClr val="D9534F"/>
                </a:solidFill>
                <a:latin typeface="Microsoft YaHei"/>
                <a:ea typeface="Microsoft YaHei"/>
              </a:rPr>
              <a:t>不能作为真实临床诊断依据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。任何走向临床的模型都需要多中心数据、前瞻性验证与医疗器械审批。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33 / 38</a:t>
            </a:r>
            <a:endParaRPr/>
          </a:p>
        </p:txBody>
      </p:sp>
    </p:spTree>
  </p:cSld>
</p:sld>
</file>

<file path=ppt/slides/slide3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99" name="" descr="&lt;Slide style={{ padding: 0, background: '#0E3F8C', fontFamily: 'Microsoft YaHei' }}&gt;&#10;    &lt;svg width={1280} height={720} viewBox='0 0 1280 720' style={{ position: 'absolute', top: 0, left: 0, opacity: 0.18 }}&gt;&#10;        &lt;rect x='800' y='200' width='440' height='380' rx='10' fill='none' stroke='#8FC0F0' strokeWidth='3' /&gt;&#10;        &lt;path d='M800 250 H 1240' stroke='#8FC0F0' strokeWidth='2' /&gt;&#10;        &lt;path d='M830 300 H 940 M830 350 H 1030 M830 400 H 900 M830 450 H 1080 M830 500 H 980' stroke='#8FC0F0' strokeWidth='6' /&gt;&#10;        &lt;path d='M830 550 H 900' stroke='#FFC107' strokeWidth='6' /&gt;&#10;        &lt;rect x='920' y='542' width='16' height='22' fill='#FFC107' /&gt;&#10;    &lt;/svg&gt;&#10;    &lt;Box style={{ width: '100%', height: '100%', paddingTop: 84, paddingLeft: 72, paddingRight: 72, paddingBottom: 72, justifyContent: 'space-between' }}&gt;&#10;        &lt;Box style={{ flexDirection: 'row', alignItems: 'center', gap: 40 }}&gt;&#10;            &lt;Text style={{ fontSize: 200, fontWeight: 'bold', color: '#3D7BD9', lineHeight: 1 }}&gt;&#10;                07&#10;            &lt;/Text&gt;&#10;            &lt;Box style={{ width: 3, height: 150, background: 'rgba(255,255,255,0.35)' }} /&gt;&#10;            &lt;Box style={{ gap: 14 }}&gt;&#10;                &lt;Text style={{ fontSize: 50, fontWeight: 'bold', color: '#FFFFFF', letterSpacing: 3 }}&gt;&#10;                    课堂实战任务&#10;                &lt;/Text&gt;&#10;                &lt;Text style={{ fontFamily: 'Times New Roman', fontSize: 21, color: '#8FC0F0', letterSpacing: 1 }}&gt;&#10;                    Hands-on Lab Task&#10;                &lt;/Text&gt;&#10;                &lt;Text style={{ fontSize: 21, color: '#CFE0F7', lineHeight: 1.6 }}&gt;&#10;                    一条命令跑通训练，三个验收点检验理解、动手与分析。&#10;                &lt;/Text&gt;&#10;            &lt;/Box&gt;&#10;        &lt;/Box&gt;&#10;&#10;        &lt;Box style={{ flexDirection: 'row', gap: 24 }}&gt;&#10;            &lt;Box style={{ flex: 1, background: 'rgba(255,255,255,0.10)', border: '1px solid rgba(255,255,255,0.22)', borderRadius: 10, padding: 26, gap: 10 }}&gt;&#10;                &lt;Text style={{ fontSize: 22, fontWeight: 'bold', color: '#FFC107' }}&gt;任务书&lt;/Text&gt;&#10;                &lt;Text style={{ fontSize: 18, color: '#DCE8F7', lineHeight: 1.6 }}&gt;&#10;                    训练 ResNet18 并在测试集评估，复现约 87% 准确率与 0.867 macro-F1。&#10;                &lt;/Text&gt;&#10;            &lt;/Box&gt;&#10;            &lt;Box style={{ flex: 1, background: 'rgba(255,255,255,0.10)', border: '1px solid rgba(255,255,255,0.22)', borderRadius: 10, padding: 26, gap: 10 }}&gt;&#10;                &lt;Text style={{ fontSize: 22, fontWeight: 'bold', color: '#FFC107' }}&gt;验收点&lt;/Text&gt;&#10;                &lt;Text style={{ fontSize: 18, color: '#DCE8F7', lineHeight: 1.6 }}&gt;&#10;                    跑通结果、读懂混淆矩阵与各类别差异、说清一个超参的影响。&#10;                &lt;/Text&gt;&#10;            &lt;/Box&gt;&#10;            &lt;Box style={{ flex: 1, background: 'rgba(255,255,255,0.10)', border: '1px solid rgba(255,255,255,0.22)', borderRadius: 10, padding: 26, gap: 10 }}&gt;&#10;                &lt;Text style={{ fontSize: 22, fontWeight: 'bold', color: '#FFC107' }}&gt;拓展挑战&lt;/Text&gt;&#10;                &lt;Text style={{ fontSize: 18, color: '#DCE8F7', lineHeight: 1.6 }}&gt;&#10;                    调参、换架构、做可解释性可视化，三条路径对应三档能力。&#10;                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685800" y="8001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3D7BD9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702" name=""/>
          <p:cNvSpPr/>
          <p:nvPr/>
        </p:nvSpPr>
        <p:spPr>
          <a:xfrm rot="0" flipH="0" flipV="0">
            <a:off x="3419475" y="1228725"/>
            <a:ext cx="28575" cy="142875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3829050" y="1209675"/>
            <a:ext cx="5000625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750" b="1" spc="225">
                <a:solidFill>
                  <a:srgbClr val="FFFFFF"/>
                </a:solidFill>
                <a:latin typeface="Microsoft YaHei"/>
                <a:ea typeface="Microsoft YaHei"/>
              </a:rPr>
              <a:t>课堂实战任务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3829050" y="1914525"/>
            <a:ext cx="50006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spc="75">
                <a:solidFill>
                  <a:srgbClr val="8FC0F0"/>
                </a:solidFill>
                <a:latin typeface="Times New Roman"/>
                <a:ea typeface="Times New Roman"/>
              </a:rPr>
              <a:t>Hands-on Lab Task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3829050" y="2295525"/>
            <a:ext cx="5000625" cy="390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CFE0F7"/>
                </a:solidFill>
                <a:latin typeface="Microsoft YaHei"/>
                <a:ea typeface="Microsoft YaHei"/>
              </a:rPr>
              <a:t>一条命令跑通训练，三个验收点检验理解、动手与分析。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685800" y="4657725"/>
            <a:ext cx="3457575" cy="1514475"/>
          </a:xfrm>
          <a:prstGeom prst="roundRect">
            <a:avLst>
              <a:gd name="adj" fmla="val 62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933450" y="4905375"/>
            <a:ext cx="2962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任务书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933450" y="5257800"/>
            <a:ext cx="29622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训练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 ResNet18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并在测试集评估，复现约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 87% 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准确率与</a:t>
            </a:r>
            <a:r>
              <a:rPr lang="en-US" sz="1350">
                <a:solidFill>
                  <a:srgbClr val="DCE8F7"/>
                </a:solidFill>
                <a:latin typeface="Microsoft YaHei"/>
                <a:ea typeface="Microsoft YaHei"/>
              </a:rPr>
              <a:t xml:space="preserve"> 0.867 macro-F1</a:t>
            </a: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4371975" y="4657725"/>
            <a:ext cx="3448050" cy="1514475"/>
          </a:xfrm>
          <a:prstGeom prst="roundRect">
            <a:avLst>
              <a:gd name="adj" fmla="val 62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4619625" y="4905375"/>
            <a:ext cx="2952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验收点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4619625" y="5257800"/>
            <a:ext cx="29527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跑通结果、读懂混淆矩阵与各类别差异、说清一个超参的影响。</a:t>
            </a:r>
            <a:endParaRPr/>
          </a:p>
        </p:txBody>
      </p:sp>
      <p:sp>
        <p:nvSpPr>
          <p:cNvPr id="712" name=""/>
          <p:cNvSpPr/>
          <p:nvPr/>
        </p:nvSpPr>
        <p:spPr>
          <a:xfrm rot="0" flipH="0" flipV="0">
            <a:off x="8048625" y="4657725"/>
            <a:ext cx="3457575" cy="1514475"/>
          </a:xfrm>
          <a:prstGeom prst="roundRect">
            <a:avLst>
              <a:gd name="adj" fmla="val 62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8296275" y="4905375"/>
            <a:ext cx="2962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拓展挑战</a:t>
            </a:r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8296275" y="5257800"/>
            <a:ext cx="29622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CE8F7"/>
                </a:solidFill>
                <a:latin typeface="Microsoft YaHei"/>
                <a:ea typeface="Microsoft YaHei"/>
              </a:rPr>
              <a:t>调参、换架构、做可解释性可视化，三条路径对应三档能力。</a:t>
            </a:r>
            <a:endParaRPr/>
          </a:p>
        </p:txBody>
      </p:sp>
      <p:pic>
        <p:nvPicPr>
          <p:cNvPr id="715" name="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3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16" name="" descr="&lt;Slide style={{ padding: 0, background: '#FFFFFF', fontFamily: 'Microsoft YaHei' }}&gt;&#13;&#10;    &lt;Box style={{ width: '100%', height: 76, background: '#0E3F8C', flexDirection: 'row', alignItems: 'center', justifyContent: 'space-between', paddingLeft: 40, paddingRight: 40 }}&gt;&#13;&#10;        &lt;Box style={{ flexDirection: 'row', alignItems: 'center', gap: 16 }}&gt;&#13;&#10;            &lt;Box style={{ width: 6, height: 34, background: '#FFC107' }} /&gt;&#13;&#10;            &lt;Text style={{ fontSize: 32, fontWeight: 'bold', color: '#FFFFFF' }}&gt;任务书：训练一个 ResNet-18 并读懂它的成绩单&lt;/Text&gt;&#13;&#10;        &lt;/Box&gt;&#13;&#10;        &lt;Text style={{ fontSize: 16, color: '#8FC0F0' }}&gt;07 课堂实战任务&lt;/Text&gt;&#13;&#10;    &lt;/Box&gt;&#13;&#10;&#13;&#10;    &lt;Box style={{ height: 604, flexDirection: 'row', gap: 24, paddingTop: 20, paddingLeft: 40, paddingRight: 40, paddingBottom: 20 }}&gt;&#13;&#10;        &lt;Box style={{ width: 660, gap: 12 }}&gt;&#13;&#10;            &lt;Box style={{ flexDirection: 'row', alignItems: 'center', gap: 12, background: '#E8EFF8', borderRadius: 8, paddingLeft: 16, paddingTop: 9, paddingBottom: 9 }}&gt;&#13;&#10;                &lt;FAIcon name='info-circle' style={{ fill: '#1E4FA8', width: 24, height: 24 }} /&gt;&#13;&#10;                &lt;Text style={{ fontSize: 20, fontWeight: 'bold', color: '#0E3F8C' }}&gt;四条命令，跑通一次完整的训练与评估&lt;/Text&gt;&#13;&#10;            &lt;/Box&gt;&#13;&#10;&#13;&#10;            &lt;CodeBlock&#13;&#10;                code={`# ① 安装依赖（建议 Python 3.10 ~ 3.12）&#13;&#10;pip install -r requirements.txt&#13;&#10;&#13;&#10;# ② 数据集放到 data/ 后开始训练&#13;&#10;python train.py --model resnet --depth 18 --epochs 50&#13;&#10;#   最优权重存到 outputs/checkpoints/resnet18_best.pt&#13;&#10;&#13;&#10;# ③ 用最佳权重在测试集上评估&#13;&#10;python evaluate.py --model resnet --depth 18&#13;&#10;&#13;&#10;# ④ 选做：训练 ViT-B/16 做对照&#13;&#10;python train.py --model vit --vit-variant b16 --epochs 50`}&#13;&#10;                language='bash'&#13;&#10;                width={640}&#13;&#10;                fontSize={12}&#13;&#10;                theme='github-light'&#13;&#10;            /&gt;&#13;&#10;&#13;&#10;            &lt;Box style={{ flex: 1, background: '#FFF8E1', border: '1px solid #FFC107', borderLeft: '5px solid #FFC107', borderRadius: 8, padding: 14, gap: 6 }}&gt;&#13;&#10;                &lt;Text style={{ fontSize: 20, fontWeight: 'bold', color: '#0E3F8C' }}&gt;参考基线（便于自检）&lt;/Text&gt;&#13;&#10;                &lt;Text style={{ fontSize: 16, color: '#4A5568', lineHeight: 1.55 }}&gt;&#13;&#10;                    ResNet-18 在本项目配置下：测试集准确率约 &lt;span style={{ fontWeight: 'bold', color: '#1E4FA8' }}&gt;87.3%&lt;/span&gt;、macro-F1 约 &lt;span style={{ fontWeight: 'bold', color: '#1E4FA8' }}&gt;0.867&lt;/span&gt;，最佳轮次出现在第 29 轮前后，第 44 轮触发早停。若偏差超过 5 个百分点，先检查随机种子与数据划分是否一致。&#13;&#10;                &lt;/Text&gt;&#13;&#10;            &lt;/Box&gt;&#13;&#10;        &lt;/Box&gt;&#13;&#10;&#13;&#10;        &lt;Box style={{ flex: 1, gap: 8 }}&gt;&#13;&#10;            &lt;Box style={{ background: '#0E3F8C', borderRadius: 10, padding: 14, gap: 4 }}&gt;&#13;&#10;                &lt;Text style={{ fontSize: 22, fontWeight: 'bold', color: '#FFFFFF' }}&gt;五个步骤&lt;/Text&gt;&#13;&#10;                &lt;Text style={{ fontSize: 16, color: '#CFE0F7' }}&gt;按顺序完成，每步都要留下记录&lt;/Text&gt;&#13;&#10;            &lt;/Box&gt;&#13;&#10;&#13;&#10;            &lt;Box style={{ flexDirection: 'row', gap: 10, alignItems: 'flex-start', background: '#FFFFFF', border: '1px solid #D6DCE5', borderRadius: 8, padding: 8 }}&gt;&#13;&#10;                &lt;Box style={{ width: 26, height: 26, background: '#1E4FA8', borderRadius: 13, justifyContent: 'center', alignItems: 'center' }}&gt;&#13;&#10;                    &lt;Text style={{ fontSize: 15, fontWeight: 'bold', color: '#FFFFFF' }}&gt;1&lt;/Text&gt;&#13;&#10;                &lt;/Box&gt;&#13;&#10;                &lt;Box style={{ flex: 1, gap: 2 }}&gt;&#13;&#10;                    &lt;Text style={{ fontSize: 17, fontWeight: 'bold', color: '#0E3F8C' }}&gt;准备数据&lt;/Text&gt;&#13;&#10;                    &lt;Text style={{ fontSize: 15, color: '#4A5568', lineHeight: 1.45 }}&gt;数据集放到 data/ 下，确认三个类别文件夹齐全，掩膜文件自动忽略。&lt;/Text&gt;&#13;&#10;                &lt;/Box&gt;&#13;&#10;            &lt;/Box&gt;&#13;&#10;&#13;&#10;            &lt;Box style={{ flexDirection: 'row', gap: 10, alignItems: 'flex-start', background: '#FFFFFF', border: '1px solid #D6DCE5', borderRadius: 8, padding: 8 }}&gt;&#13;&#10;                &lt;Box style={{ width: 26, height: 26, background: '#1E4FA8', borderRadius: 13, justifyContent: 'center', alignItems: 'center' }}&gt;&#13;&#10;                    &lt;Text style={{ fontSize: 15, fontWeight: 'bold', color: '#FFFFFF' }}&gt;2&lt;/Text&gt;&#13;&#10;                &lt;/Box&gt;&#13;&#10;                &lt;Box style={{ flex: 1, gap: 2 }}&gt;&#13;&#10;                    &lt;Text style={{ fontSize: 17, fontWeight: 'bold', color: '#0E3F8C' }}&gt;启动训练&lt;/Text&gt;&#13;&#10;                    &lt;Text style={{ fontSize: 15, color: '#4A5568', lineHeight: 1.45 }}&gt;记录首轮与末轮的 train/val loss，看差距是收窄还是扩大。&lt;/Text&gt;&#13;&#10;                &lt;/Box&gt;&#13;&#10;            &lt;/Box&gt;&#13;&#10;&#13;&#10;            &lt;Box style={{ flexDirection: 'row', gap: 10, alignItems: 'flex-start', background: '#FFFFFF', border: '1px solid #D6DCE5', borderRadius: 8, padding: 8 }}&gt;&#13;&#10;                &lt;Box style={{ width: 26, height: 26, background: '#1E4FA8', borderRadius: 13, justifyContent: 'center', alignItems: 'center' }}&gt;&#13;&#10;                    &lt;Text style={{ fontSize: 15, fontWeight: 'bold', color: '#FFFFFF' }}&gt;3&lt;/Text&gt;&#13;&#10;                &lt;/Box&gt;&#13;&#10;                &lt;Box style={{ flex: 1, gap: 2 }}&gt;&#13;&#10;                    &lt;Text style={{ fontSize: 17, fontWeight: 'bold', color: '#0E3F8C' }}&gt;记录最佳模型&lt;/Text&gt;&#13;&#10;                    &lt;Text style={{ fontSize: 15, color: '#4A5568', lineHeight: 1.45 }}&gt;写下最佳轮次与验证集 macro-F1，说明早停在第几轮触发。&lt;/Text&gt;&#13;&#10;                &lt;/Box&gt;&#13;&#10;            &lt;/Box&gt;&#13;&#10;&#13;&#10;            &lt;Box style={{ flexDirection: 'row', gap: 10, alignItems: 'flex-start', background: '#FFFFFF', border: '1px solid #D6DCE5', borderRadius: 8, padding: 8 }}&gt;&#13;&#10;                &lt;Box style={{ width: 26, height: 26, background: '#1E4FA8', borderRadius: 13, justifyContent: 'center', alignItems: 'center' }}&gt;&#13;&#10;                    &lt;Text style={{ fontSize: 15, fontWeight: 'bold', color: '#FFFFFF' }}&gt;4&lt;/Text&gt;&#13;&#10;                &lt;/Box&gt;&#13;&#10;                &lt;Box style={{ flex: 1, gap: 2 }}&gt;&#13;&#10;                    &lt;Text style={{ fontSize: 17, fontWeight: 'bold', color: '#0E3F8C' }}&gt;读混淆矩阵&lt;/Text&gt;&#13;&#10;                    &lt;Text style={{ fontSize: 15, color: '#4A5568', lineHeight: 1.45 }}&gt;指出恶性类被误判成哪一类、各有多少例，并估算召回率。&lt;/Text&gt;&#13;&#10;                &lt;/Box&gt;&#13;&#10;            &lt;/Box&gt;&#13;&#10;&#13;&#10;            &lt;Box style={{ flexDirection: 'row', gap: 10, alignItems: 'flex-start', background: '#FFF8E1', border: '1px solid #FFC107', borderRadius: 8, padding: 8 }}&gt;&#13;&#10;                &lt;Box style={{ width: 26, height: 26, background: '#FFC107', borderRadius: 13, justifyContent: 'center', alignItems: 'center' }}&gt;&#13;&#10;                    &lt;Text style={{ fontSize: 15, fontWeight: 'bold', color: '#0E3F8C' }}&gt;5&lt;/Text&gt;&#13;&#10;                &lt;/Box&gt;&#13;&#10;                &lt;Box style={{ flex: 1, gap: 2 }}&gt;&#13;&#10;                    &lt;Text style={{ fontSize: 17, fontWeight: 'bold', color: '#0E3F8C' }}&gt;回答一个&quot;为什么&quot;&lt;/Text&gt;&#13;&#10;                    &lt;Text style={{ fontSize: 15, color: '#4A5568', lineHeight: 1.45 }}&gt;改一个超参（如 --no-use-class-weights）重跑，解释它对恶性召回率的影响。&lt;/Text&gt;&#13;&#10;                &lt;/Box&gt;&#13;&#10;            &lt;/Box&gt;&#13;&#10;        &lt;/Box&gt;&#13;&#10;    &lt;/Box&gt;&#13;&#10;&#13;&#10;    &lt;Box style={{ height: 40, flexDirection: 'row', alignItems: 'center', justifyContent: 'space-between', paddingLeft: 40, paddingRight: 40, borderTop: '1px solid #E5E7EB' }}&gt;&#13;&#10;        &lt;Text style={{ fontSize: 14, color: '#8B97A8' }}&gt;BUSI 乳腺超声图像分类 · 乳腺癌智能诊断&lt;/Text&gt;&#13;&#10;        &lt;Text style={{ fontSize: 14, color: '#1E4FA8' }}&gt;35 / 3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8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19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66484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任务书：训练一个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ResNet-18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并读懂它的成绩单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10668000" y="266700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 xml:space="preserve">07 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课堂实战任务</a:t>
            </a:r>
            <a:endParaRPr/>
          </a:p>
        </p:txBody>
      </p:sp>
      <p:sp>
        <p:nvSpPr>
          <p:cNvPr id="722" name=""/>
          <p:cNvSpPr/>
          <p:nvPr/>
        </p:nvSpPr>
        <p:spPr>
          <a:xfrm rot="0" flipH="0" flipV="0">
            <a:off x="381000" y="914400"/>
            <a:ext cx="6286500" cy="400050"/>
          </a:xfrm>
          <a:prstGeom prst="roundRect">
            <a:avLst>
              <a:gd name="adj" fmla="val 19048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7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33400" y="1000125"/>
            <a:ext cx="228600" cy="228600"/>
          </a:xfrm>
          <a:prstGeom prst="rect">
            <a:avLst/>
          </a:prstGeom>
          <a:ln/>
        </p:spPr>
      </p:pic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876300" y="1000125"/>
            <a:ext cx="3238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四条命令，跑通一次完整的训练与评估</a:t>
            </a:r>
            <a:endParaRPr/>
          </a:p>
        </p:txBody>
      </p:sp>
      <p:sp>
        <p:nvSpPr>
          <p:cNvPr id="725" name=""/>
          <p:cNvSpPr/>
          <p:nvPr/>
        </p:nvSpPr>
        <p:spPr>
          <a:xfrm rot="0" flipH="0" flipV="0">
            <a:off x="428625" y="4114800"/>
            <a:ext cx="6286500" cy="2171700"/>
          </a:xfrm>
          <a:prstGeom prst="roundRect">
            <a:avLst>
              <a:gd name="adj" fmla="val 3509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726" name=""/>
          <p:cNvSpPr/>
          <p:nvPr/>
        </p:nvSpPr>
        <p:spPr>
          <a:xfrm rot="0" flipH="0" flipV="0">
            <a:off x="428625" y="4114800"/>
            <a:ext cx="6286500" cy="2171700"/>
          </a:xfrm>
          <a:custGeom>
            <a:pathLst>
              <a:path w="660" h="228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225"/>
                </a:lnTo>
                <a:cubicBezTo>
                  <a:pt x="5" y="227"/>
                  <a:pt x="6" y="228"/>
                  <a:pt x="8" y="228"/>
                </a:cubicBezTo>
                <a:cubicBezTo>
                  <a:pt x="3" y="228"/>
                  <a:pt x="0" y="224"/>
                  <a:pt x="0" y="22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561975" y="4248150"/>
            <a:ext cx="5972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参考基线（便于自检）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561975" y="4533900"/>
            <a:ext cx="597217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ResNet-18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在本项目配置下：测试集准确率约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87.3%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macro-F1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约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0.867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，最佳轮次出现在第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29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轮前后，第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44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轮触发早停。若偏差超过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个百分点，先检查随机种子与数据划分是否一致。</a:t>
            </a:r>
            <a:endParaRPr/>
          </a:p>
        </p:txBody>
      </p:sp>
      <p:sp>
        <p:nvSpPr>
          <p:cNvPr id="729" name=""/>
          <p:cNvSpPr/>
          <p:nvPr/>
        </p:nvSpPr>
        <p:spPr>
          <a:xfrm rot="0" flipH="0" flipV="0">
            <a:off x="6896100" y="914400"/>
            <a:ext cx="4914900" cy="752475"/>
          </a:xfrm>
          <a:prstGeom prst="roundRect">
            <a:avLst>
              <a:gd name="adj" fmla="val 12658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7029450" y="1047750"/>
            <a:ext cx="464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五个步骤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7029450" y="1343025"/>
            <a:ext cx="464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FE0F7"/>
                </a:solidFill>
                <a:latin typeface="Microsoft YaHei"/>
                <a:ea typeface="Microsoft YaHei"/>
              </a:rPr>
              <a:t>按顺序完成，每步都要留下记录</a:t>
            </a:r>
            <a:endParaRPr/>
          </a:p>
        </p:txBody>
      </p:sp>
      <p:sp>
        <p:nvSpPr>
          <p:cNvPr id="732" name=""/>
          <p:cNvSpPr/>
          <p:nvPr/>
        </p:nvSpPr>
        <p:spPr>
          <a:xfrm rot="0" flipH="0" flipV="0">
            <a:off x="6896100" y="1743075"/>
            <a:ext cx="49149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33" name=""/>
          <p:cNvSpPr/>
          <p:nvPr/>
        </p:nvSpPr>
        <p:spPr>
          <a:xfrm rot="0" flipH="0" flipV="0">
            <a:off x="6972300" y="18192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7048500" y="18573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7315200" y="1819275"/>
            <a:ext cx="4419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准备数据</a:t>
            </a:r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7315200" y="2038350"/>
            <a:ext cx="44196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数据集放到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data/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下，确认三个类别文件夹齐全，掩膜文件自动忽略。</a:t>
            </a:r>
            <a:endParaRPr/>
          </a:p>
        </p:txBody>
      </p:sp>
      <p:sp>
        <p:nvSpPr>
          <p:cNvPr id="737" name=""/>
          <p:cNvSpPr/>
          <p:nvPr/>
        </p:nvSpPr>
        <p:spPr>
          <a:xfrm rot="0" flipH="0" flipV="0">
            <a:off x="6896100" y="2695575"/>
            <a:ext cx="49149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38" name=""/>
          <p:cNvSpPr/>
          <p:nvPr/>
        </p:nvSpPr>
        <p:spPr>
          <a:xfrm rot="0" flipH="0" flipV="0">
            <a:off x="6972300" y="27717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7048500" y="28098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7315200" y="2771775"/>
            <a:ext cx="4419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启动训练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7315200" y="2990850"/>
            <a:ext cx="44196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记录首轮与末轮的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train/val loss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，看差距是收窄还是扩大。</a:t>
            </a:r>
            <a:endParaRPr/>
          </a:p>
        </p:txBody>
      </p:sp>
      <p:sp>
        <p:nvSpPr>
          <p:cNvPr id="742" name=""/>
          <p:cNvSpPr/>
          <p:nvPr/>
        </p:nvSpPr>
        <p:spPr>
          <a:xfrm rot="0" flipH="0" flipV="0">
            <a:off x="6896100" y="3400425"/>
            <a:ext cx="49149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43" name=""/>
          <p:cNvSpPr/>
          <p:nvPr/>
        </p:nvSpPr>
        <p:spPr>
          <a:xfrm rot="0" flipH="0" flipV="0">
            <a:off x="6972300" y="34766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7048500" y="35147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7315200" y="3476625"/>
            <a:ext cx="4419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记录最佳模型</a:t>
            </a:r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7315200" y="3695700"/>
            <a:ext cx="44196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写下最佳轮次与验证集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macro-F1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，说明早停在第几轮触发。</a:t>
            </a:r>
            <a:endParaRPr/>
          </a:p>
        </p:txBody>
      </p:sp>
      <p:sp>
        <p:nvSpPr>
          <p:cNvPr id="747" name=""/>
          <p:cNvSpPr/>
          <p:nvPr/>
        </p:nvSpPr>
        <p:spPr>
          <a:xfrm rot="0" flipH="0" flipV="0">
            <a:off x="6896100" y="4105275"/>
            <a:ext cx="49149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48" name=""/>
          <p:cNvSpPr/>
          <p:nvPr/>
        </p:nvSpPr>
        <p:spPr>
          <a:xfrm rot="0" flipH="0" flipV="0">
            <a:off x="6972300" y="41814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7048500" y="42195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7315200" y="4181475"/>
            <a:ext cx="4419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读混淆矩阵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7315200" y="4400550"/>
            <a:ext cx="44196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指出恶性类被误判成哪一类、各有多少例，并估算召回率。</a:t>
            </a:r>
            <a:endParaRPr/>
          </a:p>
        </p:txBody>
      </p:sp>
      <p:sp>
        <p:nvSpPr>
          <p:cNvPr id="752" name=""/>
          <p:cNvSpPr/>
          <p:nvPr/>
        </p:nvSpPr>
        <p:spPr>
          <a:xfrm rot="0" flipH="0" flipV="0">
            <a:off x="6896100" y="4810125"/>
            <a:ext cx="4914900" cy="876300"/>
          </a:xfrm>
          <a:prstGeom prst="roundRect">
            <a:avLst>
              <a:gd name="adj" fmla="val 8696"/>
            </a:avLst>
          </a:prstGeom>
          <a:solidFill>
            <a:srgbClr val="FFF8E1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753" name=""/>
          <p:cNvSpPr/>
          <p:nvPr/>
        </p:nvSpPr>
        <p:spPr>
          <a:xfrm rot="0" flipH="0" flipV="0">
            <a:off x="6972300" y="48863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7048500" y="49244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7315200" y="4886325"/>
            <a:ext cx="4419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回答一个</a:t>
            </a: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为什么</a:t>
            </a: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7315200" y="5105400"/>
            <a:ext cx="44196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改一个超参（如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--no-use-class-weights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）重跑，解释它对恶性召回率的影响。</a:t>
            </a:r>
            <a:endParaRPr/>
          </a:p>
        </p:txBody>
      </p:sp>
      <p:sp>
        <p:nvSpPr>
          <p:cNvPr id="757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35 / 38</a:t>
            </a:r>
            <a:endParaRPr/>
          </a:p>
        </p:txBody>
      </p:sp>
      <p:sp>
        <p:nvSpPr>
          <p:cNvPr id="760" name=""/>
          <p:cNvSpPr/>
          <p:nvPr/>
        </p:nvSpPr>
        <p:spPr>
          <a:xfrm rot="0" flipH="0" flipV="0">
            <a:off x="381000" y="1428750"/>
            <a:ext cx="6286500" cy="2571750"/>
          </a:xfrm>
          <a:prstGeom prst="roundRect">
            <a:avLst>
              <a:gd name="adj" fmla="val 2963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761" name=""/>
          <p:cNvSpPr txBox="1"/>
          <p:nvPr/>
        </p:nvSpPr>
        <p:spPr>
          <a:xfrm rot="0" flipH="0" flipV="0">
            <a:off x="533400" y="1562100"/>
            <a:ext cx="5981700" cy="2305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# ① 安装依赖（建议 Python 3.10 ~ 3.12）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F42C1"/>
                </a:solidFill>
                <a:latin typeface="Menlo"/>
                <a:ea typeface="Menlo"/>
              </a:rPr>
              <a:t>pip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install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-r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requirements.txt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# ② 数据集放到 data/ 后开始训练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F42C1"/>
                </a:solidFill>
                <a:latin typeface="Menlo"/>
                <a:ea typeface="Menlo"/>
              </a:rPr>
              <a:t>python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train.py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--model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resnet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--depth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18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--epochs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50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#   最优权重存到 outputs/checkpoints/resnet18_best.pt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# ③ 用最佳权重在测试集上评估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F42C1"/>
                </a:solidFill>
                <a:latin typeface="Menlo"/>
                <a:ea typeface="Menlo"/>
              </a:rPr>
              <a:t>python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evaluate.py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--model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resnet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--depth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18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# ④ 选做：训练 ViT-B/16 做对照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F42C1"/>
                </a:solidFill>
                <a:latin typeface="Menlo"/>
                <a:ea typeface="Menlo"/>
              </a:rPr>
              <a:t>python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train.py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--model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vit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--vit-variant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b16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--epochs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50</a:t>
            </a:r>
            <a:endParaRPr/>
          </a:p>
        </p:txBody>
      </p:sp>
    </p:spTree>
  </p:cSld>
</p:sld>
</file>

<file path=ppt/slides/slide36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762" name="" descr="&lt;Slide style={{ padding: 0, background: '#FFFFFF', fontFamily: 'Microsoft YaHei' }}&gt;&#10;    &lt;Box style={{ width: '100%', height: 76, background: '#0E3F8C', flexDirection: 'row', alignItems: 'center', justifyContent: 'space-between', paddingLeft: 40, paddingRight: 40 }}&gt;&#10;        &lt;Box style={{ flexDirection: 'row', alignItems: 'center', gap: 16 }}&gt;&#10;            &lt;Box style={{ width: 6, height: 34, background: '#FFC107' }} /&gt;&#10;            &lt;Text style={{ fontSize: 32, fontWeight: 'bold', color: '#FFFFFF' }}&gt;判分标准与提交物&lt;/Text&gt;&#10;        &lt;/Box&gt;&#10;        &lt;Text style={{ fontSize: 16, color: '#8FC0F0' }}&gt;07 课堂实战任务&lt;/Text&gt;&#10;    &lt;/Box&gt;&#10;&#10;    &lt;Box style={{ flex: 1, flexDirection: 'row', gap: 24, paddingTop: 20, paddingLeft: 40, paddingRight: 40, paddingBottom: 18 }}&gt;&#10;        &lt;Box style={{ width: 372, gap: 14 }}&gt;&#10;            &lt;Box style={{ height: 150, background: '#0E3F8C', borderRadius: 10, flexDirection: 'row', alignItems: 'center', paddingLeft: 24, paddingRight: 20, gap: 16 }}&gt;&#10;                &lt;Text style={{ fontSize: 96, fontWeight: 'bold', color: '#FFC107', lineHeight: 1 }}&gt;100&lt;/Text&gt;&#10;                &lt;Box style={{ gap: 6 }}&gt;&#10;                    &lt;Text style={{ fontSize: 21, fontWeight: 'bold', color: '#FFFFFF' }}&gt;总分&lt;/Text&gt;&#10;                    &lt;Text style={{ fontSize: 16, color: '#CFE0F7', lineHeight: 1.5 }}&gt;&#10;                        结果 40 · 分析 30&lt;br /&gt;代码 20 · 表达 10&#10;                    &lt;/Text&gt;&#10;                &lt;/Box&gt;&#10;            &lt;/Box&gt;&#10;&#10;            &lt;Box style={{ flex: 1, background: '#F0F5FC', border: '1px solid #D6DCE5', borderTop: '4px solid #1E4FA8', borderRadius: 8, padding: 16, gap: 10 }}&gt;&#10;                &lt;Text style={{ fontSize: 21, fontWeight: 'bold', color: '#0E3F8C' }}&gt;三项提交物&lt;/Text&gt;&#10;                &lt;Box style={{ flexDirection: 'row', gap: 10, alignItems: 'flex-start' }}&gt;&#10;                    &lt;Text style={{ fontSize: 17, fontWeight: 'bold', color: '#FFC107' }}&gt;01&lt;/Text&gt;&#10;                    &lt;Box style={{ flex: 1 }}&gt;&#10;                        &lt;Text style={{ fontSize: 17, fontWeight: 'bold', color: '#1A2230' }}&gt;最佳权重文件&lt;/Text&gt;&#10;                        &lt;Text style={{ fontSize: 15, color: '#4A5568', lineHeight: 1.45 }}&gt;outputs/checkpoints/resnet18_best.pt&lt;/Text&gt;&#10;                    &lt;/Box&gt;&#10;                &lt;/Box&gt;&#10;                &lt;Box style={{ flexDirection: 'row', gap: 10, alignItems: 'flex-start' }}&gt;&#10;                    &lt;Text style={{ fontSize: 17, fontWeight: 'bold', color: '#FFC107' }}&gt;02&lt;/Text&gt;&#10;                    &lt;Box style={{ flex: 1 }}&gt;&#10;                        &lt;Text style={{ fontSize: 17, fontWeight: 'bold', color: '#1A2230' }}&gt;测试集评估报告&lt;/Text&gt;&#10;                        &lt;Text style={{ fontSize: 15, color: '#4A5568', lineHeight: 1.45 }}&gt;混淆矩阵 + 分类报告（JSON 或截图）&lt;/Text&gt;&#10;                    &lt;/Box&gt;&#10;                &lt;/Box&gt;&#10;                &lt;Box style={{ flexDirection: 'row', gap: 10, alignItems: 'flex-start' }}&gt;&#10;                    &lt;Text style={{ fontSize: 17, fontWeight: 'bold', color: '#FFC107' }}&gt;03&lt;/Text&gt;&#10;                    &lt;Box style={{ flex: 1 }}&gt;&#10;                        &lt;Text style={{ fontSize: 17, fontWeight: 'bold', color: '#1A2230' }}&gt;一页分析说明&lt;/Text&gt;&#10;                        &lt;Text style={{ fontSize: 15, color: '#4A5568', lineHeight: 1.45 }}&gt;说清做了什么、看到什么、为什么&lt;/Text&gt;&#10;                    &lt;/Box&gt;&#10;                &lt;/Box&gt;&#10;            &lt;/Box&gt;&#10;&#10;            &lt;Box style={{ background: '#FFF8E1', borderLeft: '5px solid #FFC107', borderRadius: 6, padding: 12 }}&gt;&#10;                &lt;Text style={{ fontSize: 16, color: '#1A2230', lineHeight: 1.5 }}&gt;&#10;                    三组提交物缺一项，该维度按零分计；&lt;span style={{ fontWeight: 'bold' }}&gt;随机种子必须固定为 42&lt;/span&gt;，否则结果无法与他人对照。&#10;                &lt;/Text&gt;&#10;            &lt;/Box&gt;&#10;        &lt;/Box&gt;&#10;&#10;        &lt;Box style={{ flex: 1, gap: 12 }}&gt;&#10;            &lt;Table&#10;                style={{ width: '100%', height: 400 }}&#10;                defaultTextStyle={{ fontSize: 16, textAlign: 'center', color: '#1A2230' }}&#10;                defaultCellStyle={{&#10;                    border: {&#10;                        left: { width: 1, color: '#D6DCE5' }, right: { width: 1, color: '#D6DCE5' },&#10;                        top: { width: 1, color: '#D6DCE5' }, bottom: { width: 1, color: '#D6DCE5' },&#10;                    },&#10;                }}&#10;                cells={[&#10;                    [&#10;                        { text: '评分维度', textStyle: { bold: true, color: '#FFFFFF', fontSize: 17 }, cellStyle: { background: { color: '#0E3F8C' } } },&#10;                        { text: '权重', textStyle: { bold: true, color: '#FFFFFF', fontSize: 17 }, cellStyle: { background: { color: '#0E3F8C' } } },&#10;                        { text: '看什么（得分要点）', textStyle: { bold: true, color: '#FFFFFF', fontSize: 17 }, cellStyle: { background: { color: '#0E3F8C' } } },&#10;                        { text: '常见失分', textStyle: { bold: true, color: '#FFFFFF', fontSize: 17 }, cellStyle: { background: { color: '#0E3F8C' } } },&#10;                    ],&#10;                    [&#10;                        { text: '结果复现', textStyle: { bold: true, color: '#0E3F8C', fontSize: 17 }, cellStyle: { background: { color: '#FFF8E1' } } },&#10;                        { text: '40 分', textStyle: { bold: true, color: '#0E3F8C', fontSize: 20 }, cellStyle: { background: { color: '#FFF8E1' } } },&#10;                        { text: '训练跑通，给出测试集 Accuracy 与 macro-F1，数值落在基线 ±5 个百分点内', textStyle: { textAlign: 'left' }, cellStyle: { background: { color: '#FFF8E1' } } },&#10;                        { text: '只报训练集指标，或从未在测试集上评估', textStyle: { textAlign: 'left' }, cellStyle: { background: { color: '#FFF8E1' } } },&#10;                    ],&#10;                    [&#10;                        '分析深度', '30 分', '正确读出混淆矩阵，指出恶性召回率与误判去向，并解释一个超参的影响', '只贴数字不下结论，看不出好坏在哪',&#10;                    ],&#10;                    [&#10;                        { text: '代码规范', textStyle: { bold: true }, cellStyle: { background: { color: '#F0F5FC' } } },&#10;                        { text: '20 分', cellStyle: { background: { color: '#F0F5FC' } } },&#10;                        { text: '命令与参数记录完整，目录结构清晰，固定随机种子可复跑', textStyle: { textAlign: 'left' }, cellStyle: { background: { color: '#F0F5FC' } } },&#10;                        { text: '手工改路径、参数与报告对不上', textStyle: { textAlign: 'left' }, cellStyle: { background: { color: '#F0F5FC' } } },&#10;                    ],&#10;                    [&#10;                        '表达呈现', '10 分', '一页说明讲清&quot;做了什么 — 看到什么 — 为什么&quot;，图表有标题与单位', '截图堆砌，无逻辑无标注',&#10;                    ],&#10;                    [&#10;                        { text: '合计', textStyle: { bold: true, color: '#FFFFFF' }, cellStyle: { background: { color: '#1E4FA8' } } },&#10;                        { text: '100 分', textStyle: { bold: true, color: '#FFFFFF', fontSize: 18 }, cellStyle: { background: { color: '#1E4FA8' } } },&#10;                        { text: '加分项：完成拓展挑战中的任意一条，额外加 5～10 分', textStyle: { textAlign: 'left', color: '#FFFFFF' }, cellStyle: { background: { color: '#1E4FA8' } } },&#10;                        { text: '上限不超过 110 分', textStyle: { textAlign: 'left', color: '#CFE0F7' }, cellStyle: { background: { color: '#1E4FA8' } } },&#10;                    ],&#10;                ]}&#10;            /&gt;&#10;&#10;            &lt;Box style={{ flex: 1, background: '#E8EFF8', borderLeft: '5px solid #1E4FA8', borderRadius: 6, paddingLeft: 16, paddingRight: 14, justifyContent: 'center' }}&gt;&#10;                &lt;Text style={{ fontSize: 18, color: '#1A2230', lineHeight: 1.55 }}&gt;&#10;                    &lt;span style={{ fontWeight: 'bold' }}&gt;评分取向：&lt;/span&gt;结果只占四成、分析占三成——&lt;span style={{ fontWeight: 'bold', color: '#0E3F8C' }}&gt;跑出数字只是及格线，说清数字背后的原因才算完成&lt;/span&gt;。ViT 拿到 53.4% 并不可耻，说不出它为什么是 53.4% 才是问题。&#10;                &lt;/Text&gt;&#10;            &lt;/Box&gt;&#10;        &lt;/Box&gt;&#10;    &lt;/Box&gt;&#10;&#10;    &lt;Box style={{ height: 40, flexDirection: 'row', alignItems: 'center', justifyContent: 'space-between', paddingLeft: 40, paddingRight: 40, borderTop: '1px solid #E5E7EB' }}&gt;&#10;        &lt;Text style={{ fontSize: 14, color: '#8B97A8' }}&gt;BUSI 乳腺超声图像分类 · 乳腺癌智能诊断&lt;/Text&gt;&#10;        &lt;Text style={{ fontSize: 14, color: '#1E4FA8' }}&gt;36 / 3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4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65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2438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判分标准与提交物</a:t>
            </a:r>
            <a:endParaRPr/>
          </a:p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10668000" y="266700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 xml:space="preserve">07 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课堂实战任务</a:t>
            </a:r>
            <a:endParaRPr/>
          </a:p>
        </p:txBody>
      </p:sp>
      <p:sp>
        <p:nvSpPr>
          <p:cNvPr id="768" name=""/>
          <p:cNvSpPr/>
          <p:nvPr/>
        </p:nvSpPr>
        <p:spPr>
          <a:xfrm rot="0" flipH="0" flipV="0">
            <a:off x="381000" y="914400"/>
            <a:ext cx="3543300" cy="1428750"/>
          </a:xfrm>
          <a:prstGeom prst="roundRect">
            <a:avLst>
              <a:gd name="adj" fmla="val 666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609600" y="1076325"/>
            <a:ext cx="16954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C107"/>
                </a:solidFill>
                <a:latin typeface="Microsoft YaHei"/>
                <a:ea typeface="Microsoft YaHei"/>
              </a:rPr>
              <a:t>100</a:t>
            </a:r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2457450" y="1200150"/>
            <a:ext cx="11906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总分</a:t>
            </a:r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2457450" y="1504950"/>
            <a:ext cx="1190625" cy="5524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CFE0F7"/>
                </a:solidFill>
                <a:latin typeface="Microsoft YaHei"/>
                <a:ea typeface="Microsoft YaHei"/>
              </a:rPr>
              <a:t>结果</a:t>
            </a:r>
            <a:r>
              <a:rPr lang="en-US" sz="1200">
                <a:solidFill>
                  <a:srgbClr val="CFE0F7"/>
                </a:solidFill>
                <a:latin typeface="Microsoft YaHei"/>
                <a:ea typeface="Microsoft YaHei"/>
              </a:rPr>
              <a:t xml:space="preserve"> 40 · </a:t>
            </a:r>
            <a:r>
              <a:rPr lang="zh-CN" sz="1200">
                <a:solidFill>
                  <a:srgbClr val="CFE0F7"/>
                </a:solidFill>
                <a:latin typeface="Microsoft YaHei"/>
                <a:ea typeface="Microsoft YaHei"/>
              </a:rPr>
              <a:t>分析</a:t>
            </a:r>
            <a:r>
              <a:rPr lang="en-US" sz="1200">
                <a:solidFill>
                  <a:srgbClr val="CFE0F7"/>
                </a:solidFill>
                <a:latin typeface="Microsoft YaHei"/>
                <a:ea typeface="Microsoft YaHei"/>
              </a:rPr>
              <a:t xml:space="preserve"> 30</a:t>
            </a:r>
            <a:endParaRPr/>
          </a:p>
          <a:p>
            <a:pPr>
              <a:lnSpc>
                <a:spcPct val="150000"/>
              </a:lnSpc>
            </a:pPr>
            <a:r>
              <a:rPr lang="zh-CN" sz="1200">
                <a:solidFill>
                  <a:srgbClr val="CFE0F7"/>
                </a:solidFill>
                <a:latin typeface="Microsoft YaHei"/>
                <a:ea typeface="Microsoft YaHei"/>
              </a:rPr>
              <a:t>代码</a:t>
            </a:r>
            <a:r>
              <a:rPr lang="en-US" sz="1200">
                <a:solidFill>
                  <a:srgbClr val="CFE0F7"/>
                </a:solidFill>
                <a:latin typeface="Microsoft YaHei"/>
                <a:ea typeface="Microsoft YaHei"/>
              </a:rPr>
              <a:t xml:space="preserve"> 20 · </a:t>
            </a:r>
            <a:r>
              <a:rPr lang="zh-CN" sz="1200">
                <a:solidFill>
                  <a:srgbClr val="CFE0F7"/>
                </a:solidFill>
                <a:latin typeface="Microsoft YaHei"/>
                <a:ea typeface="Microsoft YaHei"/>
              </a:rPr>
              <a:t>表达</a:t>
            </a:r>
            <a:r>
              <a:rPr lang="en-US" sz="1200">
                <a:solidFill>
                  <a:srgbClr val="CFE0F7"/>
                </a:solidFill>
                <a:latin typeface="Microsoft YaHei"/>
                <a:ea typeface="Microsoft YaHei"/>
              </a:rPr>
              <a:t xml:space="preserve"> 10</a:t>
            </a:r>
            <a:endParaRPr/>
          </a:p>
        </p:txBody>
      </p:sp>
      <p:sp>
        <p:nvSpPr>
          <p:cNvPr id="772" name=""/>
          <p:cNvSpPr/>
          <p:nvPr/>
        </p:nvSpPr>
        <p:spPr>
          <a:xfrm rot="0" flipH="0" flipV="0">
            <a:off x="381000" y="2514600"/>
            <a:ext cx="3543300" cy="2914650"/>
          </a:xfrm>
          <a:prstGeom prst="roundRect">
            <a:avLst>
              <a:gd name="adj" fmla="val 261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773" name=""/>
          <p:cNvSpPr/>
          <p:nvPr/>
        </p:nvSpPr>
        <p:spPr>
          <a:xfrm rot="0" flipH="0" flipV="0">
            <a:off x="381000" y="2514600"/>
            <a:ext cx="3543300" cy="2914650"/>
          </a:xfrm>
          <a:custGeom>
            <a:pathLst>
              <a:path w="372" h="306">
                <a:moveTo>
                  <a:pt x="364" y="0"/>
                </a:moveTo>
                <a:cubicBezTo>
                  <a:pt x="368" y="0"/>
                  <a:pt x="371" y="3"/>
                  <a:pt x="372" y="7"/>
                </a:cubicBezTo>
                <a:cubicBezTo>
                  <a:pt x="371" y="5"/>
                  <a:pt x="370" y="4"/>
                  <a:pt x="368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364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533400" y="2667000"/>
            <a:ext cx="3238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三项提交物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533400" y="300990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C107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828675" y="3009900"/>
            <a:ext cx="2943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最佳权重文件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828675" y="3209925"/>
            <a:ext cx="294322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outputs/checkpoints/resnet18_best.pt</a:t>
            </a:r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533400" y="356235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C107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828675" y="3562350"/>
            <a:ext cx="2943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测试集评估报告</a:t>
            </a:r>
            <a:endParaRPr/>
          </a:p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828675" y="3762375"/>
            <a:ext cx="294322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混淆矩阵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分类报告（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JSON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或截图）</a:t>
            </a:r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533400" y="411480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C107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828675" y="4114800"/>
            <a:ext cx="2943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一页分析说明</a:t>
            </a:r>
            <a:endParaRPr/>
          </a:p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828675" y="4314825"/>
            <a:ext cx="294322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说清做了什么、看到什么、为什么</a:t>
            </a:r>
            <a:endParaRPr/>
          </a:p>
        </p:txBody>
      </p:sp>
      <p:sp>
        <p:nvSpPr>
          <p:cNvPr id="784" name=""/>
          <p:cNvSpPr/>
          <p:nvPr/>
        </p:nvSpPr>
        <p:spPr>
          <a:xfrm rot="0" flipH="0" flipV="0">
            <a:off x="428625" y="5524500"/>
            <a:ext cx="3543300" cy="781050"/>
          </a:xfrm>
          <a:prstGeom prst="roundRect">
            <a:avLst>
              <a:gd name="adj" fmla="val 7317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785" name=""/>
          <p:cNvSpPr/>
          <p:nvPr/>
        </p:nvSpPr>
        <p:spPr>
          <a:xfrm rot="0" flipH="0" flipV="0">
            <a:off x="428625" y="5524500"/>
            <a:ext cx="3543300" cy="781050"/>
          </a:xfrm>
          <a:custGeom>
            <a:pathLst>
              <a:path w="372" h="82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81"/>
                </a:lnTo>
                <a:cubicBezTo>
                  <a:pt x="5" y="82"/>
                  <a:pt x="5" y="82"/>
                  <a:pt x="6" y="82"/>
                </a:cubicBezTo>
                <a:cubicBezTo>
                  <a:pt x="3" y="82"/>
                  <a:pt x="0" y="79"/>
                  <a:pt x="0" y="7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542925" y="5638800"/>
            <a:ext cx="32670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三组提交物缺一项，该维度按零分计；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随机种子必须固定为</a:t>
            </a: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42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，否则结果无法与他人对照。</a:t>
            </a:r>
            <a:endParaRPr/>
          </a:p>
        </p:txBody>
      </p:sp>
      <p:graphicFrame>
        <p:nvGraphicFramePr>
          <p:cNvPr id="787" name=""/>
          <p:cNvGraphicFramePr/>
          <p:nvPr/>
        </p:nvGraphicFramePr>
        <p:xfrm rot="0" flipH="0" flipV="0">
          <a:off x="4152900" y="914400"/>
          <a:ext cx="7658100" cy="3810000"/>
        </p:xfrm>
        <a:graphic>
          <a:graphicData uri="http://schemas.openxmlformats.org/drawingml/2006/table">
            <a:tbl>
              <a:tblGrid>
                <a:gridCol w="590489">
                  <a:extLst>
                    <a:ext uri="{9D8B030D-6E8A-4147-A177-3AD203B41FA5}">
                      <a16:colId val="1"/>
                    </a:ext>
                  </a:extLst>
                </a:gridCol>
                <a:gridCol w="506786">
                  <a:extLst>
                    <a:ext uri="{9D8B030D-6E8A-4147-A177-3AD203B41FA5}">
                      <a16:colId val="2"/>
                    </a:ext>
                  </a:extLst>
                </a:gridCol>
                <a:gridCol w="4296267">
                  <a:extLst>
                    <a:ext uri="{9D8B030D-6E8A-4147-A177-3AD203B41FA5}">
                      <a16:colId val="3"/>
                    </a:ext>
                  </a:extLst>
                </a:gridCol>
                <a:gridCol w="2264557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62434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评分维度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权重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看什么（得分要点）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常见失分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72023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结果复现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40 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训练跑通，给出测试集 Accuracy 与 macro-F1，数值落在基线 ±5 个百分点内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只报训练集指标，或从未在测试集上评估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0303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分析深度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30 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正确读出混淆矩阵，指出恶性召回率与误判去向，并解释一个超参的影响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只贴数字不下结论，看不出好坏在哪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0303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代码规范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20 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命令与参数记录完整，目录结构清晰，固定随机种子可复跑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手工改路径、参数与报告对不上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0303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表达呈现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10 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一页说明讲清"做了什么 — 看到什么 — 为什么"，图表有标题与单位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截图堆砌，无逻辑无标注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563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合计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100 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加分项：完成拓展挑战中的任意一条，额外加 5～10 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CFE0F7"/>
                          </a:solidFill>
                          <a:latin typeface="Microsoft YaHei"/>
                          <a:ea typeface="Microsoft YaHei"/>
                        </a:rPr>
                        <a:t>上限不超过 110 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788" name=""/>
          <p:cNvSpPr/>
          <p:nvPr/>
        </p:nvSpPr>
        <p:spPr>
          <a:xfrm rot="0" flipH="0" flipV="0">
            <a:off x="4200525" y="4838700"/>
            <a:ext cx="7658100" cy="1466850"/>
          </a:xfrm>
          <a:prstGeom prst="roundRect">
            <a:avLst>
              <a:gd name="adj" fmla="val 389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789" name=""/>
          <p:cNvSpPr/>
          <p:nvPr/>
        </p:nvSpPr>
        <p:spPr>
          <a:xfrm rot="0" flipH="0" flipV="0">
            <a:off x="4200525" y="4838700"/>
            <a:ext cx="7658100" cy="1466850"/>
          </a:xfrm>
          <a:custGeom>
            <a:pathLst>
              <a:path w="804" h="154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153"/>
                </a:lnTo>
                <a:cubicBezTo>
                  <a:pt x="5" y="154"/>
                  <a:pt x="5" y="154"/>
                  <a:pt x="6" y="154"/>
                </a:cubicBezTo>
                <a:cubicBezTo>
                  <a:pt x="3" y="154"/>
                  <a:pt x="0" y="151"/>
                  <a:pt x="0" y="14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4352925" y="5257800"/>
            <a:ext cx="73247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评分取向：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结果只占四成、分析占三成——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跑出数字只是及格线，说清数字背后的原因才算完成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ViT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拿到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53.4%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并不可耻，说不出它为什么是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53.4%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才是问题。</a:t>
            </a:r>
            <a:endParaRPr/>
          </a:p>
        </p:txBody>
      </p:sp>
      <p:sp>
        <p:nvSpPr>
          <p:cNvPr id="791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36 / 38</a:t>
            </a:r>
            <a:endParaRPr/>
          </a:p>
        </p:txBody>
      </p:sp>
    </p:spTree>
  </p:cSld>
</p:sld>
</file>

<file path=ppt/slides/slide3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94" name="" descr="&lt;Slide style={{ padding: 0, background: '#FFFFFF', fontFamily: 'Microsoft YaHei' }}&gt;&#10;    &lt;Box style={{ width: '100%', height: 76, background: '#0E3F8C', flexDirection: 'row', alignItems: 'center', justifyContent: 'space-between', paddingLeft: 40, paddingRight: 40 }}&gt;&#10;        &lt;Box style={{ flexDirection: 'row', alignItems: 'center', gap: 16 }}&gt;&#10;            &lt;Box style={{ width: 6, height: 34, background: '#FFC107' }} /&gt;&#10;            &lt;Text style={{ fontSize: 32, fontWeight: 'bold', color: '#FFFFFF' }}&gt;拓展挑战：三条进阶路径&lt;/Text&gt;&#10;        &lt;/Box&gt;&#10;        &lt;Text style={{ fontSize: 16, color: '#8FC0F0' }}&gt;07 课堂实战任务&lt;/Text&gt;&#10;    &lt;/Box&gt;&#10;&#10;    &lt;Box style={{ flex: 1, gap: 16, paddingTop: 18, paddingLeft: 40, paddingRight: 40, paddingBottom: 18 }}&gt;&#10;        &lt;Box style={{ height: 268, background: '#F7F9FC', border: '1px solid #D6DCE5', borderRadius: 10, paddingTop: 10, paddingLeft: 10 }}&gt;&#10;            &lt;svg width={1180} height={248} viewBox='0 0 1180 248'&gt;&#10;                &lt;rect x='10' y='92' width='132' height='64' rx='8' fill='#0E3F8C' /&gt;&#10;                &lt;text x='76' y='120' font-size='19' fill='#FFFFFF' text-anchor='middle' font-family='Microsoft YaHei'&gt;完成任务书&lt;/text&gt;&#10;                &lt;text x='76' y='142' font-size='14' fill='#8FC0F0' text-anchor='middle' font-family='Microsoft YaHei'&gt;ResNet-18 基线&lt;/text&gt;&#10;&#10;                &lt;path d='M142 124 H 158' stroke='#8B97A8' strokeWidth='2' /&gt;&#10;                &lt;path d='M158 124 V 60 H 172' stroke='#8B97A8' strokeWidth='2' fill='none' /&gt;&#10;                &lt;path d='M158 124 V 124 H 172' stroke='#8B97A8' strokeWidth='2' fill='none' /&gt;&#10;                &lt;path d='M158 124 V 188 H 172' stroke='#8B97A8' strokeWidth='2' fill='none' /&gt;&#10;&#10;                &lt;rect x='172' y='52' width='524' height='10' rx='5' fill='#3D7BD9' /&gt;&#10;                &lt;path d='M696 57 H 1120' stroke='#D6DCE5' strokeWidth='8' strokeDasharray='14 10' strokeLinecap='round' /&gt;&#10;                &lt;circle cx='704' cy='57' r='9' fill='#3D7BD9' /&gt;&#10;                &lt;text x='726' y='50' font-size='19' font-weight='bold' fill='#0E3F8C' font-family='Microsoft YaHei'&gt;路径一 · 调参&lt;/text&gt;&#10;                &lt;text x='726' y='72' font-size='15' fill='#4A5568' font-family='Microsoft YaHei'&gt;不动结构，只动超参&lt;/text&gt;&#10;                &lt;text x='440' y='48' font-size='14' fill='#FFFFFF' text-anchor='middle' font-family='Microsoft YaHei'&gt;1–2 小时&lt;/text&gt;&#10;&#10;                &lt;rect x='172' y='117' width='706' height='14' rx='7' fill='#1E4FA8' /&gt;&#10;                &lt;path d='M878 124 H 1120' stroke='#D6DCE5' strokeWidth='12' strokeDasharray='14 10' strokeLinecap='round' /&gt;&#10;                &lt;circle cx='890' cy='124' r='11' fill='#1E4FA8' /&gt;&#10;                &lt;text x='912' y='117' font-size='19' font-weight='bold' fill='#0E3F8C' font-family='Microsoft YaHei'&gt;路径二 · 换架构&lt;/text&gt;&#10;                &lt;text x='912' y='138' font-size='15' fill='#4A5568' font-family='Microsoft YaHei'&gt;替换骨干网络或加模块&lt;/text&gt;&#10;                &lt;text x='520' y='129' font-size='14' fill='#FFFFFF' text-anchor='middle' font-family='Microsoft YaHei'&gt;半天 ~ 一天&lt;/text&gt;&#10;&#10;                &lt;rect x='172' y='182' width='922' height='18' rx='9' fill='#0E3F8C' /&gt;&#10;                &lt;circle cx='1110' cy='191' r='13' fill='#0E3F8C' /&gt;&#10;                &lt;circle cx='1110' cy='191' r='6' fill='#FFC107' /&gt;&#10;                &lt;text x='660' y='196' font-size='14' fill='#FFFFFF' text-anchor='middle' font-family='Microsoft YaHei'&gt;一到两天&lt;/text&gt;&#10;                &lt;text x='1096' y='224' font-size='19' font-weight='bold' fill='#0E3F8C' text-anchor='end' font-family='Microsoft YaHei'&gt;路径三 · 可解释性&lt;/text&gt;&#10;                &lt;text x='1096' y='242' font-size='15' fill='#4A5568' text-anchor='end' font-family='Microsoft YaHei'&gt;让模型说出它看了哪里&lt;/text&gt;&#10;&#10;                &lt;path d='M142 60 V 188' stroke='#E5E7EB' strokeWidth='1' /&gt;&#10;                &lt;text x='10' y='30' font-size='15' fill='#8B97A8' font-family='Microsoft YaHei'&gt;投入时间 →&lt;/text&gt;&#10;                &lt;path d='M112 24 H 1120' stroke='#E5E7EB' strokeWidth='1' /&gt;&#10;            &lt;/svg&gt;&#10;        &lt;/Box&gt;&#10;&#10;        &lt;Box style={{ flex: 1, flexDirection: 'row', gap: 16 }}&gt;&#10;            &lt;Box style={{ width: 356, background: '#FFFFFF', border: '1px solid #D6DCE5', borderTop: '4px solid #3D7BD9', borderRadius: 8, padding: 14, gap: 8 }}&gt;&#10;                &lt;Box style={{ flexDirection: 'row', alignItems: 'center', gap: 8 }}&gt;&#10;                    &lt;Box style={{ background: '#3D7BD9', borderRadius: 4, paddingLeft: 8, paddingRight: 8, paddingTop: 3, paddingBottom: 3 }}&gt;&#10;                        &lt;Text style={{ fontSize: 14, color: '#FFFFFF', fontWeight: 'bold' }}&gt;入门&lt;/Text&gt;&#10;                    &lt;/Box&gt;&#10;                    &lt;Text style={{ fontSize: 19, fontWeight: 'bold', color: '#0E3F8C' }}&gt;调参：找最敏感的那一个&lt;/Text&gt;&#10;                &lt;/Box&gt;&#10;                &lt;Text style={{ fontSize: 15, color: '#4A5568', lineHeight: 1.5 }}&gt;&#10;                    保持网络不变，依次改动学习率（3e-4 → 1e-4 / 1e-3）、批大小（16 / 32）、是否启用类别权重，每次只改一处。&#10;                &lt;/Text&gt;&#10;                &lt;Box style={{ background: '#F0F5FC', borderRadius: 6, padding: 10 }}&gt;&#10;                    &lt;Text style={{ fontSize: 15, color: '#1A2230', lineHeight: 1.5 }}&gt;&#10;                        &lt;span style={{ fontWeight: 'bold', color: '#0E3F8C' }}&gt;验收：&lt;/span&gt;三组设置的 macro-F1 对照表 + 一句话指出哪个超参影响最大。&#10;                    &lt;/Text&gt;&#10;                &lt;/Box&gt;&#10;            &lt;/Box&gt;&#10;&#10;            &lt;Box style={{ width: 396, background: '#FFFFFF', border: '1px solid #D6DCE5', borderTop: '4px solid #1E4FA8', borderRadius: 8, padding: 14, gap: 8 }}&gt;&#10;                &lt;Box style={{ flexDirection: 'row', alignItems: 'center', gap: 8 }}&gt;&#10;                    &lt;Box style={{ background: '#1E4FA8', borderRadius: 4, paddingLeft: 8, paddingRight: 8, paddingTop: 3, paddingBottom: 3 }}&gt;&#10;                        &lt;Text style={{ fontSize: 14, color: '#FFFFFF', fontWeight: 'bold' }}&gt;进阶&lt;/Text&gt;&#10;                    &lt;/Box&gt;&#10;                    &lt;Text style={{ fontSize: 19, fontWeight: 'bold', color: '#0E3F8C' }}&gt;换架构：改动网络本身&lt;/Text&gt;&#10;                &lt;/Box&gt;&#10;                &lt;Text style={{ fontSize: 15, color: '#4A5568', lineHeight: 1.5 }}&gt;&#10;                    换成 ResNet-50 / ResNet-101，或 ViT-B/32；也可在残差块中插入 SE、CBAM 等轻量注意力模块，只增加极少参数。&#10;                &lt;/Text&gt;&#10;                &lt;Box style={{ background: '#F0F5FC', borderRadius: 6, padding: 10 }}&gt;&#10;                    &lt;Text style={{ fontSize: 15, color: '#1A2230', lineHeight: 1.5 }}&gt;&#10;                        &lt;span style={{ fontWeight: 'bold', color: '#0E3F8C' }}&gt;验收：&lt;/span&gt;与 ResNet-18 同条件对比，说明参数量涨了、准确率是否同步涨。&#10;                    &lt;/Text&gt;&#10;                &lt;/Box&gt;&#10;            &lt;/Box&gt;&#10;&#10;            &lt;Box style={{ width: 412, background: '#FFFFFF', border: '1px solid #D6DCE5', borderTop: '4px solid #0E3F8C', borderRadius: 8, padding: 14, gap: 8 }}&gt;&#10;                &lt;Box style={{ flexDirection: 'row', alignItems: 'center', gap: 8 }}&gt;&#10;                    &lt;Box style={{ background: '#0E3F8C', borderRadius: 4, paddingLeft: 8, paddingRight: 8, paddingTop: 3, paddingBottom: 3 }}&gt;&#10;                        &lt;Text style={{ fontSize: 14, color: '#FFFFFF', fontWeight: 'bold' }}&gt;挑战&lt;/Text&gt;&#10;                    &lt;/Box&gt;&#10;                    &lt;Text style={{ fontSize: 19, fontWeight: 'bold', color: '#0E3F8C' }}&gt;可解释性：让模型指认病灶&lt;/Text&gt;&#10;                &lt;/Box&gt;&#10;                &lt;Text style={{ fontSize: 15, color: '#4A5568', lineHeight: 1.5 }}&gt;&#10;                    用 Grad-CAM 对最后一个卷积层取激活热力图，叠回原图观察模型关注区域，并与数据集自带的人工掩膜比对。&#10;                &lt;/Text&gt;&#10;                &lt;Box style={{ background: '#FFF8E1', borderRadius: 6, padding: 10 }}&gt;&#10;                    &lt;Text style={{ fontSize: 15, color: '#1A2230', lineHeight: 1.5 }}&gt;&#10;                        &lt;span style={{ fontWeight: 'bold', color: '#0E3F8C' }}&gt;验收：&lt;/span&gt;挑 3 张恶性样本，判断高亮是否落在病灶区，讨论它与医生标注的差异。&#10;                    &lt;/Text&gt;&#10;                &lt;/Box&gt;&#10;            &lt;/Box&gt;&#10;        &lt;/Box&gt;&#10;    &lt;/Box&gt;&#10;&#10;    &lt;Box style={{ height: 40, flexDirection: 'row', alignItems: 'center', justifyContent: 'space-between', paddingLeft: 40, paddingRight: 40, borderTop: '1px solid #E5E7EB' }}&gt;&#10;        &lt;Text style={{ fontSize: 14, color: '#8B97A8' }}&gt;BUSI 乳腺超声图像分类 · 乳腺癌智能诊断&lt;/Text&gt;&#10;        &lt;Text style={{ fontSize: 14, color: '#1E4FA8' }}&gt;37 / 3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6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97" name=""/>
          <p:cNvSpPr/>
          <p:nvPr/>
        </p:nvSpPr>
        <p:spPr>
          <a:xfrm rot="0" flipH="0" flipV="0">
            <a:off x="381000" y="209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590550" y="180975"/>
            <a:ext cx="335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拓展挑战：三条进阶路径</a:t>
            </a:r>
            <a:endParaRPr/>
          </a:p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10668000" y="266700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C0F0"/>
                </a:solidFill>
                <a:latin typeface="Microsoft YaHei"/>
                <a:ea typeface="Microsoft YaHei"/>
              </a:rPr>
              <a:t xml:space="preserve">07 </a:t>
            </a:r>
            <a:r>
              <a:rPr lang="zh-CN" sz="1200">
                <a:solidFill>
                  <a:srgbClr val="8FC0F0"/>
                </a:solidFill>
                <a:latin typeface="Microsoft YaHei"/>
                <a:ea typeface="Microsoft YaHei"/>
              </a:rPr>
              <a:t>课堂实战任务</a:t>
            </a:r>
            <a:endParaRPr/>
          </a:p>
        </p:txBody>
      </p:sp>
      <p:sp>
        <p:nvSpPr>
          <p:cNvPr id="800" name=""/>
          <p:cNvSpPr/>
          <p:nvPr/>
        </p:nvSpPr>
        <p:spPr>
          <a:xfrm rot="0" flipH="0" flipV="0">
            <a:off x="381000" y="895350"/>
            <a:ext cx="11430000" cy="2552700"/>
          </a:xfrm>
          <a:prstGeom prst="roundRect">
            <a:avLst>
              <a:gd name="adj" fmla="val 373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8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990600"/>
            <a:ext cx="11239500" cy="2362200"/>
          </a:xfrm>
          <a:prstGeom prst="rect">
            <a:avLst/>
          </a:prstGeom>
          <a:ln/>
        </p:spPr>
      </p:pic>
      <p:sp>
        <p:nvSpPr>
          <p:cNvPr id="802" name=""/>
          <p:cNvSpPr/>
          <p:nvPr/>
        </p:nvSpPr>
        <p:spPr>
          <a:xfrm rot="0" flipH="0" flipV="0">
            <a:off x="381000" y="3638550"/>
            <a:ext cx="339090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3" name=""/>
          <p:cNvSpPr/>
          <p:nvPr/>
        </p:nvSpPr>
        <p:spPr>
          <a:xfrm rot="0" flipH="0" flipV="0">
            <a:off x="381000" y="3638550"/>
            <a:ext cx="3390900" cy="2705100"/>
          </a:xfrm>
          <a:custGeom>
            <a:pathLst>
              <a:path w="356" h="284">
                <a:moveTo>
                  <a:pt x="348" y="0"/>
                </a:moveTo>
                <a:cubicBezTo>
                  <a:pt x="352" y="0"/>
                  <a:pt x="355" y="3"/>
                  <a:pt x="356" y="7"/>
                </a:cubicBezTo>
                <a:cubicBezTo>
                  <a:pt x="355" y="5"/>
                  <a:pt x="354" y="4"/>
                  <a:pt x="352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348" y="0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804" name=""/>
          <p:cNvSpPr/>
          <p:nvPr/>
        </p:nvSpPr>
        <p:spPr>
          <a:xfrm rot="0" flipH="0" flipV="0">
            <a:off x="514350" y="3771900"/>
            <a:ext cx="419100" cy="219075"/>
          </a:xfrm>
          <a:prstGeom prst="roundRect">
            <a:avLst>
              <a:gd name="adj" fmla="val 17391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590550" y="38004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入门</a:t>
            </a:r>
            <a:endParaRPr/>
          </a:p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1009650" y="3771900"/>
            <a:ext cx="1990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调参：找最敏感的那一个</a:t>
            </a:r>
            <a:endParaRPr/>
          </a:p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514350" y="4067175"/>
            <a:ext cx="31242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保持网络不变，依次改动学习率（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3e-4 → 1e-4 / 1e-3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）、批大小（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16 / 32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）、是否启用类别权重，每次只改一处。</a:t>
            </a:r>
            <a:endParaRPr/>
          </a:p>
        </p:txBody>
      </p:sp>
      <p:sp>
        <p:nvSpPr>
          <p:cNvPr id="808" name=""/>
          <p:cNvSpPr/>
          <p:nvPr/>
        </p:nvSpPr>
        <p:spPr>
          <a:xfrm rot="0" flipH="0" flipV="0">
            <a:off x="514350" y="4914900"/>
            <a:ext cx="3124200" cy="704850"/>
          </a:xfrm>
          <a:prstGeom prst="roundRect">
            <a:avLst>
              <a:gd name="adj" fmla="val 8108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609600" y="5010150"/>
            <a:ext cx="2933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验收：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三组设置的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macro-F1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对照表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一句话指出哪个超参影响最大。</a:t>
            </a:r>
            <a:endParaRPr/>
          </a:p>
        </p:txBody>
      </p:sp>
      <p:sp>
        <p:nvSpPr>
          <p:cNvPr id="810" name=""/>
          <p:cNvSpPr/>
          <p:nvPr/>
        </p:nvSpPr>
        <p:spPr>
          <a:xfrm rot="0" flipH="0" flipV="0">
            <a:off x="3924300" y="3638550"/>
            <a:ext cx="377190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1" name=""/>
          <p:cNvSpPr/>
          <p:nvPr/>
        </p:nvSpPr>
        <p:spPr>
          <a:xfrm rot="0" flipH="0" flipV="0">
            <a:off x="3924300" y="3638550"/>
            <a:ext cx="3771900" cy="2705100"/>
          </a:xfrm>
          <a:custGeom>
            <a:pathLst>
              <a:path w="396" h="284">
                <a:moveTo>
                  <a:pt x="388" y="0"/>
                </a:moveTo>
                <a:cubicBezTo>
                  <a:pt x="392" y="0"/>
                  <a:pt x="395" y="3"/>
                  <a:pt x="396" y="7"/>
                </a:cubicBezTo>
                <a:cubicBezTo>
                  <a:pt x="395" y="5"/>
                  <a:pt x="394" y="4"/>
                  <a:pt x="392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388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812" name=""/>
          <p:cNvSpPr/>
          <p:nvPr/>
        </p:nvSpPr>
        <p:spPr>
          <a:xfrm rot="0" flipH="0" flipV="0">
            <a:off x="4057650" y="3771900"/>
            <a:ext cx="419100" cy="219075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4133850" y="38004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进阶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4552950" y="377190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换架构：改动网络本身</a:t>
            </a:r>
            <a:endParaRPr/>
          </a:p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4057650" y="4067175"/>
            <a:ext cx="35052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换成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ResNet-50 / ResNet-101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，或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ViT-B/32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；也可在残差块中插入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SE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CBAM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等轻量注意力模块，只增加极少参数。</a:t>
            </a:r>
            <a:endParaRPr/>
          </a:p>
        </p:txBody>
      </p:sp>
      <p:sp>
        <p:nvSpPr>
          <p:cNvPr id="816" name=""/>
          <p:cNvSpPr/>
          <p:nvPr/>
        </p:nvSpPr>
        <p:spPr>
          <a:xfrm rot="0" flipH="0" flipV="0">
            <a:off x="4057650" y="4914900"/>
            <a:ext cx="3505200" cy="704850"/>
          </a:xfrm>
          <a:prstGeom prst="roundRect">
            <a:avLst>
              <a:gd name="adj" fmla="val 8108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4152900" y="5010150"/>
            <a:ext cx="3314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验收：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ResNet-18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同条件对比，说明参数量涨了、准确率是否同步涨。</a:t>
            </a:r>
            <a:endParaRPr/>
          </a:p>
        </p:txBody>
      </p:sp>
      <p:sp>
        <p:nvSpPr>
          <p:cNvPr id="818" name=""/>
          <p:cNvSpPr/>
          <p:nvPr/>
        </p:nvSpPr>
        <p:spPr>
          <a:xfrm rot="0" flipH="0" flipV="0">
            <a:off x="7848600" y="3638550"/>
            <a:ext cx="392430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9" name=""/>
          <p:cNvSpPr/>
          <p:nvPr/>
        </p:nvSpPr>
        <p:spPr>
          <a:xfrm rot="0" flipH="0" flipV="0">
            <a:off x="7848600" y="3638550"/>
            <a:ext cx="3924300" cy="2705100"/>
          </a:xfrm>
          <a:custGeom>
            <a:pathLst>
              <a:path w="412" h="284">
                <a:moveTo>
                  <a:pt x="404" y="0"/>
                </a:moveTo>
                <a:cubicBezTo>
                  <a:pt x="408" y="0"/>
                  <a:pt x="411" y="3"/>
                  <a:pt x="412" y="7"/>
                </a:cubicBezTo>
                <a:cubicBezTo>
                  <a:pt x="411" y="5"/>
                  <a:pt x="410" y="4"/>
                  <a:pt x="408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404" y="0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820" name=""/>
          <p:cNvSpPr/>
          <p:nvPr/>
        </p:nvSpPr>
        <p:spPr>
          <a:xfrm rot="0" flipH="0" flipV="0">
            <a:off x="7981950" y="3771900"/>
            <a:ext cx="419100" cy="219075"/>
          </a:xfrm>
          <a:prstGeom prst="roundRect">
            <a:avLst>
              <a:gd name="adj" fmla="val 1739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21" name="" descr="{&quot;isTemplate&quot;:true,&quot;type&quot;:&quot;text&quot;}"/>
          <p:cNvSpPr txBox="1"/>
          <p:nvPr/>
        </p:nvSpPr>
        <p:spPr>
          <a:xfrm rot="0" flipH="0" flipV="0">
            <a:off x="8058150" y="38004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挑战</a:t>
            </a:r>
            <a:endParaRPr/>
          </a:p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8477250" y="3771900"/>
            <a:ext cx="2171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可解释性：让模型指认病灶</a:t>
            </a:r>
            <a:endParaRPr/>
          </a:p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7981950" y="4067175"/>
            <a:ext cx="3657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用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Grad-CAM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对最后一个卷积层取激活热力图，叠回原图观察模型关注区域，并与数据集自带的人工掩膜比对。</a:t>
            </a:r>
            <a:endParaRPr/>
          </a:p>
        </p:txBody>
      </p:sp>
      <p:sp>
        <p:nvSpPr>
          <p:cNvPr id="824" name=""/>
          <p:cNvSpPr/>
          <p:nvPr/>
        </p:nvSpPr>
        <p:spPr>
          <a:xfrm rot="0" flipH="0" flipV="0">
            <a:off x="7981950" y="4657725"/>
            <a:ext cx="3657600" cy="704850"/>
          </a:xfrm>
          <a:prstGeom prst="roundRect">
            <a:avLst>
              <a:gd name="adj" fmla="val 8108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8077200" y="4752975"/>
            <a:ext cx="3467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验收：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挑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张恶性样本，判断高亮是否落在病灶区，讨论它与医生标注的差异。</a:t>
            </a:r>
            <a:endParaRPr/>
          </a:p>
        </p:txBody>
      </p:sp>
      <p:sp>
        <p:nvSpPr>
          <p:cNvPr id="826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BUSI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乳腺超声图像分类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乳腺癌智能诊断</a:t>
            </a:r>
            <a:endParaRPr/>
          </a:p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37 / 38</a:t>
            </a:r>
            <a:endParaRPr/>
          </a:p>
        </p:txBody>
      </p:sp>
    </p:spTree>
  </p:cSld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829" name="" descr="&lt;Slide style={{ padding: 0, background: '#0E3F8C', fontFamily: 'Microsoft YaHei' }}&gt;&#10;    &lt;Box style={{ position: 'absolute', top: 0, left: 0, width: '100%', height: '100%' }}&gt;&#10;        &lt;Image src=&quot;assets/cover_ultrasound.png&quot; style={{ width: '100%', height: '100%', objectFit: 'cover' }} /&gt;&#10;    &lt;/Box&gt;&#10;    &lt;Box style={{&#10;        position: 'absolute', top: 0, left: 0, width: '100%', height: '100%',&#10;        background: 'linear-gradient(90deg, rgba(8,32,74,0.97) 0%, rgba(10,38,86,0.93) 38%, rgba(14,58,124,0.74) 72%, rgba(20,70,140,0.45) 100%)',&#10;    }} /&gt;&#10;&#10;    &lt;Box style={{ position: 'absolute', top: 0, left: 0, width: '100%', height: '100%', paddingTop: 66, paddingLeft: 72, paddingRight: 72, paddingBottom: 56, justifyContent: 'space-between' }}&gt;&#10;        &lt;Box style={{ flexDirection: 'row', alignItems: 'center', gap: 16 }}&gt;&#10;            &lt;Box style={{ width: 6, height: 30, background: '#FFC107' }} /&gt;&#10;            &lt;Text style={{ fontSize: 23, color: '#CFE0F7', letterSpacing: 2 }}&gt;总结与参考文献&lt;/Text&gt;&#10;            &lt;Text style={{ fontFamily: 'Times New Roman', fontSize: 19, color: '#7FA9DC', letterSpacing: 1 }}&gt;Conclusions and References&lt;/Text&gt;&#10;        &lt;/Box&gt;&#10;&#10;        &lt;Box style={{ gap: 26, maxWidth: 900 }}&gt;&#10;            &lt;Text style={{ fontSize: 52, fontWeight: 'bold', color: '#FFFFFF', letterSpacing: 3, lineHeight: 1.15 }}&gt;&#10;                架构决定上限，数据决定高度&#10;            &lt;/Text&gt;&#10;&#10;            &lt;Box style={{ gap: 16 }}&gt;&#10;                &lt;Box style={{ flexDirection: 'row', gap: 14, alignItems: 'flex-start' }}&gt;&#10;                    &lt;Box style={{ width: 10, height: 10, background: '#FFC107', marginTop: 9 }} /&gt;&#10;                    &lt;Text style={{ flex: 1, fontSize: 21, color: '#E3EDFA', lineHeight: 1.55 }}&gt;&#10;                        残差连接让深层网络真正可训练：&lt;span style={{ fontWeight: 'bold', color: '#FFC107' }}&gt;ResNet-50&lt;/span&gt; 以 23.5 M 参数在测试集上取得 89.8% 准确率与 0.890 macro-F1。&#10;                    &lt;/Text&gt;&#10;                &lt;/Box&gt;&#10;                &lt;Box style={{ flexDirection: 'row', gap: 14, alignItems: 'flex-start' }}&gt;&#10;                    &lt;Box style={{ width: 10, height: 10, background: '#FFC107', marginTop: 9 }} /&gt;&#10;                    &lt;Text style={{ flex: 1, fontSize: 21, color: '#E3EDFA', lineHeight: 1.55 }}&gt;&#10;                        ViT 把图像切成 16×16 的序列交给注意力，却因缺少归纳偏置而在 780 张数据上停摆：两个 ViT 变体均为 &lt;span style={{ fontWeight: 'bold', color: '#FFC107' }}&gt;53.4%&lt;/span&gt;。&#10;                    &lt;/Text&gt;&#10;                &lt;/Box&gt;&#10;                &lt;Box style={{ flexDirection: 'row', gap: 14, alignItems: 'flex-start' }}&gt;&#10;                    &lt;Box style={{ width: 10, height: 10, background: '#FFC107', marginTop: 9 }} /&gt;&#10;                    &lt;Text style={{ flex: 1, fontSize: 21, color: '#E3EDFA', lineHeight: 1.55 }}&gt;&#10;                        医学影像任务中，&lt;span style={{ fontWeight: 'bold', color: '#FFFFFF' }}&gt;先选对归纳偏置，再谈模型规模&lt;/span&gt;；类别加权与召回率，比单看准确率更贴近临床代价。&#10;                    &lt;/Text&gt;&#10;                &lt;/Box&gt;&#10;            &lt;/Box&gt;&#10;        &lt;/Box&gt;&#10;&#10;        &lt;Box style={{ gap: 10, maxWidth: 960, borderTop: '1px solid rgba(255,255,255,0.22)', paddingTop: 16 }}&gt;&#10;            &lt;Text style={{ fontSize: 15, color: '#8FC0F0', letterSpacing: 1 }}&gt;参考文献&lt;/Text&gt;&#10;            &lt;Text style={{ fontSize: 14, color: '#B9CFEA', lineHeight: 1.55 }}&gt;&#10;                [1] He K, Zhang X, Ren S, Sun J. Deep Residual Learning for Image Recognition. CVPR 2016.（arXiv:1512.03385）&#10;            &lt;/Text&gt;&#10;            &lt;Text style={{ fontSize: 14, color: '#B9CFEA', lineHeight: 1.55 }}&gt;&#10;                [2] Dosovitskiy A, Beyer L, Kolesnikov A, et al. An Image is Worth 16×16 Words: Transformers for Image Recognition at Scale. ICLR 2021.（arXiv:2010.11929）&#10;            &lt;/Text&gt;&#10;            &lt;Text style={{ fontSize: 14, color: '#B9CFEA', lineHeight: 1.55 }}&gt;&#10;                [3] Al-Dhabyani W, Gomaa M, Khaled H, Fahmy A. Dataset of Breast Ultrasound Images. Data in Brief, 2020, 28: 104863.&#10;            &lt;/Text&gt;&#10;            &lt;Text style={{ fontSize: 14, color: '#B9CFEA', lineHeight: 1.55 }}&gt;&#10;                [4] Paszke A, Gross S, Massa F, et al. PyTorch: An Imperative Style, High-Performance Deep Learning Library. NeurIPS 2019.&#10;            &lt;/Text&gt;&#10;            &lt;Text style={{ fontSize: 14, color: '#B9CFEA', lineHeight: 1.55 }}&gt;&#10;                [5] torchvision 官方模型库与 ImageNet-1K 预训练权重文档（PyTorch 官方文档）。&#10;            &lt;/Text&gt;&#10;        &lt;/Box&gt;&#10;    &lt;/Box&gt;&#10;&#10;    &lt;Box style={{ position: 'absolute', right: 72, bottom: 56, alignItems: 'flex-end', gap: 4 }}&gt;&#10;        &lt;Text style={{ fontSize: 19, color: '#FFFFFF', fontWeight: 'bold' }}&gt;谢谢 · 欢迎提问&lt;/Text&gt;&#10;        &lt;Text style={{ fontSize: 15, color: '#8FC0F0' }}&gt;主讲：肖雄涛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831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8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8204A">
                  <a:alpha val="97000"/>
                </a:srgbClr>
              </a:gs>
              <a:gs pos="38000">
                <a:srgbClr val="0A2656">
                  <a:alpha val="93000"/>
                </a:srgbClr>
              </a:gs>
              <a:gs pos="72000">
                <a:srgbClr val="0E3A7C">
                  <a:alpha val="74000"/>
                </a:srgbClr>
              </a:gs>
              <a:gs pos="100000">
                <a:srgbClr val="14468C">
                  <a:alpha val="4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833" name=""/>
          <p:cNvSpPr/>
          <p:nvPr/>
        </p:nvSpPr>
        <p:spPr>
          <a:xfrm rot="0" flipH="0" flipV="0">
            <a:off x="685800" y="628650"/>
            <a:ext cx="57150" cy="2857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895350" y="638175"/>
            <a:ext cx="16668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spc="150">
                <a:solidFill>
                  <a:srgbClr val="CFE0F7"/>
                </a:solidFill>
                <a:latin typeface="Microsoft YaHei"/>
                <a:ea typeface="Microsoft YaHei"/>
              </a:rPr>
              <a:t>总结与参考文献</a:t>
            </a:r>
            <a:endParaRPr/>
          </a:p>
        </p:txBody>
      </p:sp>
      <p:sp>
        <p:nvSpPr>
          <p:cNvPr id="835" name="" descr="{&quot;isTemplate&quot;:true,&quot;type&quot;:&quot;text&quot;}"/>
          <p:cNvSpPr txBox="1"/>
          <p:nvPr/>
        </p:nvSpPr>
        <p:spPr>
          <a:xfrm rot="0" flipH="0" flipV="0">
            <a:off x="2714625" y="666750"/>
            <a:ext cx="2305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75">
                <a:solidFill>
                  <a:srgbClr val="7FA9DC"/>
                </a:solidFill>
                <a:latin typeface="Times New Roman"/>
                <a:ea typeface="Times New Roman"/>
              </a:rPr>
              <a:t>Conclusions and References</a:t>
            </a:r>
            <a:endParaRPr/>
          </a:p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685800" y="914400"/>
            <a:ext cx="8572500" cy="6858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900" b="1" spc="225">
                <a:solidFill>
                  <a:srgbClr val="FFFFFF"/>
                </a:solidFill>
                <a:latin typeface="Microsoft YaHei"/>
                <a:ea typeface="Microsoft YaHei"/>
              </a:rPr>
              <a:t>架构决定上限，数据决定高度</a:t>
            </a:r>
            <a:endParaRPr/>
          </a:p>
        </p:txBody>
      </p:sp>
      <p:sp>
        <p:nvSpPr>
          <p:cNvPr id="837" name=""/>
          <p:cNvSpPr/>
          <p:nvPr/>
        </p:nvSpPr>
        <p:spPr>
          <a:xfrm rot="0" flipH="0" flipV="0">
            <a:off x="685800" y="1933575"/>
            <a:ext cx="95250" cy="952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914400" y="1847850"/>
            <a:ext cx="834390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E3EDFA"/>
                </a:solidFill>
                <a:latin typeface="Microsoft YaHei"/>
                <a:ea typeface="Microsoft YaHei"/>
              </a:rPr>
              <a:t>残差连接让深层网络真正可训练：</a:t>
            </a:r>
            <a:r>
              <a:rPr lang="en-US" sz="1575" b="1">
                <a:solidFill>
                  <a:srgbClr val="FFC107"/>
                </a:solidFill>
                <a:latin typeface="Microsoft YaHei"/>
                <a:ea typeface="Microsoft YaHei"/>
              </a:rPr>
              <a:t>ResNet-50</a:t>
            </a:r>
            <a:r>
              <a:rPr lang="en-US" sz="1575">
                <a:solidFill>
                  <a:srgbClr val="E3EDF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75">
                <a:solidFill>
                  <a:srgbClr val="E3EDFA"/>
                </a:solidFill>
                <a:latin typeface="Microsoft YaHei"/>
                <a:ea typeface="Microsoft YaHei"/>
              </a:rPr>
              <a:t>以</a:t>
            </a:r>
            <a:r>
              <a:rPr lang="en-US" sz="1575">
                <a:solidFill>
                  <a:srgbClr val="E3EDFA"/>
                </a:solidFill>
                <a:latin typeface="Microsoft YaHei"/>
                <a:ea typeface="Microsoft YaHei"/>
              </a:rPr>
              <a:t xml:space="preserve"> 23.5 M </a:t>
            </a:r>
            <a:r>
              <a:rPr lang="zh-CN" sz="1575">
                <a:solidFill>
                  <a:srgbClr val="E3EDFA"/>
                </a:solidFill>
                <a:latin typeface="Microsoft YaHei"/>
                <a:ea typeface="Microsoft YaHei"/>
              </a:rPr>
              <a:t>参数在测试集上取得</a:t>
            </a:r>
            <a:r>
              <a:rPr lang="en-US" sz="1575">
                <a:solidFill>
                  <a:srgbClr val="E3EDFA"/>
                </a:solidFill>
                <a:latin typeface="Microsoft YaHei"/>
                <a:ea typeface="Microsoft YaHei"/>
              </a:rPr>
              <a:t xml:space="preserve"> 89.8% </a:t>
            </a:r>
            <a:r>
              <a:rPr lang="zh-CN" sz="1575">
                <a:solidFill>
                  <a:srgbClr val="E3EDFA"/>
                </a:solidFill>
                <a:latin typeface="Microsoft YaHei"/>
                <a:ea typeface="Microsoft YaHei"/>
              </a:rPr>
              <a:t>准确率与</a:t>
            </a:r>
            <a:r>
              <a:rPr lang="en-US" sz="1575">
                <a:solidFill>
                  <a:srgbClr val="E3EDFA"/>
                </a:solidFill>
                <a:latin typeface="Microsoft YaHei"/>
                <a:ea typeface="Microsoft YaHei"/>
              </a:rPr>
              <a:t xml:space="preserve"> 0.890 macro-F1</a:t>
            </a:r>
            <a:r>
              <a:rPr lang="zh-CN" sz="1575">
                <a:solidFill>
                  <a:srgbClr val="E3EDF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39" name=""/>
          <p:cNvSpPr/>
          <p:nvPr/>
        </p:nvSpPr>
        <p:spPr>
          <a:xfrm rot="0" flipH="0" flipV="0">
            <a:off x="685800" y="2838450"/>
            <a:ext cx="95250" cy="952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914400" y="2752725"/>
            <a:ext cx="834390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75">
                <a:solidFill>
                  <a:srgbClr val="E3EDFA"/>
                </a:solidFill>
                <a:latin typeface="Microsoft YaHei"/>
                <a:ea typeface="Microsoft YaHei"/>
              </a:rPr>
              <a:t xml:space="preserve">ViT </a:t>
            </a:r>
            <a:r>
              <a:rPr lang="zh-CN" sz="1575">
                <a:solidFill>
                  <a:srgbClr val="E3EDFA"/>
                </a:solidFill>
                <a:latin typeface="Microsoft YaHei"/>
                <a:ea typeface="Microsoft YaHei"/>
              </a:rPr>
              <a:t>把图像切成</a:t>
            </a:r>
            <a:r>
              <a:rPr lang="en-US" sz="1575">
                <a:solidFill>
                  <a:srgbClr val="E3EDFA"/>
                </a:solidFill>
                <a:latin typeface="Microsoft YaHei"/>
                <a:ea typeface="Microsoft YaHei"/>
              </a:rPr>
              <a:t xml:space="preserve"> 16×16 </a:t>
            </a:r>
            <a:r>
              <a:rPr lang="zh-CN" sz="1575">
                <a:solidFill>
                  <a:srgbClr val="E3EDFA"/>
                </a:solidFill>
                <a:latin typeface="Microsoft YaHei"/>
                <a:ea typeface="Microsoft YaHei"/>
              </a:rPr>
              <a:t>的序列交给注意力，却因缺少归纳偏置而在</a:t>
            </a:r>
            <a:r>
              <a:rPr lang="en-US" sz="1575">
                <a:solidFill>
                  <a:srgbClr val="E3EDFA"/>
                </a:solidFill>
                <a:latin typeface="Microsoft YaHei"/>
                <a:ea typeface="Microsoft YaHei"/>
              </a:rPr>
              <a:t xml:space="preserve"> 780 </a:t>
            </a:r>
            <a:r>
              <a:rPr lang="zh-CN" sz="1575">
                <a:solidFill>
                  <a:srgbClr val="E3EDFA"/>
                </a:solidFill>
                <a:latin typeface="Microsoft YaHei"/>
                <a:ea typeface="Microsoft YaHei"/>
              </a:rPr>
              <a:t>张数据上停摆：两个</a:t>
            </a:r>
            <a:r>
              <a:rPr lang="en-US" sz="1575">
                <a:solidFill>
                  <a:srgbClr val="E3EDFA"/>
                </a:solidFill>
                <a:latin typeface="Microsoft YaHei"/>
                <a:ea typeface="Microsoft YaHei"/>
              </a:rPr>
              <a:t xml:space="preserve"> ViT </a:t>
            </a:r>
            <a:r>
              <a:rPr lang="zh-CN" sz="1575">
                <a:solidFill>
                  <a:srgbClr val="E3EDFA"/>
                </a:solidFill>
                <a:latin typeface="Microsoft YaHei"/>
                <a:ea typeface="Microsoft YaHei"/>
              </a:rPr>
              <a:t>变体均为</a:t>
            </a:r>
            <a:r>
              <a:rPr lang="en-US" sz="1575">
                <a:solidFill>
                  <a:srgbClr val="E3EDFA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575" b="1">
                <a:solidFill>
                  <a:srgbClr val="FFC107"/>
                </a:solidFill>
                <a:latin typeface="Microsoft YaHei"/>
                <a:ea typeface="Microsoft YaHei"/>
              </a:rPr>
              <a:t>53.4%</a:t>
            </a:r>
            <a:r>
              <a:rPr lang="zh-CN" sz="1575">
                <a:solidFill>
                  <a:srgbClr val="E3EDF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41" name=""/>
          <p:cNvSpPr/>
          <p:nvPr/>
        </p:nvSpPr>
        <p:spPr>
          <a:xfrm rot="0" flipH="0" flipV="0">
            <a:off x="685800" y="3743325"/>
            <a:ext cx="95250" cy="952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914400" y="3657600"/>
            <a:ext cx="834390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E3EDFA"/>
                </a:solidFill>
                <a:latin typeface="Microsoft YaHei"/>
                <a:ea typeface="Microsoft YaHei"/>
              </a:rPr>
              <a:t>医学影像任务中，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先选对归纳偏置，再谈模型规模</a:t>
            </a:r>
            <a:r>
              <a:rPr lang="zh-CN" sz="1575">
                <a:solidFill>
                  <a:srgbClr val="E3EDFA"/>
                </a:solidFill>
                <a:latin typeface="Microsoft YaHei"/>
                <a:ea typeface="Microsoft YaHei"/>
              </a:rPr>
              <a:t>；类别加权与召回率，比单看准确率更贴近临床代价。</a:t>
            </a:r>
            <a:endParaRPr/>
          </a:p>
        </p:txBody>
      </p:sp>
      <p:sp>
        <p:nvSpPr>
          <p:cNvPr id="843" name=""/>
          <p:cNvSpPr/>
          <p:nvPr/>
        </p:nvSpPr>
        <p:spPr>
          <a:xfrm rot="0" flipH="0" flipV="0">
            <a:off x="685800" y="4410075"/>
            <a:ext cx="9144000" cy="2352675"/>
          </a:xfrm>
          <a:custGeom>
            <a:pathLst>
              <a:path w="960" h="247">
                <a:moveTo>
                  <a:pt x="0" y="0"/>
                </a:moveTo>
                <a:lnTo>
                  <a:pt x="960" y="0"/>
                </a:lnTo>
                <a:lnTo>
                  <a:pt x="9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22000"/>
            </a:srgbClr>
          </a:solidFill>
          <a:ln/>
        </p:spPr>
        <p:txBody>
          <a:bodyPr/>
          <a:p/>
        </p:txBody>
      </p:sp>
      <p:sp>
        <p:nvSpPr>
          <p:cNvPr id="844" name="" descr="{&quot;isTemplate&quot;:true,&quot;type&quot;:&quot;text&quot;}"/>
          <p:cNvSpPr txBox="1"/>
          <p:nvPr/>
        </p:nvSpPr>
        <p:spPr>
          <a:xfrm rot="0" flipH="0" flipV="0">
            <a:off x="685800" y="4572000"/>
            <a:ext cx="914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8FC0F0"/>
                </a:solidFill>
                <a:latin typeface="Microsoft YaHei"/>
                <a:ea typeface="Microsoft YaHei"/>
              </a:rPr>
              <a:t>参考文献</a:t>
            </a:r>
            <a:endParaRPr/>
          </a:p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685800" y="4838700"/>
            <a:ext cx="91440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B9CFEA"/>
                </a:solidFill>
                <a:latin typeface="Microsoft YaHei"/>
                <a:ea typeface="Microsoft YaHei"/>
              </a:rPr>
              <a:t>[1] He K, Zhang X, Ren S, Sun J. Deep Residual Learning for Image Recognition. CVPR 2016.</a:t>
            </a:r>
            <a:r>
              <a:rPr lang="zh-CN" sz="1050">
                <a:solidFill>
                  <a:srgbClr val="B9CFEA"/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B9CFEA"/>
                </a:solidFill>
                <a:latin typeface="Microsoft YaHei"/>
                <a:ea typeface="Microsoft YaHei"/>
              </a:rPr>
              <a:t>arXiv:1512.03385</a:t>
            </a:r>
            <a:r>
              <a:rPr lang="zh-CN" sz="1050">
                <a:solidFill>
                  <a:srgbClr val="B9CFEA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685800" y="5191125"/>
            <a:ext cx="91440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B9CFEA"/>
                </a:solidFill>
                <a:latin typeface="Microsoft YaHei"/>
                <a:ea typeface="Microsoft YaHei"/>
              </a:rPr>
              <a:t>[2] Dosovitskiy A, Beyer L, Kolesnikov A, et al. An Image is Worth 16×16 Words: Transformers for Image Recognition at Scale. ICLR 2021.</a:t>
            </a:r>
            <a:r>
              <a:rPr lang="zh-CN" sz="1050">
                <a:solidFill>
                  <a:srgbClr val="B9CFEA"/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B9CFEA"/>
                </a:solidFill>
                <a:latin typeface="Microsoft YaHei"/>
                <a:ea typeface="Microsoft YaHei"/>
              </a:rPr>
              <a:t>arXiv:2010.11929</a:t>
            </a:r>
            <a:r>
              <a:rPr lang="zh-CN" sz="1050">
                <a:solidFill>
                  <a:srgbClr val="B9CFEA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685800" y="5791200"/>
            <a:ext cx="91440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B9CFEA"/>
                </a:solidFill>
                <a:latin typeface="Microsoft YaHei"/>
                <a:ea typeface="Microsoft YaHei"/>
              </a:rPr>
              <a:t>[3] Al-Dhabyani W, Gomaa M, Khaled H, Fahmy A. Dataset of Breast Ultrasound Images. Data in Brief, 2020, 28: 104863.</a:t>
            </a:r>
            <a:endParaRPr/>
          </a:p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685800" y="6143625"/>
            <a:ext cx="91440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B9CFEA"/>
                </a:solidFill>
                <a:latin typeface="Microsoft YaHei"/>
                <a:ea typeface="Microsoft YaHei"/>
              </a:rPr>
              <a:t>[4] Paszke A, Gross S, Massa F, et al. PyTorch: An Imperative Style, High-Performance Deep Learning Library. NeurIPS 2019.</a:t>
            </a:r>
            <a:endParaRPr/>
          </a:p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685800" y="6496050"/>
            <a:ext cx="91440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B9CFEA"/>
                </a:solidFill>
                <a:latin typeface="Microsoft YaHei"/>
                <a:ea typeface="Microsoft YaHei"/>
              </a:rPr>
              <a:t xml:space="preserve">[5] torchvision </a:t>
            </a:r>
            <a:r>
              <a:rPr lang="zh-CN" sz="1050">
                <a:solidFill>
                  <a:srgbClr val="B9CFEA"/>
                </a:solidFill>
                <a:latin typeface="Microsoft YaHei"/>
                <a:ea typeface="Microsoft YaHei"/>
              </a:rPr>
              <a:t>官方模型库与</a:t>
            </a:r>
            <a:r>
              <a:rPr lang="en-US" sz="1050">
                <a:solidFill>
                  <a:srgbClr val="B9CFEA"/>
                </a:solidFill>
                <a:latin typeface="Microsoft YaHei"/>
                <a:ea typeface="Microsoft YaHei"/>
              </a:rPr>
              <a:t xml:space="preserve"> ImageNet-1K </a:t>
            </a:r>
            <a:r>
              <a:rPr lang="zh-CN" sz="1050">
                <a:solidFill>
                  <a:srgbClr val="B9CFEA"/>
                </a:solidFill>
                <a:latin typeface="Microsoft YaHei"/>
                <a:ea typeface="Microsoft YaHei"/>
              </a:rPr>
              <a:t>预训练权重文档（</a:t>
            </a:r>
            <a:r>
              <a:rPr lang="en-US" sz="1050">
                <a:solidFill>
                  <a:srgbClr val="B9CFEA"/>
                </a:solidFill>
                <a:latin typeface="Microsoft YaHei"/>
                <a:ea typeface="Microsoft YaHei"/>
              </a:rPr>
              <a:t xml:space="preserve">PyTorch </a:t>
            </a:r>
            <a:r>
              <a:rPr lang="zh-CN" sz="1050">
                <a:solidFill>
                  <a:srgbClr val="B9CFEA"/>
                </a:solidFill>
                <a:latin typeface="Microsoft YaHei"/>
                <a:ea typeface="Microsoft YaHei"/>
              </a:rPr>
              <a:t>官方文档）。</a:t>
            </a:r>
            <a:endParaRPr/>
          </a:p>
        </p:txBody>
      </p:sp>
      <p:sp>
        <p:nvSpPr>
          <p:cNvPr id="850" name="" descr="{&quot;isTemplate&quot;:true,&quot;type&quot;:&quot;text&quot;}"/>
          <p:cNvSpPr txBox="1"/>
          <p:nvPr/>
        </p:nvSpPr>
        <p:spPr>
          <a:xfrm rot="0" flipH="0" flipV="0">
            <a:off x="10229850" y="5895975"/>
            <a:ext cx="1276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谢谢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欢迎提问</a:t>
            </a:r>
            <a:endParaRPr/>
          </a:p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10648950" y="61531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C0F0"/>
                </a:solidFill>
                <a:latin typeface="Microsoft YaHei"/>
                <a:ea typeface="Microsoft YaHei"/>
              </a:rPr>
              <a:t>主讲：肖雄涛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2026-10-11T18:47:09Z</dcterms:created>
  <dcterms:modified xsi:type="dcterms:W3CDTF">2026-10-11T18:47:09Z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{"AIGC":{"Label":"1","ContentProducer":"00119111010856365494821B355","ProduceID":"01a12a56dae17cf7bbe5488ec300f948","ReservedCode1":"","ContentPropagator":"00119111010856365494821B355","PropagateID":"01a12a56dae17cf7bbe5488ec300f948","ReservedCode2":""}}</vt:lpwstr>
  </property>
</Properties>
</file>